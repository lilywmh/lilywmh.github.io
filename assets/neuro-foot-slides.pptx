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3" roundtripDataSignature="AMtx7mirH3H1VyI9DJiWETOiW3HPpjhG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228925-EC50-4E52-8A8C-EF4C7BB9DE8A}">
  <a:tblStyle styleId="{1D228925-EC50-4E52-8A8C-EF4C7BB9DE8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2155E32-66DE-4C0E-A942-E691E884E6FB}" styleName="Table_1">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21" Type="http://schemas.openxmlformats.org/officeDocument/2006/relationships/slide" Target="slides/slide14.xml"/><Relationship Id="rId43"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9e588f0ee_1_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g3d9e588f0ee_1_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d9e588f0ee_1_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9e588f0ee_1_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d9e588f0ee_1_2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200">
                <a:solidFill>
                  <a:schemeClr val="dk1"/>
                </a:solidFill>
                <a:latin typeface="Times New Roman"/>
                <a:ea typeface="Times New Roman"/>
                <a:cs typeface="Times New Roman"/>
                <a:sym typeface="Times New Roman"/>
              </a:rPr>
              <a:t>Before I go into the technical design, I want to explain the clinical need and how NeuroFoot is used.</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lang="en-US" sz="1200">
                <a:solidFill>
                  <a:schemeClr val="dk1"/>
                </a:solidFill>
                <a:latin typeface="Times New Roman"/>
                <a:ea typeface="Times New Roman"/>
                <a:cs typeface="Times New Roman"/>
                <a:sym typeface="Times New Roman"/>
              </a:rPr>
              <a:t>First is the unaware patient. Some patients, especially those with diabetic neuropathy, lose feeling in their feet. That means they can walk for a long time with high pressure in certain areas without noticing it. A common area is under the metatarsal heads. Since they don’t feel pain, tissue damage can develop without warning.</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lang="en-US" sz="1200">
                <a:solidFill>
                  <a:schemeClr val="dk1"/>
                </a:solidFill>
                <a:latin typeface="Times New Roman"/>
                <a:ea typeface="Times New Roman"/>
                <a:cs typeface="Times New Roman"/>
                <a:sym typeface="Times New Roman"/>
              </a:rPr>
              <a:t>The second use case is real time alert. NeuroFoot monitors pressure continuously. When it detects high pressure for too long, it sends a warning to the patient’s phone. This helps the patient adjust or stop before damage happens.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lang="en-US" sz="1200">
                <a:solidFill>
                  <a:schemeClr val="dk1"/>
                </a:solidFill>
                <a:latin typeface="Times New Roman"/>
                <a:ea typeface="Times New Roman"/>
                <a:cs typeface="Times New Roman"/>
                <a:sym typeface="Times New Roman"/>
              </a:rPr>
              <a:t>The third use case is clinical review. The system records pressure and gait data over time. During a follow up visit, the clinician can look at the data, find high pressure areas, and adjust the treatment plan.</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100"/>
              <a:buNone/>
            </a:pPr>
            <a:r>
              <a:rPr lang="en-US" sz="1200">
                <a:solidFill>
                  <a:schemeClr val="dk1"/>
                </a:solidFill>
                <a:latin typeface="Times New Roman"/>
                <a:ea typeface="Times New Roman"/>
                <a:cs typeface="Times New Roman"/>
                <a:sym typeface="Times New Roman"/>
              </a:rPr>
              <a:t>So the goal of NeuroFoot is to give feedback to the patient in the moment, and also provide useful data for clinicians later.</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00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
        <p:nvSpPr>
          <p:cNvPr id="100" name="Google Shape;100;g3d9e588f0ee_1_2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9e588f0ee_1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d9e588f0ee_1_4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000"/>
              </a:spcAft>
              <a:buSzPts val="1100"/>
              <a:buNone/>
            </a:pPr>
            <a:r>
              <a:rPr lang="en-US" sz="1200">
                <a:solidFill>
                  <a:schemeClr val="dk1"/>
                </a:solidFill>
                <a:latin typeface="Times New Roman"/>
                <a:ea typeface="Times New Roman"/>
                <a:cs typeface="Times New Roman"/>
                <a:sym typeface="Times New Roman"/>
              </a:rPr>
              <a:t>The primary stakeholder is the neuropathic patient (IWGDF Risk 2-3), who bears the direct risk of harm from device failure and cannot compensate for lost sensation through any other means. Secondary stakeholders include caregivers who assist with offloading and device maintenance, clinicians who review longitudinal data during clinical encounters, and the FDA's CDRH, which serves as the regulatory reviewer for premarket submissions. </a:t>
            </a:r>
            <a:endParaRPr/>
          </a:p>
        </p:txBody>
      </p:sp>
      <p:sp>
        <p:nvSpPr>
          <p:cNvPr id="127" name="Google Shape;127;g3d9e588f0ee_1_4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9e588f0ee_1_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d9e588f0ee_1_8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d9e588f0ee_1_8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9e588f0ee_1_13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d9e588f0ee_1_13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d9e588f0ee_1_13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9e588f0ee_1_1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d9e588f0ee_1_1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d9e588f0ee_1_1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9e588f0ee_1_1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3d9e588f0ee_1_18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predicate is the SmartStep system by Andante Medical Devices, cleared in 2006 as a Class II device under product code IRN. SmartStep uses a resistive pressure insole with threshold-based alarms — same core function as NeuroFoot. Our differences are in form factor and connectivity, not intended use, which keeps us firmly in 510(k) territory.</a:t>
            </a:r>
            <a:endParaRPr/>
          </a:p>
        </p:txBody>
      </p:sp>
      <p:sp>
        <p:nvSpPr>
          <p:cNvPr id="254" name="Google Shape;254;g3d9e588f0ee_1_18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9e588f0ee_1_2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d9e588f0ee_1_2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d9e588f0ee_1_2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9e588f0ee_1_2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d9e588f0ee_1_2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16 traces (C0-C15) → multiplexer → 4 traces out (S0-S3)</a:t>
            </a:r>
            <a:endParaRPr/>
          </a:p>
          <a:p>
            <a:pPr indent="0" lvl="0" marL="0" rtl="0" algn="l">
              <a:spcBef>
                <a:spcPts val="0"/>
              </a:spcBef>
              <a:spcAft>
                <a:spcPts val="0"/>
              </a:spcAft>
              <a:buNone/>
            </a:pPr>
            <a:r>
              <a:rPr lang="en-US"/>
              <a:t>BMI270 → IMU</a:t>
            </a:r>
            <a:endParaRPr/>
          </a:p>
          <a:p>
            <a:pPr indent="0" lvl="0" marL="0" rtl="0" algn="l">
              <a:spcBef>
                <a:spcPts val="0"/>
              </a:spcBef>
              <a:spcAft>
                <a:spcPts val="0"/>
              </a:spcAft>
              <a:buNone/>
            </a:pPr>
            <a:r>
              <a:rPr lang="en-US"/>
              <a:t>HS300x → Humidty sensor</a:t>
            </a:r>
            <a:endParaRPr/>
          </a:p>
          <a:p>
            <a:pPr indent="0" lvl="0" marL="0" rtl="0" algn="l">
              <a:spcBef>
                <a:spcPts val="0"/>
              </a:spcBef>
              <a:spcAft>
                <a:spcPts val="0"/>
              </a:spcAft>
              <a:buNone/>
            </a:pPr>
            <a:r>
              <a:rPr lang="en-US"/>
              <a:t>nRF52840 → Bluetooth module</a:t>
            </a:r>
            <a:endParaRPr/>
          </a:p>
          <a:p>
            <a:pPr indent="0" lvl="0" marL="0" rtl="0" algn="l">
              <a:spcBef>
                <a:spcPts val="0"/>
              </a:spcBef>
              <a:spcAft>
                <a:spcPts val="0"/>
              </a:spcAft>
              <a:buNone/>
            </a:pPr>
            <a:r>
              <a:rPr lang="en-US"/>
              <a:t>ADC → Analog to digital converter</a:t>
            </a:r>
            <a:endParaRPr/>
          </a:p>
        </p:txBody>
      </p:sp>
      <p:sp>
        <p:nvSpPr>
          <p:cNvPr id="283" name="Google Shape;283;g3d9e588f0ee_1_2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9e588f0ee_1_2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d9e588f0ee_1_25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d9e588f0ee_1_25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9e588f0ee_1_28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d9e588f0ee_1_28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d9e588f0ee_1_28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9e588f0ee_1_29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d9e588f0ee_1_29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g3d9e588f0ee_1_29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9e588f0ee_1_3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9e588f0ee_1_3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9e588f0ee_1_3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9e588f0ee_1_3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g3d9e588f0ee_1_34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g3d9e588f0ee_1_34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9e588f0ee_1_3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d9e588f0ee_1_3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g3d9e588f0ee_1_3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9e588f0ee_1_4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g3d9e588f0ee_1_4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g3d9e588f0ee_1_4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6b89f23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e6b89f23f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6b89f23f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Severity looks at the worst case outcome if a failure reaches the patient without being detected.</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from 1 to 3 is minor. The system might not work perfectly, but the patient can adjust and there is no safety impact.</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from 4 to 6 is moderate. The system may lose some accuracy or alerts may be affected, but it does not directly cause injury.</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from 7 to 8 is serious. This means the main monitoring function fails, and the patient may be exposed to high pressure without any warning.</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from 9 to 10 is critical. This is the worst case, where there could be direct injury or a complete silent failure, and the patient believes the device is working.</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547" name="Google Shape;547;g3e6b89f23fc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e6b89f23f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Occurrence looks at how likely a failure is to happen over the lifetime of the device.</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1 to 2 means the failure is very unlikely. This is based on strong component reliability from datasheets.</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3 to 4 is low. The component meets specifications, and failure is possible but not common.</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5 to 6 is moderate. There is a known failure mechanism, and the design only partially reduces the risk.</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7 to 8 is high. The failure is likely, and the current design does not fully address it.</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9 to 10 is very high. The failure is expected during normal use if nothing is changed.</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These estimates are based on datasheets, published information, and what we observed during prototyping.</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563" name="Google Shape;563;g3e6b89f23fc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6b89f23f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200">
                <a:solidFill>
                  <a:schemeClr val="dk1"/>
                </a:solidFill>
                <a:latin typeface="Times New Roman"/>
                <a:ea typeface="Times New Roman"/>
                <a:cs typeface="Times New Roman"/>
                <a:sym typeface="Times New Roman"/>
              </a:rPr>
              <a:t>Detection looks at how likely it is that the system or the patient will notice a failure before it causes harm.A score of 1 to 2 means the failure is almost certain to be detected. The system can catch it automatically and alert the user.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3 to 4 is high. The patient would likely notice something is wrong during use.</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5 to 6 is moderate. The issue is not obvious and may only be found by checking the app or data.</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7 to 8 is low. The failure develops slowly, and the patient is unlikely to notice it on their own.</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 score of 9 to 10 is the worst case. This is a silent failure, where the device gives no sign that something is wrong.</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So a higher detection score actually means it is harder to detect the failure.</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578" name="Google Shape;578;g3e6b89f23fc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6b89f23f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If the RPN is between 200 and 1000, it is considered high risk. In this case, corrective action is required before design verification. After changes are made, the RPN needs to be reduced below 200.</a:t>
            </a:r>
            <a:endParaRPr/>
          </a:p>
          <a:p>
            <a:pPr indent="0" lvl="0" marL="0" rtl="0" algn="l">
              <a:lnSpc>
                <a:spcPct val="115000"/>
              </a:lnSpc>
              <a:spcBef>
                <a:spcPts val="1200"/>
              </a:spcBef>
              <a:spcAft>
                <a:spcPts val="0"/>
              </a:spcAft>
              <a:buClr>
                <a:schemeClr val="dk1"/>
              </a:buClr>
              <a:buSzPts val="1100"/>
              <a:buFont typeface="Arial"/>
              <a:buNone/>
            </a:pPr>
            <a:r>
              <a:rPr lang="en-US"/>
              <a:t>If the RPN is between 100 and 199, it is medium risk. Risk reduction is recommended, and the actions should be documented and included in the design verification plan.</a:t>
            </a:r>
            <a:endParaRPr/>
          </a:p>
          <a:p>
            <a:pPr indent="0" lvl="0" marL="0" rtl="0" algn="l">
              <a:lnSpc>
                <a:spcPct val="115000"/>
              </a:lnSpc>
              <a:spcBef>
                <a:spcPts val="1200"/>
              </a:spcBef>
              <a:spcAft>
                <a:spcPts val="0"/>
              </a:spcAft>
              <a:buClr>
                <a:schemeClr val="dk1"/>
              </a:buClr>
              <a:buSzPts val="1100"/>
              <a:buFont typeface="Arial"/>
              <a:buNone/>
            </a:pPr>
            <a:r>
              <a:rPr lang="en-US"/>
              <a:t>If the RPN is below 100, it is low risk. These risks are acceptable with the current design, but they should still be monitored in case anything changes.</a:t>
            </a:r>
            <a:endParaRPr/>
          </a:p>
          <a:p>
            <a:pPr indent="0" lvl="0" marL="0" rtl="0" algn="l">
              <a:lnSpc>
                <a:spcPct val="115000"/>
              </a:lnSpc>
              <a:spcBef>
                <a:spcPts val="1200"/>
              </a:spcBef>
              <a:spcAft>
                <a:spcPts val="0"/>
              </a:spcAft>
              <a:buClr>
                <a:schemeClr val="dk1"/>
              </a:buClr>
              <a:buSzPts val="1100"/>
              <a:buFont typeface="Arial"/>
              <a:buNone/>
            </a:pPr>
            <a:r>
              <a:rPr lang="en-US"/>
              <a:t>So this scale helps us decide which risks need immediate fixes and which ones can be managed.</a:t>
            </a:r>
            <a:endParaRPr/>
          </a:p>
          <a:p>
            <a:pPr indent="0" lvl="0" marL="0" rtl="0" algn="l">
              <a:spcBef>
                <a:spcPts val="1200"/>
              </a:spcBef>
              <a:spcAft>
                <a:spcPts val="0"/>
              </a:spcAft>
              <a:buNone/>
            </a:pPr>
            <a:r>
              <a:t/>
            </a:r>
            <a:endParaRPr/>
          </a:p>
        </p:txBody>
      </p:sp>
      <p:sp>
        <p:nvSpPr>
          <p:cNvPr id="593" name="Google Shape;593;g3e6b89f23fc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e6b89f23f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RPN stands for severity, occurrence, and detection. Each failure mode is given a score in these three categories, and then we multiply them to get the final RPN value.</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Severity is how serious the impact is. Occurrence is how likely it is to happen. Detection is how likely we are to catch it before it causes harm.</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From the table, the highest risks are FSR adhesive delamination and moisture ingress, with RPN values above 200. These are considered high risk and need design controls.</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The other failure modes fall into medium risk. They affect system reliability, like false alerts, BLE disconnection, or battery issues, but are less likely to directly cause harm.</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The HS300x startup issue is low risk since it only affects the first reading and does not impact alerts.</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At the bottom, we connect this to standards. ISO 14971 says high RPN risks need to be addressed, and ISO 13485 and FDA guidelines require that these risks are documented and validated in the design.</a:t>
            </a:r>
            <a:endParaRPr/>
          </a:p>
        </p:txBody>
      </p:sp>
      <p:sp>
        <p:nvSpPr>
          <p:cNvPr id="622" name="Google Shape;622;g3e6b89f23fc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e6b89f23f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3e6b89f23fc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6b89f23fc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g3e6b89f23fc_0_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e6b89f23f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g3e6b89f23fc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e6b89f23fc_0_30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g3e6b89f23fc_0_30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g3e6b89f23fc_0_30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e68d5c5d8c_3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g3e68d5c5d8c_3_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g3e68d5c5d8c_3_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6aec4bc3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e6aec4bc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e6aec4bc39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e6aec4bc3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aec4bc3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e6aec4bc3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6aec4bc3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e6aec4bc3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e68d5c5d8c_3_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g3e68d5c5d8c_3_5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slide shows the risk analysis using RPN, which stands for severity, occurrence, and detection.</a:t>
            </a:r>
            <a:endParaRPr/>
          </a:p>
          <a:p>
            <a:pPr indent="0" lvl="0" marL="0" rtl="0" algn="l">
              <a:lnSpc>
                <a:spcPct val="115000"/>
              </a:lnSpc>
              <a:spcBef>
                <a:spcPts val="1200"/>
              </a:spcBef>
              <a:spcAft>
                <a:spcPts val="0"/>
              </a:spcAft>
              <a:buClr>
                <a:schemeClr val="dk1"/>
              </a:buClr>
              <a:buSzPts val="1100"/>
              <a:buFont typeface="Arial"/>
              <a:buNone/>
            </a:pPr>
            <a:r>
              <a:rPr lang="en-US"/>
              <a:t>Each failure mode is scored in these three categories, and then multiplied to get the RPN value. Higher RPN means higher risk.</a:t>
            </a:r>
            <a:endParaRPr/>
          </a:p>
          <a:p>
            <a:pPr indent="0" lvl="0" marL="0" rtl="0" algn="l">
              <a:lnSpc>
                <a:spcPct val="115000"/>
              </a:lnSpc>
              <a:spcBef>
                <a:spcPts val="1200"/>
              </a:spcBef>
              <a:spcAft>
                <a:spcPts val="0"/>
              </a:spcAft>
              <a:buClr>
                <a:schemeClr val="dk1"/>
              </a:buClr>
              <a:buSzPts val="1100"/>
              <a:buFont typeface="Arial"/>
              <a:buNone/>
            </a:pPr>
            <a:r>
              <a:rPr lang="en-US"/>
              <a:t>The highest risks are FSR adhesive delamination and moisture ingress, with RPN values of 315 and 245. These are high because they can lead to loss of pressure data, which means the system may miss dangerous loading without the patient knowing.</a:t>
            </a:r>
            <a:endParaRPr/>
          </a:p>
          <a:p>
            <a:pPr indent="0" lvl="0" marL="0" rtl="0" algn="l">
              <a:lnSpc>
                <a:spcPct val="115000"/>
              </a:lnSpc>
              <a:spcBef>
                <a:spcPts val="1200"/>
              </a:spcBef>
              <a:spcAft>
                <a:spcPts val="0"/>
              </a:spcAft>
              <a:buClr>
                <a:schemeClr val="dk1"/>
              </a:buClr>
              <a:buSzPts val="1100"/>
              <a:buFont typeface="Arial"/>
              <a:buNone/>
            </a:pPr>
            <a:r>
              <a:rPr lang="en-US"/>
              <a:t>There are several medium risks, like EMI causing false alerts, BLE disconnection, and battery depletion. These don’t always stop the system completely, but they can reduce reliability or cause the patient to ignore alerts.</a:t>
            </a:r>
            <a:endParaRPr/>
          </a:p>
          <a:p>
            <a:pPr indent="0" lvl="0" marL="0" rtl="0" algn="l">
              <a:lnSpc>
                <a:spcPct val="115000"/>
              </a:lnSpc>
              <a:spcBef>
                <a:spcPts val="1200"/>
              </a:spcBef>
              <a:spcAft>
                <a:spcPts val="0"/>
              </a:spcAft>
              <a:buClr>
                <a:schemeClr val="dk1"/>
              </a:buClr>
              <a:buSzPts val="1100"/>
              <a:buFont typeface="Arial"/>
              <a:buNone/>
            </a:pPr>
            <a:r>
              <a:rPr lang="en-US"/>
              <a:t>The lowest risk is the HS300x cold boot issue. It only affects the first reading and does not impact alerts, so it is considered low.</a:t>
            </a:r>
            <a:endParaRPr/>
          </a:p>
          <a:p>
            <a:pPr indent="0" lvl="0" marL="0" rtl="0" algn="l">
              <a:lnSpc>
                <a:spcPct val="115000"/>
              </a:lnSpc>
              <a:spcBef>
                <a:spcPts val="1200"/>
              </a:spcBef>
              <a:spcAft>
                <a:spcPts val="0"/>
              </a:spcAft>
              <a:buClr>
                <a:schemeClr val="dk1"/>
              </a:buClr>
              <a:buSzPts val="1100"/>
              <a:buFont typeface="Arial"/>
              <a:buNone/>
            </a:pPr>
            <a:r>
              <a:rPr lang="en-US"/>
              <a:t>At the bottom, we relate this to FDA and ISO standards. Risks with RPN above 200 require design controls before use. Overall, the system is acceptable as long as these higher risks are addressed and mitigated.</a:t>
            </a:r>
            <a:endParaRPr/>
          </a:p>
          <a:p>
            <a:pPr indent="0" lvl="0" marL="0" rtl="0" algn="l">
              <a:spcBef>
                <a:spcPts val="1200"/>
              </a:spcBef>
              <a:spcAft>
                <a:spcPts val="0"/>
              </a:spcAft>
              <a:buNone/>
            </a:pPr>
            <a:r>
              <a:t/>
            </a:r>
            <a:endParaRPr/>
          </a:p>
        </p:txBody>
      </p:sp>
      <p:sp>
        <p:nvSpPr>
          <p:cNvPr id="813" name="Google Shape;813;g3e68d5c5d8c_3_5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e68d5c5d8c_3_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g3e68d5c5d8c_3_7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g3e68d5c5d8c_3_7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d9e588f0ee_1_4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g3d9e588f0ee_1_44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 name="Google Shape;897;g3d9e588f0ee_1_44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e68d5c5d8c_3_1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9" name="Google Shape;909;g3e68d5c5d8c_3_1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g3e68d5c5d8c_3_1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2" name="Shape 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8.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8.jpg"/><Relationship Id="rId4" Type="http://schemas.openxmlformats.org/officeDocument/2006/relationships/image" Target="../media/image16.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87" name="Shape 87"/>
        <p:cNvGrpSpPr/>
        <p:nvPr/>
      </p:nvGrpSpPr>
      <p:grpSpPr>
        <a:xfrm>
          <a:off x="0" y="0"/>
          <a:ext cx="0" cy="0"/>
          <a:chOff x="0" y="0"/>
          <a:chExt cx="0" cy="0"/>
        </a:xfrm>
      </p:grpSpPr>
      <p:sp>
        <p:nvSpPr>
          <p:cNvPr id="88" name="Google Shape;88;g3d9e588f0ee_1_3"/>
          <p:cNvSpPr/>
          <p:nvPr/>
        </p:nvSpPr>
        <p:spPr>
          <a:xfrm>
            <a:off x="2743200" y="1280160"/>
            <a:ext cx="12801600" cy="16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NeuroFoot</a:t>
            </a:r>
            <a:endParaRPr b="0" i="0" sz="8800" u="none" cap="none" strike="noStrike">
              <a:solidFill>
                <a:schemeClr val="dk1"/>
              </a:solidFill>
              <a:latin typeface="Calibri"/>
              <a:ea typeface="Calibri"/>
              <a:cs typeface="Calibri"/>
              <a:sym typeface="Calibri"/>
            </a:endParaRPr>
          </a:p>
        </p:txBody>
      </p:sp>
      <p:sp>
        <p:nvSpPr>
          <p:cNvPr id="89" name="Google Shape;89;g3d9e588f0ee_1_3"/>
          <p:cNvSpPr/>
          <p:nvPr/>
        </p:nvSpPr>
        <p:spPr>
          <a:xfrm>
            <a:off x="2743200" y="2926080"/>
            <a:ext cx="12801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3600"/>
              <a:buFont typeface="Calibri"/>
              <a:buNone/>
            </a:pPr>
            <a:r>
              <a:rPr b="0" i="0" lang="en-US" sz="3600" u="none" cap="none" strike="noStrike">
                <a:solidFill>
                  <a:srgbClr val="1DB7A8"/>
                </a:solidFill>
                <a:latin typeface="Calibri"/>
                <a:ea typeface="Calibri"/>
                <a:cs typeface="Calibri"/>
                <a:sym typeface="Calibri"/>
              </a:rPr>
              <a:t>Smart Plantar Pressure Monitoring for Diabetic Neuropathy</a:t>
            </a:r>
            <a:endParaRPr b="0" i="0" sz="3600" u="none" cap="none" strike="noStrike">
              <a:solidFill>
                <a:schemeClr val="dk1"/>
              </a:solidFill>
              <a:latin typeface="Calibri"/>
              <a:ea typeface="Calibri"/>
              <a:cs typeface="Calibri"/>
              <a:sym typeface="Calibri"/>
            </a:endParaRPr>
          </a:p>
        </p:txBody>
      </p:sp>
      <p:sp>
        <p:nvSpPr>
          <p:cNvPr id="90" name="Google Shape;90;g3d9e588f0ee_1_3"/>
          <p:cNvSpPr/>
          <p:nvPr/>
        </p:nvSpPr>
        <p:spPr>
          <a:xfrm>
            <a:off x="2743200" y="4206240"/>
            <a:ext cx="3657600" cy="54600"/>
          </a:xfrm>
          <a:prstGeom prst="rect">
            <a:avLst/>
          </a:prstGeom>
          <a:solidFill>
            <a:srgbClr val="F4A26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1" name="Google Shape;91;g3d9e588f0ee_1_3"/>
          <p:cNvSpPr/>
          <p:nvPr/>
        </p:nvSpPr>
        <p:spPr>
          <a:xfrm>
            <a:off x="2743200" y="4617605"/>
            <a:ext cx="12801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7A95"/>
              </a:buClr>
              <a:buSzPts val="2200"/>
              <a:buFont typeface="Calibri"/>
              <a:buNone/>
            </a:pPr>
            <a:r>
              <a:rPr b="0" i="0" lang="en-US" sz="2200" u="none" cap="none" strike="noStrike">
                <a:solidFill>
                  <a:schemeClr val="lt1"/>
                </a:solidFill>
                <a:latin typeface="Calibri"/>
                <a:ea typeface="Calibri"/>
                <a:cs typeface="Calibri"/>
                <a:sym typeface="Calibri"/>
              </a:rPr>
              <a:t>BME 555a — USC Viterbi School of Engineering — Spring 2026</a:t>
            </a:r>
            <a:endParaRPr b="0" i="0" sz="2200" u="none" cap="none" strike="noStrike">
              <a:solidFill>
                <a:schemeClr val="lt1"/>
              </a:solidFill>
              <a:latin typeface="Calibri"/>
              <a:ea typeface="Calibri"/>
              <a:cs typeface="Calibri"/>
              <a:sym typeface="Calibri"/>
            </a:endParaRPr>
          </a:p>
        </p:txBody>
      </p:sp>
      <p:sp>
        <p:nvSpPr>
          <p:cNvPr id="92" name="Google Shape;92;g3d9e588f0ee_1_3"/>
          <p:cNvSpPr/>
          <p:nvPr/>
        </p:nvSpPr>
        <p:spPr>
          <a:xfrm>
            <a:off x="2743200" y="6149265"/>
            <a:ext cx="5486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2600"/>
              <a:buFont typeface="Georgia"/>
              <a:buNone/>
            </a:pPr>
            <a:r>
              <a:rPr b="1" i="0" lang="en-US" sz="2600" u="none" cap="none" strike="noStrike">
                <a:solidFill>
                  <a:srgbClr val="F4A261"/>
                </a:solidFill>
                <a:latin typeface="Georgia"/>
                <a:ea typeface="Georgia"/>
                <a:cs typeface="Georgia"/>
                <a:sym typeface="Georgia"/>
              </a:rPr>
              <a:t>Team Cardinal</a:t>
            </a:r>
            <a:endParaRPr b="0" i="0" sz="2600" u="none" cap="none" strike="noStrike">
              <a:solidFill>
                <a:schemeClr val="dk1"/>
              </a:solidFill>
              <a:latin typeface="Calibri"/>
              <a:ea typeface="Calibri"/>
              <a:cs typeface="Calibri"/>
              <a:sym typeface="Calibri"/>
            </a:endParaRPr>
          </a:p>
        </p:txBody>
      </p:sp>
      <p:sp>
        <p:nvSpPr>
          <p:cNvPr id="93" name="Google Shape;93;g3d9e588f0ee_1_3"/>
          <p:cNvSpPr/>
          <p:nvPr/>
        </p:nvSpPr>
        <p:spPr>
          <a:xfrm>
            <a:off x="2743200" y="7129510"/>
            <a:ext cx="54864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2200"/>
              <a:buFont typeface="Calibri"/>
              <a:buNone/>
            </a:pPr>
            <a:r>
              <a:rPr b="0" i="0" lang="en-US" sz="2200" u="none" cap="none" strike="noStrike">
                <a:solidFill>
                  <a:srgbClr val="AABBCC"/>
                </a:solidFill>
                <a:latin typeface="Calibri"/>
                <a:ea typeface="Calibri"/>
                <a:cs typeface="Calibri"/>
                <a:sym typeface="Calibri"/>
              </a:rPr>
              <a:t>Pouya Behdinan</a:t>
            </a:r>
            <a:endParaRPr b="0" i="0" sz="2200" u="none" cap="none" strike="noStrike">
              <a:solidFill>
                <a:schemeClr val="dk1"/>
              </a:solidFill>
              <a:latin typeface="Calibri"/>
              <a:ea typeface="Calibri"/>
              <a:cs typeface="Calibri"/>
              <a:sym typeface="Calibri"/>
            </a:endParaRPr>
          </a:p>
        </p:txBody>
      </p:sp>
      <p:sp>
        <p:nvSpPr>
          <p:cNvPr id="94" name="Google Shape;94;g3d9e588f0ee_1_3"/>
          <p:cNvSpPr/>
          <p:nvPr/>
        </p:nvSpPr>
        <p:spPr>
          <a:xfrm>
            <a:off x="8229600" y="7129510"/>
            <a:ext cx="54864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2200"/>
              <a:buFont typeface="Calibri"/>
              <a:buNone/>
            </a:pPr>
            <a:r>
              <a:rPr b="0" i="0" lang="en-US" sz="2200" u="none" cap="none" strike="noStrike">
                <a:solidFill>
                  <a:srgbClr val="AABBCC"/>
                </a:solidFill>
                <a:latin typeface="Calibri"/>
                <a:ea typeface="Calibri"/>
                <a:cs typeface="Calibri"/>
                <a:sym typeface="Calibri"/>
              </a:rPr>
              <a:t>Ava Rathenberg</a:t>
            </a:r>
            <a:endParaRPr b="0" i="0" sz="2200" u="none" cap="none" strike="noStrike">
              <a:solidFill>
                <a:schemeClr val="dk1"/>
              </a:solidFill>
              <a:latin typeface="Calibri"/>
              <a:ea typeface="Calibri"/>
              <a:cs typeface="Calibri"/>
              <a:sym typeface="Calibri"/>
            </a:endParaRPr>
          </a:p>
        </p:txBody>
      </p:sp>
      <p:sp>
        <p:nvSpPr>
          <p:cNvPr id="95" name="Google Shape;95;g3d9e588f0ee_1_3"/>
          <p:cNvSpPr/>
          <p:nvPr/>
        </p:nvSpPr>
        <p:spPr>
          <a:xfrm>
            <a:off x="2743200" y="7769590"/>
            <a:ext cx="54864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2200"/>
              <a:buFont typeface="Calibri"/>
              <a:buNone/>
            </a:pPr>
            <a:r>
              <a:rPr b="0" i="0" lang="en-US" sz="2200" u="none" cap="none" strike="noStrike">
                <a:solidFill>
                  <a:srgbClr val="AABBCC"/>
                </a:solidFill>
                <a:latin typeface="Calibri"/>
                <a:ea typeface="Calibri"/>
                <a:cs typeface="Calibri"/>
                <a:sym typeface="Calibri"/>
              </a:rPr>
              <a:t>Lily Wu</a:t>
            </a:r>
            <a:endParaRPr b="0" i="0" sz="2200" u="none" cap="none" strike="noStrike">
              <a:solidFill>
                <a:schemeClr val="dk1"/>
              </a:solidFill>
              <a:latin typeface="Calibri"/>
              <a:ea typeface="Calibri"/>
              <a:cs typeface="Calibri"/>
              <a:sym typeface="Calibri"/>
            </a:endParaRPr>
          </a:p>
        </p:txBody>
      </p:sp>
      <p:sp>
        <p:nvSpPr>
          <p:cNvPr id="96" name="Google Shape;96;g3d9e588f0ee_1_3"/>
          <p:cNvSpPr/>
          <p:nvPr/>
        </p:nvSpPr>
        <p:spPr>
          <a:xfrm>
            <a:off x="8229600" y="7769590"/>
            <a:ext cx="54864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BCC"/>
              </a:buClr>
              <a:buSzPts val="2200"/>
              <a:buFont typeface="Calibri"/>
              <a:buNone/>
            </a:pPr>
            <a:r>
              <a:rPr b="0" i="0" lang="en-US" sz="2200" u="none" cap="none" strike="noStrike">
                <a:solidFill>
                  <a:srgbClr val="AABBCC"/>
                </a:solidFill>
                <a:latin typeface="Calibri"/>
                <a:ea typeface="Calibri"/>
                <a:cs typeface="Calibri"/>
                <a:sym typeface="Calibri"/>
              </a:rPr>
              <a:t>Nwachukwu Anene</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101" name="Shape 101"/>
        <p:cNvGrpSpPr/>
        <p:nvPr/>
      </p:nvGrpSpPr>
      <p:grpSpPr>
        <a:xfrm>
          <a:off x="0" y="0"/>
          <a:ext cx="0" cy="0"/>
          <a:chOff x="0" y="0"/>
          <a:chExt cx="0" cy="0"/>
        </a:xfrm>
      </p:grpSpPr>
      <p:sp>
        <p:nvSpPr>
          <p:cNvPr id="102" name="Google Shape;102;g3d9e588f0ee_1_20"/>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03" name="Google Shape;103;g3d9e588f0ee_1_20"/>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04" name="Google Shape;104;g3d9e588f0ee_1_20"/>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Clinical Need &amp; Use Cases</a:t>
            </a:r>
            <a:endParaRPr b="0" i="0" sz="4400" u="none" cap="none" strike="noStrike">
              <a:solidFill>
                <a:schemeClr val="dk1"/>
              </a:solidFill>
              <a:latin typeface="Calibri"/>
              <a:ea typeface="Calibri"/>
              <a:cs typeface="Calibri"/>
              <a:sym typeface="Calibri"/>
            </a:endParaRPr>
          </a:p>
        </p:txBody>
      </p:sp>
      <p:sp>
        <p:nvSpPr>
          <p:cNvPr id="105" name="Google Shape;105;g3d9e588f0ee_1_20"/>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1.1a — Stakeholder Use-Case Scenarios</a:t>
            </a:r>
            <a:endParaRPr b="0" i="0" sz="2200" u="none" cap="none" strike="noStrike">
              <a:solidFill>
                <a:schemeClr val="dk1"/>
              </a:solidFill>
              <a:latin typeface="Calibri"/>
              <a:ea typeface="Calibri"/>
              <a:cs typeface="Calibri"/>
              <a:sym typeface="Calibri"/>
            </a:endParaRPr>
          </a:p>
        </p:txBody>
      </p:sp>
      <p:sp>
        <p:nvSpPr>
          <p:cNvPr id="106" name="Google Shape;106;g3d9e588f0ee_1_20"/>
          <p:cNvSpPr/>
          <p:nvPr/>
        </p:nvSpPr>
        <p:spPr>
          <a:xfrm>
            <a:off x="914400" y="2194560"/>
            <a:ext cx="5212200" cy="6583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107" name="Google Shape;107;g3d9e588f0ee_1_20"/>
          <p:cNvSpPr/>
          <p:nvPr/>
        </p:nvSpPr>
        <p:spPr>
          <a:xfrm>
            <a:off x="914400" y="2194560"/>
            <a:ext cx="5212200" cy="91200"/>
          </a:xfrm>
          <a:prstGeom prst="rect">
            <a:avLst/>
          </a:prstGeom>
          <a:solidFill>
            <a:srgbClr val="EF444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108" name="Google Shape;108;g3d9e588f0ee_1_20"/>
          <p:cNvPicPr preferRelativeResize="0"/>
          <p:nvPr/>
        </p:nvPicPr>
        <p:blipFill rotWithShape="1">
          <a:blip r:embed="rId3">
            <a:alphaModFix/>
          </a:blip>
          <a:srcRect b="0" l="0" r="0" t="0"/>
          <a:stretch/>
        </p:blipFill>
        <p:spPr>
          <a:xfrm>
            <a:off x="2834640" y="2651760"/>
            <a:ext cx="1097280" cy="1097280"/>
          </a:xfrm>
          <a:prstGeom prst="rect">
            <a:avLst/>
          </a:prstGeom>
          <a:noFill/>
          <a:ln>
            <a:noFill/>
          </a:ln>
        </p:spPr>
      </p:pic>
      <p:sp>
        <p:nvSpPr>
          <p:cNvPr id="109" name="Google Shape;109;g3d9e588f0ee_1_20"/>
          <p:cNvSpPr/>
          <p:nvPr/>
        </p:nvSpPr>
        <p:spPr>
          <a:xfrm>
            <a:off x="1280160" y="3931920"/>
            <a:ext cx="4480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D3F"/>
              </a:buClr>
              <a:buSzPts val="2800"/>
              <a:buFont typeface="Georgia"/>
              <a:buNone/>
            </a:pPr>
            <a:r>
              <a:rPr b="1" i="0" lang="en-US" sz="3600" u="none" cap="none" strike="noStrike">
                <a:solidFill>
                  <a:srgbClr val="1C2D3F"/>
                </a:solidFill>
                <a:latin typeface="Georgia"/>
                <a:ea typeface="Georgia"/>
                <a:cs typeface="Georgia"/>
                <a:sym typeface="Georgia"/>
              </a:rPr>
              <a:t>Unaware Patient</a:t>
            </a:r>
            <a:endParaRPr b="0" i="0" sz="3600" u="none" cap="none" strike="noStrike">
              <a:solidFill>
                <a:schemeClr val="dk1"/>
              </a:solidFill>
              <a:latin typeface="Calibri"/>
              <a:ea typeface="Calibri"/>
              <a:cs typeface="Calibri"/>
              <a:sym typeface="Calibri"/>
            </a:endParaRPr>
          </a:p>
        </p:txBody>
      </p:sp>
      <p:sp>
        <p:nvSpPr>
          <p:cNvPr id="110" name="Google Shape;110;g3d9e588f0ee_1_20"/>
          <p:cNvSpPr/>
          <p:nvPr/>
        </p:nvSpPr>
        <p:spPr>
          <a:xfrm>
            <a:off x="1280160" y="4663440"/>
            <a:ext cx="4480800" cy="3657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B8D"/>
              </a:buClr>
              <a:buSzPts val="2000"/>
              <a:buFont typeface="Calibri"/>
              <a:buNone/>
            </a:pPr>
            <a:r>
              <a:rPr b="0" i="0" lang="en-US" sz="2800" u="none" cap="none" strike="noStrike">
                <a:solidFill>
                  <a:srgbClr val="6B7B8D"/>
                </a:solidFill>
                <a:latin typeface="Calibri"/>
                <a:ea typeface="Calibri"/>
                <a:cs typeface="Calibri"/>
                <a:sym typeface="Calibri"/>
              </a:rPr>
              <a:t>A patient with loss of protective sensation walks for hours with dangerous pressure concentrated under the metatarsal heads. Without feedback, tissue damage develops silently.</a:t>
            </a:r>
            <a:endParaRPr b="0" i="0" sz="2800" u="none" cap="none" strike="noStrike">
              <a:solidFill>
                <a:schemeClr val="dk1"/>
              </a:solidFill>
              <a:latin typeface="Calibri"/>
              <a:ea typeface="Calibri"/>
              <a:cs typeface="Calibri"/>
              <a:sym typeface="Calibri"/>
            </a:endParaRPr>
          </a:p>
        </p:txBody>
      </p:sp>
      <p:sp>
        <p:nvSpPr>
          <p:cNvPr id="111" name="Google Shape;111;g3d9e588f0ee_1_20"/>
          <p:cNvSpPr/>
          <p:nvPr/>
        </p:nvSpPr>
        <p:spPr>
          <a:xfrm>
            <a:off x="6675120" y="2194560"/>
            <a:ext cx="5212200" cy="6583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112" name="Google Shape;112;g3d9e588f0ee_1_20"/>
          <p:cNvSpPr/>
          <p:nvPr/>
        </p:nvSpPr>
        <p:spPr>
          <a:xfrm>
            <a:off x="6675120" y="2194560"/>
            <a:ext cx="5212200" cy="91200"/>
          </a:xfrm>
          <a:prstGeom prst="rect">
            <a:avLst/>
          </a:prstGeom>
          <a:solidFill>
            <a:srgbClr val="22C55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113" name="Google Shape;113;g3d9e588f0ee_1_20"/>
          <p:cNvPicPr preferRelativeResize="0"/>
          <p:nvPr/>
        </p:nvPicPr>
        <p:blipFill rotWithShape="1">
          <a:blip r:embed="rId4">
            <a:alphaModFix/>
          </a:blip>
          <a:srcRect b="0" l="0" r="0" t="0"/>
          <a:stretch/>
        </p:blipFill>
        <p:spPr>
          <a:xfrm>
            <a:off x="8595360" y="2651760"/>
            <a:ext cx="1097280" cy="1097280"/>
          </a:xfrm>
          <a:prstGeom prst="rect">
            <a:avLst/>
          </a:prstGeom>
          <a:noFill/>
          <a:ln>
            <a:noFill/>
          </a:ln>
        </p:spPr>
      </p:pic>
      <p:sp>
        <p:nvSpPr>
          <p:cNvPr id="114" name="Google Shape;114;g3d9e588f0ee_1_20"/>
          <p:cNvSpPr/>
          <p:nvPr/>
        </p:nvSpPr>
        <p:spPr>
          <a:xfrm>
            <a:off x="7040880" y="3931920"/>
            <a:ext cx="4480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D3F"/>
              </a:buClr>
              <a:buSzPts val="2800"/>
              <a:buFont typeface="Georgia"/>
              <a:buNone/>
            </a:pPr>
            <a:r>
              <a:rPr b="1" i="0" lang="en-US" sz="3600" u="none" cap="none" strike="noStrike">
                <a:solidFill>
                  <a:srgbClr val="1C2D3F"/>
                </a:solidFill>
                <a:latin typeface="Georgia"/>
                <a:ea typeface="Georgia"/>
                <a:cs typeface="Georgia"/>
                <a:sym typeface="Georgia"/>
              </a:rPr>
              <a:t>Real-Time Alert</a:t>
            </a:r>
            <a:endParaRPr b="0" i="0" sz="3600" u="none" cap="none" strike="noStrike">
              <a:solidFill>
                <a:schemeClr val="dk1"/>
              </a:solidFill>
              <a:latin typeface="Calibri"/>
              <a:ea typeface="Calibri"/>
              <a:cs typeface="Calibri"/>
              <a:sym typeface="Calibri"/>
            </a:endParaRPr>
          </a:p>
        </p:txBody>
      </p:sp>
      <p:sp>
        <p:nvSpPr>
          <p:cNvPr id="115" name="Google Shape;115;g3d9e588f0ee_1_20"/>
          <p:cNvSpPr/>
          <p:nvPr/>
        </p:nvSpPr>
        <p:spPr>
          <a:xfrm>
            <a:off x="7040880" y="4663440"/>
            <a:ext cx="4480800" cy="3657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B8D"/>
              </a:buClr>
              <a:buSzPts val="2000"/>
              <a:buFont typeface="Calibri"/>
              <a:buNone/>
            </a:pPr>
            <a:r>
              <a:rPr b="0" i="0" lang="en-US" sz="2800" u="none" cap="none" strike="noStrike">
                <a:solidFill>
                  <a:srgbClr val="6B7B8D"/>
                </a:solidFill>
                <a:latin typeface="Calibri"/>
                <a:ea typeface="Calibri"/>
                <a:cs typeface="Calibri"/>
                <a:sym typeface="Calibri"/>
              </a:rPr>
              <a:t>The NeuroFoot detects sustained overload and sends a WARN alert to the patient's smartphone. The patient offloads pressure before injury occurs.</a:t>
            </a:r>
            <a:endParaRPr b="0" i="0" sz="2800" u="none" cap="none" strike="noStrike">
              <a:solidFill>
                <a:schemeClr val="dk1"/>
              </a:solidFill>
              <a:latin typeface="Calibri"/>
              <a:ea typeface="Calibri"/>
              <a:cs typeface="Calibri"/>
              <a:sym typeface="Calibri"/>
            </a:endParaRPr>
          </a:p>
        </p:txBody>
      </p:sp>
      <p:sp>
        <p:nvSpPr>
          <p:cNvPr id="116" name="Google Shape;116;g3d9e588f0ee_1_20"/>
          <p:cNvSpPr/>
          <p:nvPr/>
        </p:nvSpPr>
        <p:spPr>
          <a:xfrm>
            <a:off x="12435840" y="2194560"/>
            <a:ext cx="5212200" cy="6583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117" name="Google Shape;117;g3d9e588f0ee_1_20"/>
          <p:cNvSpPr/>
          <p:nvPr/>
        </p:nvSpPr>
        <p:spPr>
          <a:xfrm>
            <a:off x="12435840" y="2194560"/>
            <a:ext cx="5212200" cy="91200"/>
          </a:xfrm>
          <a:prstGeom prst="rect">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118" name="Google Shape;118;g3d9e588f0ee_1_20"/>
          <p:cNvPicPr preferRelativeResize="0"/>
          <p:nvPr/>
        </p:nvPicPr>
        <p:blipFill rotWithShape="1">
          <a:blip r:embed="rId5">
            <a:alphaModFix/>
          </a:blip>
          <a:srcRect b="0" l="0" r="0" t="0"/>
          <a:stretch/>
        </p:blipFill>
        <p:spPr>
          <a:xfrm>
            <a:off x="14356080" y="2651760"/>
            <a:ext cx="1097280" cy="1097280"/>
          </a:xfrm>
          <a:prstGeom prst="rect">
            <a:avLst/>
          </a:prstGeom>
          <a:noFill/>
          <a:ln>
            <a:noFill/>
          </a:ln>
        </p:spPr>
      </p:pic>
      <p:sp>
        <p:nvSpPr>
          <p:cNvPr id="119" name="Google Shape;119;g3d9e588f0ee_1_20"/>
          <p:cNvSpPr/>
          <p:nvPr/>
        </p:nvSpPr>
        <p:spPr>
          <a:xfrm>
            <a:off x="12801600" y="3931920"/>
            <a:ext cx="4480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D3F"/>
              </a:buClr>
              <a:buSzPts val="2800"/>
              <a:buFont typeface="Georgia"/>
              <a:buNone/>
            </a:pPr>
            <a:r>
              <a:rPr b="1" i="0" lang="en-US" sz="3600" u="none" cap="none" strike="noStrike">
                <a:solidFill>
                  <a:srgbClr val="1C2D3F"/>
                </a:solidFill>
                <a:latin typeface="Georgia"/>
                <a:ea typeface="Georgia"/>
                <a:cs typeface="Georgia"/>
                <a:sym typeface="Georgia"/>
              </a:rPr>
              <a:t>Clinical Review</a:t>
            </a:r>
            <a:endParaRPr b="0" i="0" sz="3600" u="none" cap="none" strike="noStrike">
              <a:solidFill>
                <a:schemeClr val="dk1"/>
              </a:solidFill>
              <a:latin typeface="Calibri"/>
              <a:ea typeface="Calibri"/>
              <a:cs typeface="Calibri"/>
              <a:sym typeface="Calibri"/>
            </a:endParaRPr>
          </a:p>
        </p:txBody>
      </p:sp>
      <p:sp>
        <p:nvSpPr>
          <p:cNvPr id="120" name="Google Shape;120;g3d9e588f0ee_1_20"/>
          <p:cNvSpPr/>
          <p:nvPr/>
        </p:nvSpPr>
        <p:spPr>
          <a:xfrm>
            <a:off x="12801600" y="4663440"/>
            <a:ext cx="4480800" cy="3657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B8D"/>
              </a:buClr>
              <a:buSzPts val="2000"/>
              <a:buFont typeface="Calibri"/>
              <a:buNone/>
            </a:pPr>
            <a:r>
              <a:rPr b="0" i="0" lang="en-US" sz="2800" u="none" cap="none" strike="noStrike">
                <a:solidFill>
                  <a:srgbClr val="6B7B8D"/>
                </a:solidFill>
                <a:latin typeface="Calibri"/>
                <a:ea typeface="Calibri"/>
                <a:cs typeface="Calibri"/>
                <a:sym typeface="Calibri"/>
              </a:rPr>
              <a:t>During a follow-up visit, the clinician reviews weeks of pressure trend data, identifies high-risk zones, and adjusts the patient's care plan accordingly.</a:t>
            </a:r>
            <a:endParaRPr b="0" i="0" sz="2800" u="none" cap="none" strike="noStrike">
              <a:solidFill>
                <a:schemeClr val="dk1"/>
              </a:solidFill>
              <a:latin typeface="Calibri"/>
              <a:ea typeface="Calibri"/>
              <a:cs typeface="Calibri"/>
              <a:sym typeface="Calibri"/>
            </a:endParaRPr>
          </a:p>
        </p:txBody>
      </p:sp>
      <p:sp>
        <p:nvSpPr>
          <p:cNvPr id="121" name="Google Shape;121;g3d9e588f0ee_1_20"/>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22" name="Google Shape;122;g3d9e588f0ee_1_20"/>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chemeClr val="dk1"/>
              </a:solidFill>
              <a:latin typeface="Calibri"/>
              <a:ea typeface="Calibri"/>
              <a:cs typeface="Calibri"/>
              <a:sym typeface="Calibri"/>
            </a:endParaRPr>
          </a:p>
        </p:txBody>
      </p:sp>
      <p:sp>
        <p:nvSpPr>
          <p:cNvPr id="123" name="Google Shape;123;g3d9e588f0ee_1_20"/>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128" name="Shape 128"/>
        <p:cNvGrpSpPr/>
        <p:nvPr/>
      </p:nvGrpSpPr>
      <p:grpSpPr>
        <a:xfrm>
          <a:off x="0" y="0"/>
          <a:ext cx="0" cy="0"/>
          <a:chOff x="0" y="0"/>
          <a:chExt cx="0" cy="0"/>
        </a:xfrm>
      </p:grpSpPr>
      <p:sp>
        <p:nvSpPr>
          <p:cNvPr id="129" name="Google Shape;129;g3d9e588f0ee_1_46"/>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30" name="Google Shape;130;g3d9e588f0ee_1_46"/>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31" name="Google Shape;131;g3d9e588f0ee_1_46"/>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Stakeholder Analysis &amp; Priority</a:t>
            </a:r>
            <a:endParaRPr b="0" i="0" sz="4400" u="none" cap="none" strike="noStrike">
              <a:solidFill>
                <a:schemeClr val="dk1"/>
              </a:solidFill>
              <a:latin typeface="Calibri"/>
              <a:ea typeface="Calibri"/>
              <a:cs typeface="Calibri"/>
              <a:sym typeface="Calibri"/>
            </a:endParaRPr>
          </a:p>
        </p:txBody>
      </p:sp>
      <p:sp>
        <p:nvSpPr>
          <p:cNvPr id="132" name="Google Shape;132;g3d9e588f0ee_1_46"/>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1.1a — Who the device serves and why</a:t>
            </a:r>
            <a:endParaRPr b="0" i="0" sz="2200" u="none" cap="none" strike="noStrike">
              <a:solidFill>
                <a:schemeClr val="dk1"/>
              </a:solidFill>
              <a:latin typeface="Calibri"/>
              <a:ea typeface="Calibri"/>
              <a:cs typeface="Calibri"/>
              <a:sym typeface="Calibri"/>
            </a:endParaRPr>
          </a:p>
        </p:txBody>
      </p:sp>
      <p:sp>
        <p:nvSpPr>
          <p:cNvPr id="133" name="Google Shape;133;g3d9e588f0ee_1_46"/>
          <p:cNvSpPr/>
          <p:nvPr/>
        </p:nvSpPr>
        <p:spPr>
          <a:xfrm>
            <a:off x="914400" y="2194560"/>
            <a:ext cx="16459200" cy="1462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000"/>
          </a:p>
        </p:txBody>
      </p:sp>
      <p:pic>
        <p:nvPicPr>
          <p:cNvPr descr="preencoded.png" id="134" name="Google Shape;134;g3d9e588f0ee_1_46"/>
          <p:cNvPicPr preferRelativeResize="0"/>
          <p:nvPr/>
        </p:nvPicPr>
        <p:blipFill rotWithShape="1">
          <a:blip r:embed="rId3">
            <a:alphaModFix/>
          </a:blip>
          <a:srcRect b="0" l="0" r="0" t="0"/>
          <a:stretch/>
        </p:blipFill>
        <p:spPr>
          <a:xfrm>
            <a:off x="1280160" y="2468880"/>
            <a:ext cx="822961" cy="822961"/>
          </a:xfrm>
          <a:prstGeom prst="rect">
            <a:avLst/>
          </a:prstGeom>
          <a:noFill/>
          <a:ln>
            <a:noFill/>
          </a:ln>
        </p:spPr>
      </p:pic>
      <p:sp>
        <p:nvSpPr>
          <p:cNvPr id="135" name="Google Shape;135;g3d9e588f0ee_1_46"/>
          <p:cNvSpPr/>
          <p:nvPr/>
        </p:nvSpPr>
        <p:spPr>
          <a:xfrm>
            <a:off x="2377440" y="2286000"/>
            <a:ext cx="128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778E"/>
              </a:buClr>
              <a:buSzPts val="2200"/>
              <a:buFont typeface="Calibri"/>
              <a:buNone/>
            </a:pPr>
            <a:r>
              <a:rPr b="1" i="0" lang="en-US" sz="2800" u="none" cap="none" strike="noStrike">
                <a:solidFill>
                  <a:srgbClr val="13778E"/>
                </a:solidFill>
                <a:latin typeface="Calibri"/>
                <a:ea typeface="Calibri"/>
                <a:cs typeface="Calibri"/>
                <a:sym typeface="Calibri"/>
              </a:rPr>
              <a:t>SH-01</a:t>
            </a:r>
            <a:endParaRPr b="0" i="0" sz="2800" u="none" cap="none" strike="noStrike">
              <a:solidFill>
                <a:schemeClr val="dk1"/>
              </a:solidFill>
              <a:latin typeface="Calibri"/>
              <a:ea typeface="Calibri"/>
              <a:cs typeface="Calibri"/>
              <a:sym typeface="Calibri"/>
            </a:endParaRPr>
          </a:p>
        </p:txBody>
      </p:sp>
      <p:sp>
        <p:nvSpPr>
          <p:cNvPr id="136" name="Google Shape;136;g3d9e588f0ee_1_46"/>
          <p:cNvSpPr/>
          <p:nvPr/>
        </p:nvSpPr>
        <p:spPr>
          <a:xfrm>
            <a:off x="3657600" y="2286000"/>
            <a:ext cx="4023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000" u="none" cap="none" strike="noStrike">
                <a:solidFill>
                  <a:srgbClr val="1C2D3F"/>
                </a:solidFill>
                <a:latin typeface="Georgia"/>
                <a:ea typeface="Georgia"/>
                <a:cs typeface="Georgia"/>
                <a:sym typeface="Georgia"/>
              </a:rPr>
              <a:t>Neuropathic Patient</a:t>
            </a:r>
            <a:endParaRPr b="0" i="0" sz="3000" u="none" cap="none" strike="noStrike">
              <a:solidFill>
                <a:schemeClr val="dk1"/>
              </a:solidFill>
              <a:latin typeface="Calibri"/>
              <a:ea typeface="Calibri"/>
              <a:cs typeface="Calibri"/>
              <a:sym typeface="Calibri"/>
            </a:endParaRPr>
          </a:p>
        </p:txBody>
      </p:sp>
      <p:sp>
        <p:nvSpPr>
          <p:cNvPr id="137" name="Google Shape;137;g3d9e588f0ee_1_46"/>
          <p:cNvSpPr/>
          <p:nvPr/>
        </p:nvSpPr>
        <p:spPr>
          <a:xfrm>
            <a:off x="11521685" y="2670050"/>
            <a:ext cx="512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900"/>
              <a:buFont typeface="Calibri"/>
              <a:buNone/>
            </a:pPr>
            <a:r>
              <a:rPr b="0" i="0" lang="en-US" sz="2500" u="none" cap="none" strike="noStrike">
                <a:solidFill>
                  <a:srgbClr val="6B7B8D"/>
                </a:solidFill>
                <a:latin typeface="Calibri"/>
                <a:ea typeface="Calibri"/>
                <a:cs typeface="Calibri"/>
                <a:sym typeface="Calibri"/>
              </a:rPr>
              <a:t>Primary alert recipient; daily wear and charging</a:t>
            </a:r>
            <a:endParaRPr b="0" i="0" sz="2500" u="none" cap="none" strike="noStrike">
              <a:solidFill>
                <a:schemeClr val="dk1"/>
              </a:solidFill>
              <a:latin typeface="Calibri"/>
              <a:ea typeface="Calibri"/>
              <a:cs typeface="Calibri"/>
              <a:sym typeface="Calibri"/>
            </a:endParaRPr>
          </a:p>
        </p:txBody>
      </p:sp>
      <p:sp>
        <p:nvSpPr>
          <p:cNvPr id="138" name="Google Shape;138;g3d9e588f0ee_1_46"/>
          <p:cNvSpPr/>
          <p:nvPr/>
        </p:nvSpPr>
        <p:spPr>
          <a:xfrm>
            <a:off x="3657600" y="2926080"/>
            <a:ext cx="133500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800"/>
              <a:buFont typeface="Calibri"/>
              <a:buNone/>
            </a:pPr>
            <a:r>
              <a:rPr b="0" i="1" lang="en-US" sz="2400" u="none" cap="none" strike="noStrike">
                <a:solidFill>
                  <a:srgbClr val="F4A261"/>
                </a:solidFill>
                <a:latin typeface="Calibri"/>
                <a:ea typeface="Calibri"/>
                <a:cs typeface="Calibri"/>
                <a:sym typeface="Calibri"/>
              </a:rPr>
              <a:t>Direct risk of harm — highest priority per ISO 14971</a:t>
            </a:r>
            <a:endParaRPr b="0" i="0" sz="2400" u="none" cap="none" strike="noStrike">
              <a:solidFill>
                <a:schemeClr val="dk1"/>
              </a:solidFill>
              <a:latin typeface="Calibri"/>
              <a:ea typeface="Calibri"/>
              <a:cs typeface="Calibri"/>
              <a:sym typeface="Calibri"/>
            </a:endParaRPr>
          </a:p>
        </p:txBody>
      </p:sp>
      <p:sp>
        <p:nvSpPr>
          <p:cNvPr id="139" name="Google Shape;139;g3d9e588f0ee_1_46"/>
          <p:cNvSpPr/>
          <p:nvPr/>
        </p:nvSpPr>
        <p:spPr>
          <a:xfrm>
            <a:off x="914400" y="3840480"/>
            <a:ext cx="16459200" cy="1462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000"/>
          </a:p>
        </p:txBody>
      </p:sp>
      <p:pic>
        <p:nvPicPr>
          <p:cNvPr descr="preencoded.png" id="140" name="Google Shape;140;g3d9e588f0ee_1_46"/>
          <p:cNvPicPr preferRelativeResize="0"/>
          <p:nvPr/>
        </p:nvPicPr>
        <p:blipFill rotWithShape="1">
          <a:blip r:embed="rId4">
            <a:alphaModFix/>
          </a:blip>
          <a:srcRect b="0" l="0" r="0" t="0"/>
          <a:stretch/>
        </p:blipFill>
        <p:spPr>
          <a:xfrm>
            <a:off x="1280160" y="4114800"/>
            <a:ext cx="822961" cy="822961"/>
          </a:xfrm>
          <a:prstGeom prst="rect">
            <a:avLst/>
          </a:prstGeom>
          <a:noFill/>
          <a:ln>
            <a:noFill/>
          </a:ln>
        </p:spPr>
      </p:pic>
      <p:sp>
        <p:nvSpPr>
          <p:cNvPr id="141" name="Google Shape;141;g3d9e588f0ee_1_46"/>
          <p:cNvSpPr/>
          <p:nvPr/>
        </p:nvSpPr>
        <p:spPr>
          <a:xfrm>
            <a:off x="2377440" y="3931920"/>
            <a:ext cx="128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778E"/>
              </a:buClr>
              <a:buSzPts val="2200"/>
              <a:buFont typeface="Calibri"/>
              <a:buNone/>
            </a:pPr>
            <a:r>
              <a:rPr b="1" i="0" lang="en-US" sz="2800" u="none" cap="none" strike="noStrike">
                <a:solidFill>
                  <a:srgbClr val="13778E"/>
                </a:solidFill>
                <a:latin typeface="Calibri"/>
                <a:ea typeface="Calibri"/>
                <a:cs typeface="Calibri"/>
                <a:sym typeface="Calibri"/>
              </a:rPr>
              <a:t>SH-02</a:t>
            </a:r>
            <a:endParaRPr b="0" i="0" sz="2800" u="none" cap="none" strike="noStrike">
              <a:solidFill>
                <a:schemeClr val="dk1"/>
              </a:solidFill>
              <a:latin typeface="Calibri"/>
              <a:ea typeface="Calibri"/>
              <a:cs typeface="Calibri"/>
              <a:sym typeface="Calibri"/>
            </a:endParaRPr>
          </a:p>
        </p:txBody>
      </p:sp>
      <p:sp>
        <p:nvSpPr>
          <p:cNvPr id="142" name="Google Shape;142;g3d9e588f0ee_1_46"/>
          <p:cNvSpPr/>
          <p:nvPr/>
        </p:nvSpPr>
        <p:spPr>
          <a:xfrm>
            <a:off x="3657600" y="3931920"/>
            <a:ext cx="4023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000" u="none" cap="none" strike="noStrike">
                <a:solidFill>
                  <a:srgbClr val="1C2D3F"/>
                </a:solidFill>
                <a:latin typeface="Georgia"/>
                <a:ea typeface="Georgia"/>
                <a:cs typeface="Georgia"/>
                <a:sym typeface="Georgia"/>
              </a:rPr>
              <a:t>Caregiver</a:t>
            </a:r>
            <a:endParaRPr b="0" i="0" sz="3000" u="none" cap="none" strike="noStrike">
              <a:solidFill>
                <a:schemeClr val="dk1"/>
              </a:solidFill>
              <a:latin typeface="Calibri"/>
              <a:ea typeface="Calibri"/>
              <a:cs typeface="Calibri"/>
              <a:sym typeface="Calibri"/>
            </a:endParaRPr>
          </a:p>
        </p:txBody>
      </p:sp>
      <p:sp>
        <p:nvSpPr>
          <p:cNvPr id="143" name="Google Shape;143;g3d9e588f0ee_1_46"/>
          <p:cNvSpPr/>
          <p:nvPr/>
        </p:nvSpPr>
        <p:spPr>
          <a:xfrm>
            <a:off x="11521685" y="4315970"/>
            <a:ext cx="512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900"/>
              <a:buFont typeface="Calibri"/>
              <a:buNone/>
            </a:pPr>
            <a:r>
              <a:rPr b="0" i="0" lang="en-US" sz="2500" u="none" cap="none" strike="noStrike">
                <a:solidFill>
                  <a:srgbClr val="6B7B8D"/>
                </a:solidFill>
                <a:latin typeface="Calibri"/>
                <a:ea typeface="Calibri"/>
                <a:cs typeface="Calibri"/>
                <a:sym typeface="Calibri"/>
              </a:rPr>
              <a:t>Secondary alert recipient; assists with offloading</a:t>
            </a:r>
            <a:endParaRPr b="0" i="0" sz="2500" u="none" cap="none" strike="noStrike">
              <a:solidFill>
                <a:schemeClr val="dk1"/>
              </a:solidFill>
              <a:latin typeface="Calibri"/>
              <a:ea typeface="Calibri"/>
              <a:cs typeface="Calibri"/>
              <a:sym typeface="Calibri"/>
            </a:endParaRPr>
          </a:p>
        </p:txBody>
      </p:sp>
      <p:sp>
        <p:nvSpPr>
          <p:cNvPr id="144" name="Google Shape;144;g3d9e588f0ee_1_46"/>
          <p:cNvSpPr/>
          <p:nvPr/>
        </p:nvSpPr>
        <p:spPr>
          <a:xfrm>
            <a:off x="3657600" y="4572000"/>
            <a:ext cx="133500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800"/>
              <a:buFont typeface="Calibri"/>
              <a:buNone/>
            </a:pPr>
            <a:r>
              <a:rPr b="0" i="1" lang="en-US" sz="2400" u="none" cap="none" strike="noStrike">
                <a:solidFill>
                  <a:srgbClr val="F4A261"/>
                </a:solidFill>
                <a:latin typeface="Calibri"/>
                <a:ea typeface="Calibri"/>
                <a:cs typeface="Calibri"/>
                <a:sym typeface="Calibri"/>
              </a:rPr>
              <a:t>ADA identifies caregivers as essential in high-risk populations</a:t>
            </a:r>
            <a:endParaRPr b="0" i="0" sz="2400" u="none" cap="none" strike="noStrike">
              <a:solidFill>
                <a:schemeClr val="dk1"/>
              </a:solidFill>
              <a:latin typeface="Calibri"/>
              <a:ea typeface="Calibri"/>
              <a:cs typeface="Calibri"/>
              <a:sym typeface="Calibri"/>
            </a:endParaRPr>
          </a:p>
        </p:txBody>
      </p:sp>
      <p:sp>
        <p:nvSpPr>
          <p:cNvPr id="145" name="Google Shape;145;g3d9e588f0ee_1_46"/>
          <p:cNvSpPr/>
          <p:nvPr/>
        </p:nvSpPr>
        <p:spPr>
          <a:xfrm>
            <a:off x="914400" y="5486400"/>
            <a:ext cx="16459200" cy="1462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000"/>
          </a:p>
        </p:txBody>
      </p:sp>
      <p:pic>
        <p:nvPicPr>
          <p:cNvPr descr="preencoded.png" id="146" name="Google Shape;146;g3d9e588f0ee_1_46"/>
          <p:cNvPicPr preferRelativeResize="0"/>
          <p:nvPr/>
        </p:nvPicPr>
        <p:blipFill rotWithShape="1">
          <a:blip r:embed="rId5">
            <a:alphaModFix/>
          </a:blip>
          <a:srcRect b="0" l="0" r="0" t="0"/>
          <a:stretch/>
        </p:blipFill>
        <p:spPr>
          <a:xfrm>
            <a:off x="1280160" y="5760720"/>
            <a:ext cx="822961" cy="822961"/>
          </a:xfrm>
          <a:prstGeom prst="rect">
            <a:avLst/>
          </a:prstGeom>
          <a:noFill/>
          <a:ln>
            <a:noFill/>
          </a:ln>
        </p:spPr>
      </p:pic>
      <p:sp>
        <p:nvSpPr>
          <p:cNvPr id="147" name="Google Shape;147;g3d9e588f0ee_1_46"/>
          <p:cNvSpPr/>
          <p:nvPr/>
        </p:nvSpPr>
        <p:spPr>
          <a:xfrm>
            <a:off x="2377440" y="5577840"/>
            <a:ext cx="128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778E"/>
              </a:buClr>
              <a:buSzPts val="2200"/>
              <a:buFont typeface="Calibri"/>
              <a:buNone/>
            </a:pPr>
            <a:r>
              <a:rPr b="1" i="0" lang="en-US" sz="2800" u="none" cap="none" strike="noStrike">
                <a:solidFill>
                  <a:srgbClr val="13778E"/>
                </a:solidFill>
                <a:latin typeface="Calibri"/>
                <a:ea typeface="Calibri"/>
                <a:cs typeface="Calibri"/>
                <a:sym typeface="Calibri"/>
              </a:rPr>
              <a:t>SH-03</a:t>
            </a:r>
            <a:endParaRPr b="0" i="0" sz="2800" u="none" cap="none" strike="noStrike">
              <a:solidFill>
                <a:schemeClr val="dk1"/>
              </a:solidFill>
              <a:latin typeface="Calibri"/>
              <a:ea typeface="Calibri"/>
              <a:cs typeface="Calibri"/>
              <a:sym typeface="Calibri"/>
            </a:endParaRPr>
          </a:p>
        </p:txBody>
      </p:sp>
      <p:sp>
        <p:nvSpPr>
          <p:cNvPr id="148" name="Google Shape;148;g3d9e588f0ee_1_46"/>
          <p:cNvSpPr/>
          <p:nvPr/>
        </p:nvSpPr>
        <p:spPr>
          <a:xfrm>
            <a:off x="3657600" y="5577840"/>
            <a:ext cx="4023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000" u="none" cap="none" strike="noStrike">
                <a:solidFill>
                  <a:srgbClr val="1C2D3F"/>
                </a:solidFill>
                <a:latin typeface="Georgia"/>
                <a:ea typeface="Georgia"/>
                <a:cs typeface="Georgia"/>
                <a:sym typeface="Georgia"/>
              </a:rPr>
              <a:t>Clinician</a:t>
            </a:r>
            <a:endParaRPr b="0" i="0" sz="3000" u="none" cap="none" strike="noStrike">
              <a:solidFill>
                <a:schemeClr val="dk1"/>
              </a:solidFill>
              <a:latin typeface="Calibri"/>
              <a:ea typeface="Calibri"/>
              <a:cs typeface="Calibri"/>
              <a:sym typeface="Calibri"/>
            </a:endParaRPr>
          </a:p>
        </p:txBody>
      </p:sp>
      <p:sp>
        <p:nvSpPr>
          <p:cNvPr id="149" name="Google Shape;149;g3d9e588f0ee_1_46"/>
          <p:cNvSpPr/>
          <p:nvPr/>
        </p:nvSpPr>
        <p:spPr>
          <a:xfrm>
            <a:off x="11521685" y="5961890"/>
            <a:ext cx="512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900"/>
              <a:buFont typeface="Calibri"/>
              <a:buNone/>
            </a:pPr>
            <a:r>
              <a:rPr b="0" i="0" lang="en-US" sz="2500" u="none" cap="none" strike="noStrike">
                <a:solidFill>
                  <a:srgbClr val="6B7B8D"/>
                </a:solidFill>
                <a:latin typeface="Calibri"/>
                <a:ea typeface="Calibri"/>
                <a:cs typeface="Calibri"/>
                <a:sym typeface="Calibri"/>
              </a:rPr>
              <a:t>Reviews longitudinal data; modifies care plan</a:t>
            </a:r>
            <a:endParaRPr b="0" i="0" sz="2500" u="none" cap="none" strike="noStrike">
              <a:solidFill>
                <a:schemeClr val="dk1"/>
              </a:solidFill>
              <a:latin typeface="Calibri"/>
              <a:ea typeface="Calibri"/>
              <a:cs typeface="Calibri"/>
              <a:sym typeface="Calibri"/>
            </a:endParaRPr>
          </a:p>
        </p:txBody>
      </p:sp>
      <p:sp>
        <p:nvSpPr>
          <p:cNvPr id="150" name="Google Shape;150;g3d9e588f0ee_1_46"/>
          <p:cNvSpPr/>
          <p:nvPr/>
        </p:nvSpPr>
        <p:spPr>
          <a:xfrm>
            <a:off x="3657600" y="6217920"/>
            <a:ext cx="133500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800"/>
              <a:buFont typeface="Calibri"/>
              <a:buNone/>
            </a:pPr>
            <a:r>
              <a:rPr b="0" i="1" lang="en-US" sz="2400" u="none" cap="none" strike="noStrike">
                <a:solidFill>
                  <a:srgbClr val="F4A261"/>
                </a:solidFill>
                <a:latin typeface="Calibri"/>
                <a:ea typeface="Calibri"/>
                <a:cs typeface="Calibri"/>
                <a:sym typeface="Calibri"/>
              </a:rPr>
              <a:t>IWGDF 2023 recommends periodic pressure monitoring</a:t>
            </a:r>
            <a:endParaRPr b="0" i="0" sz="2400" u="none" cap="none" strike="noStrike">
              <a:solidFill>
                <a:schemeClr val="dk1"/>
              </a:solidFill>
              <a:latin typeface="Calibri"/>
              <a:ea typeface="Calibri"/>
              <a:cs typeface="Calibri"/>
              <a:sym typeface="Calibri"/>
            </a:endParaRPr>
          </a:p>
        </p:txBody>
      </p:sp>
      <p:sp>
        <p:nvSpPr>
          <p:cNvPr id="151" name="Google Shape;151;g3d9e588f0ee_1_46"/>
          <p:cNvSpPr/>
          <p:nvPr/>
        </p:nvSpPr>
        <p:spPr>
          <a:xfrm>
            <a:off x="914400" y="7132320"/>
            <a:ext cx="16459200" cy="1462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000"/>
          </a:p>
        </p:txBody>
      </p:sp>
      <p:pic>
        <p:nvPicPr>
          <p:cNvPr descr="preencoded.png" id="152" name="Google Shape;152;g3d9e588f0ee_1_46"/>
          <p:cNvPicPr preferRelativeResize="0"/>
          <p:nvPr/>
        </p:nvPicPr>
        <p:blipFill rotWithShape="1">
          <a:blip r:embed="rId6">
            <a:alphaModFix/>
          </a:blip>
          <a:srcRect b="0" l="0" r="0" t="0"/>
          <a:stretch/>
        </p:blipFill>
        <p:spPr>
          <a:xfrm>
            <a:off x="1280160" y="7406640"/>
            <a:ext cx="822961" cy="822961"/>
          </a:xfrm>
          <a:prstGeom prst="rect">
            <a:avLst/>
          </a:prstGeom>
          <a:noFill/>
          <a:ln>
            <a:noFill/>
          </a:ln>
        </p:spPr>
      </p:pic>
      <p:sp>
        <p:nvSpPr>
          <p:cNvPr id="153" name="Google Shape;153;g3d9e588f0ee_1_46"/>
          <p:cNvSpPr/>
          <p:nvPr/>
        </p:nvSpPr>
        <p:spPr>
          <a:xfrm>
            <a:off x="2377440" y="7223760"/>
            <a:ext cx="128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778E"/>
              </a:buClr>
              <a:buSzPts val="2200"/>
              <a:buFont typeface="Calibri"/>
              <a:buNone/>
            </a:pPr>
            <a:r>
              <a:rPr b="1" i="0" lang="en-US" sz="2800" u="none" cap="none" strike="noStrike">
                <a:solidFill>
                  <a:srgbClr val="13778E"/>
                </a:solidFill>
                <a:latin typeface="Calibri"/>
                <a:ea typeface="Calibri"/>
                <a:cs typeface="Calibri"/>
                <a:sym typeface="Calibri"/>
              </a:rPr>
              <a:t>SH-04</a:t>
            </a:r>
            <a:endParaRPr b="0" i="0" sz="2800" u="none" cap="none" strike="noStrike">
              <a:solidFill>
                <a:schemeClr val="dk1"/>
              </a:solidFill>
              <a:latin typeface="Calibri"/>
              <a:ea typeface="Calibri"/>
              <a:cs typeface="Calibri"/>
              <a:sym typeface="Calibri"/>
            </a:endParaRPr>
          </a:p>
        </p:txBody>
      </p:sp>
      <p:sp>
        <p:nvSpPr>
          <p:cNvPr id="154" name="Google Shape;154;g3d9e588f0ee_1_46"/>
          <p:cNvSpPr/>
          <p:nvPr/>
        </p:nvSpPr>
        <p:spPr>
          <a:xfrm>
            <a:off x="3657600" y="7223760"/>
            <a:ext cx="4023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000" u="none" cap="none" strike="noStrike">
                <a:solidFill>
                  <a:srgbClr val="1C2D3F"/>
                </a:solidFill>
                <a:latin typeface="Georgia"/>
                <a:ea typeface="Georgia"/>
                <a:cs typeface="Georgia"/>
                <a:sym typeface="Georgia"/>
              </a:rPr>
              <a:t>FDA CDRH</a:t>
            </a:r>
            <a:endParaRPr b="0" i="0" sz="3000" u="none" cap="none" strike="noStrike">
              <a:solidFill>
                <a:schemeClr val="dk1"/>
              </a:solidFill>
              <a:latin typeface="Calibri"/>
              <a:ea typeface="Calibri"/>
              <a:cs typeface="Calibri"/>
              <a:sym typeface="Calibri"/>
            </a:endParaRPr>
          </a:p>
        </p:txBody>
      </p:sp>
      <p:sp>
        <p:nvSpPr>
          <p:cNvPr id="155" name="Google Shape;155;g3d9e588f0ee_1_46"/>
          <p:cNvSpPr/>
          <p:nvPr/>
        </p:nvSpPr>
        <p:spPr>
          <a:xfrm>
            <a:off x="11521685" y="7607810"/>
            <a:ext cx="5120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900"/>
              <a:buFont typeface="Calibri"/>
              <a:buNone/>
            </a:pPr>
            <a:r>
              <a:rPr b="0" i="0" lang="en-US" sz="2500" u="none" cap="none" strike="noStrike">
                <a:solidFill>
                  <a:srgbClr val="6B7B8D"/>
                </a:solidFill>
                <a:latin typeface="Calibri"/>
                <a:ea typeface="Calibri"/>
                <a:cs typeface="Calibri"/>
                <a:sym typeface="Calibri"/>
              </a:rPr>
              <a:t>Regulatory reviewer for premarket submission</a:t>
            </a:r>
            <a:endParaRPr b="0" i="0" sz="2500" u="none" cap="none" strike="noStrike">
              <a:solidFill>
                <a:schemeClr val="dk1"/>
              </a:solidFill>
              <a:latin typeface="Calibri"/>
              <a:ea typeface="Calibri"/>
              <a:cs typeface="Calibri"/>
              <a:sym typeface="Calibri"/>
            </a:endParaRPr>
          </a:p>
        </p:txBody>
      </p:sp>
      <p:sp>
        <p:nvSpPr>
          <p:cNvPr id="156" name="Google Shape;156;g3d9e588f0ee_1_46"/>
          <p:cNvSpPr/>
          <p:nvPr/>
        </p:nvSpPr>
        <p:spPr>
          <a:xfrm>
            <a:off x="3657600" y="7863840"/>
            <a:ext cx="133500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800"/>
              <a:buFont typeface="Calibri"/>
              <a:buNone/>
            </a:pPr>
            <a:r>
              <a:rPr b="0" i="1" lang="en-US" sz="2400" u="none" cap="none" strike="noStrike">
                <a:solidFill>
                  <a:srgbClr val="F4A261"/>
                </a:solidFill>
                <a:latin typeface="Calibri"/>
                <a:ea typeface="Calibri"/>
                <a:cs typeface="Calibri"/>
                <a:sym typeface="Calibri"/>
              </a:rPr>
              <a:t>Defines constraints: 21 CFR 890.5575, Class II</a:t>
            </a:r>
            <a:endParaRPr b="0" i="0" sz="2400" u="none" cap="none" strike="noStrike">
              <a:solidFill>
                <a:schemeClr val="dk1"/>
              </a:solidFill>
              <a:latin typeface="Calibri"/>
              <a:ea typeface="Calibri"/>
              <a:cs typeface="Calibri"/>
              <a:sym typeface="Calibri"/>
            </a:endParaRPr>
          </a:p>
        </p:txBody>
      </p:sp>
      <p:sp>
        <p:nvSpPr>
          <p:cNvPr id="157" name="Google Shape;157;g3d9e588f0ee_1_46"/>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8" name="Google Shape;158;g3d9e588f0ee_1_46"/>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chemeClr val="dk1"/>
              </a:solidFill>
              <a:latin typeface="Calibri"/>
              <a:ea typeface="Calibri"/>
              <a:cs typeface="Calibri"/>
              <a:sym typeface="Calibri"/>
            </a:endParaRPr>
          </a:p>
        </p:txBody>
      </p:sp>
      <p:sp>
        <p:nvSpPr>
          <p:cNvPr id="159" name="Google Shape;159;g3d9e588f0ee_1_46"/>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164" name="Shape 164"/>
        <p:cNvGrpSpPr/>
        <p:nvPr/>
      </p:nvGrpSpPr>
      <p:grpSpPr>
        <a:xfrm>
          <a:off x="0" y="0"/>
          <a:ext cx="0" cy="0"/>
          <a:chOff x="0" y="0"/>
          <a:chExt cx="0" cy="0"/>
        </a:xfrm>
      </p:grpSpPr>
      <p:sp>
        <p:nvSpPr>
          <p:cNvPr id="165" name="Google Shape;165;g3d9e588f0ee_1_81"/>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6" name="Google Shape;166;g3d9e588f0ee_1_81"/>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7" name="Google Shape;167;g3d9e588f0ee_1_81"/>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MVP Features Priority Ranking</a:t>
            </a:r>
            <a:endParaRPr b="0" i="0" sz="4400" u="none" cap="none" strike="noStrike">
              <a:solidFill>
                <a:schemeClr val="dk1"/>
              </a:solidFill>
              <a:latin typeface="Calibri"/>
              <a:ea typeface="Calibri"/>
              <a:cs typeface="Calibri"/>
              <a:sym typeface="Calibri"/>
            </a:endParaRPr>
          </a:p>
        </p:txBody>
      </p:sp>
      <p:sp>
        <p:nvSpPr>
          <p:cNvPr id="168" name="Google Shape;168;g3d9e588f0ee_1_81"/>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1.1a — Features derived from stakeholder needs</a:t>
            </a:r>
            <a:endParaRPr b="0" i="0" sz="2200" u="none" cap="none" strike="noStrike">
              <a:solidFill>
                <a:schemeClr val="dk1"/>
              </a:solidFill>
              <a:latin typeface="Calibri"/>
              <a:ea typeface="Calibri"/>
              <a:cs typeface="Calibri"/>
              <a:sym typeface="Calibri"/>
            </a:endParaRPr>
          </a:p>
        </p:txBody>
      </p:sp>
      <p:sp>
        <p:nvSpPr>
          <p:cNvPr id="169" name="Google Shape;169;g3d9e588f0ee_1_81"/>
          <p:cNvSpPr/>
          <p:nvPr/>
        </p:nvSpPr>
        <p:spPr>
          <a:xfrm>
            <a:off x="914400" y="2194560"/>
            <a:ext cx="823200" cy="823200"/>
          </a:xfrm>
          <a:prstGeom prst="ellipse">
            <a:avLst/>
          </a:prstGeom>
          <a:solidFill>
            <a:srgbClr val="EF444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0" name="Google Shape;170;g3d9e588f0ee_1_81"/>
          <p:cNvSpPr/>
          <p:nvPr/>
        </p:nvSpPr>
        <p:spPr>
          <a:xfrm>
            <a:off x="914400" y="2194560"/>
            <a:ext cx="8232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1</a:t>
            </a:r>
            <a:endParaRPr b="0" i="0" sz="2800" u="none" cap="none" strike="noStrike">
              <a:solidFill>
                <a:schemeClr val="dk1"/>
              </a:solidFill>
              <a:latin typeface="Calibri"/>
              <a:ea typeface="Calibri"/>
              <a:cs typeface="Calibri"/>
              <a:sym typeface="Calibri"/>
            </a:endParaRPr>
          </a:p>
        </p:txBody>
      </p:sp>
      <p:pic>
        <p:nvPicPr>
          <p:cNvPr descr="preencoded.png" id="171" name="Google Shape;171;g3d9e588f0ee_1_81"/>
          <p:cNvPicPr preferRelativeResize="0"/>
          <p:nvPr/>
        </p:nvPicPr>
        <p:blipFill rotWithShape="1">
          <a:blip r:embed="rId3">
            <a:alphaModFix/>
          </a:blip>
          <a:srcRect b="0" l="0" r="0" t="0"/>
          <a:stretch/>
        </p:blipFill>
        <p:spPr>
          <a:xfrm>
            <a:off x="2103120" y="2249424"/>
            <a:ext cx="694944" cy="694944"/>
          </a:xfrm>
          <a:prstGeom prst="rect">
            <a:avLst/>
          </a:prstGeom>
          <a:noFill/>
          <a:ln>
            <a:noFill/>
          </a:ln>
        </p:spPr>
      </p:pic>
      <p:sp>
        <p:nvSpPr>
          <p:cNvPr id="172" name="Google Shape;172;g3d9e588f0ee_1_81"/>
          <p:cNvSpPr/>
          <p:nvPr/>
        </p:nvSpPr>
        <p:spPr>
          <a:xfrm>
            <a:off x="3108960" y="2103120"/>
            <a:ext cx="82296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16-Zone Plantar Pressure Sensing</a:t>
            </a:r>
            <a:endParaRPr b="0" i="0" sz="3100" u="none" cap="none" strike="noStrike">
              <a:solidFill>
                <a:schemeClr val="dk1"/>
              </a:solidFill>
              <a:latin typeface="Calibri"/>
              <a:ea typeface="Calibri"/>
              <a:cs typeface="Calibri"/>
              <a:sym typeface="Calibri"/>
            </a:endParaRPr>
          </a:p>
        </p:txBody>
      </p:sp>
      <p:sp>
        <p:nvSpPr>
          <p:cNvPr id="173" name="Google Shape;173;g3d9e588f0ee_1_81"/>
          <p:cNvSpPr/>
          <p:nvPr/>
        </p:nvSpPr>
        <p:spPr>
          <a:xfrm>
            <a:off x="3108960" y="2615184"/>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500" u="none" cap="none" strike="noStrike">
                <a:solidFill>
                  <a:srgbClr val="6B7B8D"/>
                </a:solidFill>
                <a:latin typeface="Calibri"/>
                <a:ea typeface="Calibri"/>
                <a:cs typeface="Calibri"/>
                <a:sym typeface="Calibri"/>
              </a:rPr>
              <a:t>FSR array across toes, metatarsal heads, midfoot, heel — core clinical function</a:t>
            </a:r>
            <a:endParaRPr b="0" i="0" sz="2500" u="none" cap="none" strike="noStrike">
              <a:solidFill>
                <a:schemeClr val="dk1"/>
              </a:solidFill>
              <a:latin typeface="Calibri"/>
              <a:ea typeface="Calibri"/>
              <a:cs typeface="Calibri"/>
              <a:sym typeface="Calibri"/>
            </a:endParaRPr>
          </a:p>
        </p:txBody>
      </p:sp>
      <p:sp>
        <p:nvSpPr>
          <p:cNvPr id="174" name="Google Shape;174;g3d9e588f0ee_1_81"/>
          <p:cNvSpPr/>
          <p:nvPr/>
        </p:nvSpPr>
        <p:spPr>
          <a:xfrm>
            <a:off x="15179040" y="2249424"/>
            <a:ext cx="2011800" cy="640200"/>
          </a:xfrm>
          <a:prstGeom prst="rect">
            <a:avLst/>
          </a:prstGeom>
          <a:solidFill>
            <a:srgbClr val="EF4444">
              <a:alpha val="14900"/>
            </a:srgbClr>
          </a:solidFill>
          <a:ln cap="flat" cmpd="sng" w="19050">
            <a:solidFill>
              <a:srgbClr val="EF4444"/>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175" name="Google Shape;175;g3d9e588f0ee_1_81"/>
          <p:cNvSpPr/>
          <p:nvPr/>
        </p:nvSpPr>
        <p:spPr>
          <a:xfrm>
            <a:off x="15179040" y="2249424"/>
            <a:ext cx="2011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800"/>
              <a:buFont typeface="Calibri"/>
              <a:buNone/>
            </a:pPr>
            <a:r>
              <a:rPr b="1" i="0" lang="en-US" sz="2500" u="none" cap="none" strike="noStrike">
                <a:solidFill>
                  <a:srgbClr val="EF4444"/>
                </a:solidFill>
                <a:latin typeface="Calibri"/>
                <a:ea typeface="Calibri"/>
                <a:cs typeface="Calibri"/>
                <a:sym typeface="Calibri"/>
              </a:rPr>
              <a:t>Critical</a:t>
            </a:r>
            <a:endParaRPr b="0" i="0" sz="2500" u="none" cap="none" strike="noStrike">
              <a:solidFill>
                <a:schemeClr val="dk1"/>
              </a:solidFill>
              <a:latin typeface="Calibri"/>
              <a:ea typeface="Calibri"/>
              <a:cs typeface="Calibri"/>
              <a:sym typeface="Calibri"/>
            </a:endParaRPr>
          </a:p>
        </p:txBody>
      </p:sp>
      <p:sp>
        <p:nvSpPr>
          <p:cNvPr id="176" name="Google Shape;176;g3d9e588f0ee_1_81"/>
          <p:cNvSpPr/>
          <p:nvPr/>
        </p:nvSpPr>
        <p:spPr>
          <a:xfrm>
            <a:off x="914400" y="3346704"/>
            <a:ext cx="823200" cy="823200"/>
          </a:xfrm>
          <a:prstGeom prst="ellipse">
            <a:avLst/>
          </a:prstGeom>
          <a:solidFill>
            <a:srgbClr val="EF444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7" name="Google Shape;177;g3d9e588f0ee_1_81"/>
          <p:cNvSpPr/>
          <p:nvPr/>
        </p:nvSpPr>
        <p:spPr>
          <a:xfrm>
            <a:off x="914400" y="3346704"/>
            <a:ext cx="8232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2</a:t>
            </a:r>
            <a:endParaRPr b="0" i="0" sz="2800" u="none" cap="none" strike="noStrike">
              <a:solidFill>
                <a:schemeClr val="dk1"/>
              </a:solidFill>
              <a:latin typeface="Calibri"/>
              <a:ea typeface="Calibri"/>
              <a:cs typeface="Calibri"/>
              <a:sym typeface="Calibri"/>
            </a:endParaRPr>
          </a:p>
        </p:txBody>
      </p:sp>
      <p:pic>
        <p:nvPicPr>
          <p:cNvPr descr="preencoded.png" id="178" name="Google Shape;178;g3d9e588f0ee_1_81"/>
          <p:cNvPicPr preferRelativeResize="0"/>
          <p:nvPr/>
        </p:nvPicPr>
        <p:blipFill rotWithShape="1">
          <a:blip r:embed="rId4">
            <a:alphaModFix/>
          </a:blip>
          <a:srcRect b="0" l="0" r="0" t="0"/>
          <a:stretch/>
        </p:blipFill>
        <p:spPr>
          <a:xfrm>
            <a:off x="2103120" y="3401568"/>
            <a:ext cx="694944" cy="694944"/>
          </a:xfrm>
          <a:prstGeom prst="rect">
            <a:avLst/>
          </a:prstGeom>
          <a:noFill/>
          <a:ln>
            <a:noFill/>
          </a:ln>
        </p:spPr>
      </p:pic>
      <p:sp>
        <p:nvSpPr>
          <p:cNvPr id="179" name="Google Shape;179;g3d9e588f0ee_1_81"/>
          <p:cNvSpPr/>
          <p:nvPr/>
        </p:nvSpPr>
        <p:spPr>
          <a:xfrm>
            <a:off x="3108960" y="3255264"/>
            <a:ext cx="82296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Real-Time Threshold Alerting</a:t>
            </a:r>
            <a:endParaRPr b="0" i="0" sz="3100" u="none" cap="none" strike="noStrike">
              <a:solidFill>
                <a:schemeClr val="dk1"/>
              </a:solidFill>
              <a:latin typeface="Calibri"/>
              <a:ea typeface="Calibri"/>
              <a:cs typeface="Calibri"/>
              <a:sym typeface="Calibri"/>
            </a:endParaRPr>
          </a:p>
        </p:txBody>
      </p:sp>
      <p:sp>
        <p:nvSpPr>
          <p:cNvPr id="180" name="Google Shape;180;g3d9e588f0ee_1_81"/>
          <p:cNvSpPr/>
          <p:nvPr/>
        </p:nvSpPr>
        <p:spPr>
          <a:xfrm>
            <a:off x="3108960" y="3767328"/>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500" u="none" cap="none" strike="noStrike">
                <a:solidFill>
                  <a:srgbClr val="6B7B8D"/>
                </a:solidFill>
                <a:latin typeface="Calibri"/>
                <a:ea typeface="Calibri"/>
                <a:cs typeface="Calibri"/>
                <a:sym typeface="Calibri"/>
              </a:rPr>
              <a:t>WARN &gt;600 ADC, CRITICAL &gt;850 ADC — behavioral offloading prompt</a:t>
            </a:r>
            <a:endParaRPr b="0" i="0" sz="2500" u="none" cap="none" strike="noStrike">
              <a:solidFill>
                <a:schemeClr val="dk1"/>
              </a:solidFill>
              <a:latin typeface="Calibri"/>
              <a:ea typeface="Calibri"/>
              <a:cs typeface="Calibri"/>
              <a:sym typeface="Calibri"/>
            </a:endParaRPr>
          </a:p>
        </p:txBody>
      </p:sp>
      <p:sp>
        <p:nvSpPr>
          <p:cNvPr id="181" name="Google Shape;181;g3d9e588f0ee_1_81"/>
          <p:cNvSpPr/>
          <p:nvPr/>
        </p:nvSpPr>
        <p:spPr>
          <a:xfrm>
            <a:off x="15179040" y="3401568"/>
            <a:ext cx="2011800" cy="640200"/>
          </a:xfrm>
          <a:prstGeom prst="rect">
            <a:avLst/>
          </a:prstGeom>
          <a:solidFill>
            <a:srgbClr val="EF4444">
              <a:alpha val="14900"/>
            </a:srgbClr>
          </a:solidFill>
          <a:ln cap="flat" cmpd="sng" w="19050">
            <a:solidFill>
              <a:srgbClr val="EF4444"/>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182" name="Google Shape;182;g3d9e588f0ee_1_81"/>
          <p:cNvSpPr/>
          <p:nvPr/>
        </p:nvSpPr>
        <p:spPr>
          <a:xfrm>
            <a:off x="15179040" y="3401568"/>
            <a:ext cx="2011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800"/>
              <a:buFont typeface="Calibri"/>
              <a:buNone/>
            </a:pPr>
            <a:r>
              <a:rPr b="1" i="0" lang="en-US" sz="2500" u="none" cap="none" strike="noStrike">
                <a:solidFill>
                  <a:srgbClr val="EF4444"/>
                </a:solidFill>
                <a:latin typeface="Calibri"/>
                <a:ea typeface="Calibri"/>
                <a:cs typeface="Calibri"/>
                <a:sym typeface="Calibri"/>
              </a:rPr>
              <a:t>Critical</a:t>
            </a:r>
            <a:endParaRPr b="0" i="0" sz="2500" u="none" cap="none" strike="noStrike">
              <a:solidFill>
                <a:schemeClr val="dk1"/>
              </a:solidFill>
              <a:latin typeface="Calibri"/>
              <a:ea typeface="Calibri"/>
              <a:cs typeface="Calibri"/>
              <a:sym typeface="Calibri"/>
            </a:endParaRPr>
          </a:p>
        </p:txBody>
      </p:sp>
      <p:sp>
        <p:nvSpPr>
          <p:cNvPr id="183" name="Google Shape;183;g3d9e588f0ee_1_81"/>
          <p:cNvSpPr/>
          <p:nvPr/>
        </p:nvSpPr>
        <p:spPr>
          <a:xfrm>
            <a:off x="914400" y="4498848"/>
            <a:ext cx="823200" cy="823200"/>
          </a:xfrm>
          <a:prstGeom prst="ellipse">
            <a:avLst/>
          </a:prstGeom>
          <a:solidFill>
            <a:srgbClr val="EF444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84" name="Google Shape;184;g3d9e588f0ee_1_81"/>
          <p:cNvSpPr/>
          <p:nvPr/>
        </p:nvSpPr>
        <p:spPr>
          <a:xfrm>
            <a:off x="914400" y="4498848"/>
            <a:ext cx="8232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3</a:t>
            </a:r>
            <a:endParaRPr b="0" i="0" sz="2800" u="none" cap="none" strike="noStrike">
              <a:solidFill>
                <a:schemeClr val="dk1"/>
              </a:solidFill>
              <a:latin typeface="Calibri"/>
              <a:ea typeface="Calibri"/>
              <a:cs typeface="Calibri"/>
              <a:sym typeface="Calibri"/>
            </a:endParaRPr>
          </a:p>
        </p:txBody>
      </p:sp>
      <p:pic>
        <p:nvPicPr>
          <p:cNvPr descr="preencoded.png" id="185" name="Google Shape;185;g3d9e588f0ee_1_81"/>
          <p:cNvPicPr preferRelativeResize="0"/>
          <p:nvPr/>
        </p:nvPicPr>
        <p:blipFill rotWithShape="1">
          <a:blip r:embed="rId5">
            <a:alphaModFix/>
          </a:blip>
          <a:srcRect b="0" l="0" r="0" t="0"/>
          <a:stretch/>
        </p:blipFill>
        <p:spPr>
          <a:xfrm>
            <a:off x="2103120" y="4553712"/>
            <a:ext cx="694944" cy="694944"/>
          </a:xfrm>
          <a:prstGeom prst="rect">
            <a:avLst/>
          </a:prstGeom>
          <a:noFill/>
          <a:ln>
            <a:noFill/>
          </a:ln>
        </p:spPr>
      </p:pic>
      <p:sp>
        <p:nvSpPr>
          <p:cNvPr id="186" name="Google Shape;186;g3d9e588f0ee_1_81"/>
          <p:cNvSpPr/>
          <p:nvPr/>
        </p:nvSpPr>
        <p:spPr>
          <a:xfrm>
            <a:off x="3108960" y="4407408"/>
            <a:ext cx="82296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BLE Wireless to iOS App</a:t>
            </a:r>
            <a:endParaRPr b="0" i="0" sz="3100" u="none" cap="none" strike="noStrike">
              <a:solidFill>
                <a:schemeClr val="dk1"/>
              </a:solidFill>
              <a:latin typeface="Calibri"/>
              <a:ea typeface="Calibri"/>
              <a:cs typeface="Calibri"/>
              <a:sym typeface="Calibri"/>
            </a:endParaRPr>
          </a:p>
        </p:txBody>
      </p:sp>
      <p:sp>
        <p:nvSpPr>
          <p:cNvPr id="187" name="Google Shape;187;g3d9e588f0ee_1_81"/>
          <p:cNvSpPr/>
          <p:nvPr/>
        </p:nvSpPr>
        <p:spPr>
          <a:xfrm>
            <a:off x="3108960" y="4919472"/>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500" u="none" cap="none" strike="noStrike">
                <a:solidFill>
                  <a:srgbClr val="6B7B8D"/>
                </a:solidFill>
                <a:latin typeface="Calibri"/>
                <a:ea typeface="Calibri"/>
                <a:cs typeface="Calibri"/>
                <a:sym typeface="Calibri"/>
              </a:rPr>
              <a:t>nRF52840 BLE 5.0 to companion app — &lt;1s alert latency</a:t>
            </a:r>
            <a:endParaRPr b="0" i="0" sz="2500" u="none" cap="none" strike="noStrike">
              <a:solidFill>
                <a:schemeClr val="dk1"/>
              </a:solidFill>
              <a:latin typeface="Calibri"/>
              <a:ea typeface="Calibri"/>
              <a:cs typeface="Calibri"/>
              <a:sym typeface="Calibri"/>
            </a:endParaRPr>
          </a:p>
        </p:txBody>
      </p:sp>
      <p:sp>
        <p:nvSpPr>
          <p:cNvPr id="188" name="Google Shape;188;g3d9e588f0ee_1_81"/>
          <p:cNvSpPr/>
          <p:nvPr/>
        </p:nvSpPr>
        <p:spPr>
          <a:xfrm>
            <a:off x="15179040" y="4553712"/>
            <a:ext cx="2011800" cy="640200"/>
          </a:xfrm>
          <a:prstGeom prst="rect">
            <a:avLst/>
          </a:prstGeom>
          <a:solidFill>
            <a:srgbClr val="EF4444">
              <a:alpha val="14900"/>
            </a:srgbClr>
          </a:solidFill>
          <a:ln cap="flat" cmpd="sng" w="19050">
            <a:solidFill>
              <a:srgbClr val="EF4444"/>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189" name="Google Shape;189;g3d9e588f0ee_1_81"/>
          <p:cNvSpPr/>
          <p:nvPr/>
        </p:nvSpPr>
        <p:spPr>
          <a:xfrm>
            <a:off x="15179040" y="4553712"/>
            <a:ext cx="2011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800"/>
              <a:buFont typeface="Calibri"/>
              <a:buNone/>
            </a:pPr>
            <a:r>
              <a:rPr b="1" i="0" lang="en-US" sz="2500" u="none" cap="none" strike="noStrike">
                <a:solidFill>
                  <a:srgbClr val="EF4444"/>
                </a:solidFill>
                <a:latin typeface="Calibri"/>
                <a:ea typeface="Calibri"/>
                <a:cs typeface="Calibri"/>
                <a:sym typeface="Calibri"/>
              </a:rPr>
              <a:t>Critical</a:t>
            </a:r>
            <a:endParaRPr b="0" i="0" sz="2500" u="none" cap="none" strike="noStrike">
              <a:solidFill>
                <a:schemeClr val="dk1"/>
              </a:solidFill>
              <a:latin typeface="Calibri"/>
              <a:ea typeface="Calibri"/>
              <a:cs typeface="Calibri"/>
              <a:sym typeface="Calibri"/>
            </a:endParaRPr>
          </a:p>
        </p:txBody>
      </p:sp>
      <p:sp>
        <p:nvSpPr>
          <p:cNvPr id="190" name="Google Shape;190;g3d9e588f0ee_1_81"/>
          <p:cNvSpPr/>
          <p:nvPr/>
        </p:nvSpPr>
        <p:spPr>
          <a:xfrm>
            <a:off x="914400" y="5650992"/>
            <a:ext cx="823200" cy="823200"/>
          </a:xfrm>
          <a:prstGeom prst="ellipse">
            <a:avLst/>
          </a:prstGeom>
          <a:solidFill>
            <a:srgbClr val="F59E0B"/>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91" name="Google Shape;191;g3d9e588f0ee_1_81"/>
          <p:cNvSpPr/>
          <p:nvPr/>
        </p:nvSpPr>
        <p:spPr>
          <a:xfrm>
            <a:off x="914400" y="5650992"/>
            <a:ext cx="8232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4</a:t>
            </a:r>
            <a:endParaRPr b="0" i="0" sz="2800" u="none" cap="none" strike="noStrike">
              <a:solidFill>
                <a:schemeClr val="dk1"/>
              </a:solidFill>
              <a:latin typeface="Calibri"/>
              <a:ea typeface="Calibri"/>
              <a:cs typeface="Calibri"/>
              <a:sym typeface="Calibri"/>
            </a:endParaRPr>
          </a:p>
        </p:txBody>
      </p:sp>
      <p:pic>
        <p:nvPicPr>
          <p:cNvPr descr="preencoded.png" id="192" name="Google Shape;192;g3d9e588f0ee_1_81"/>
          <p:cNvPicPr preferRelativeResize="0"/>
          <p:nvPr/>
        </p:nvPicPr>
        <p:blipFill rotWithShape="1">
          <a:blip r:embed="rId6">
            <a:alphaModFix/>
          </a:blip>
          <a:srcRect b="0" l="0" r="0" t="0"/>
          <a:stretch/>
        </p:blipFill>
        <p:spPr>
          <a:xfrm>
            <a:off x="2103120" y="5705856"/>
            <a:ext cx="694944" cy="694944"/>
          </a:xfrm>
          <a:prstGeom prst="rect">
            <a:avLst/>
          </a:prstGeom>
          <a:noFill/>
          <a:ln>
            <a:noFill/>
          </a:ln>
        </p:spPr>
      </p:pic>
      <p:sp>
        <p:nvSpPr>
          <p:cNvPr id="193" name="Google Shape;193;g3d9e588f0ee_1_81"/>
          <p:cNvSpPr/>
          <p:nvPr/>
        </p:nvSpPr>
        <p:spPr>
          <a:xfrm>
            <a:off x="3108960" y="5559552"/>
            <a:ext cx="82296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6-Axis IMU Gait Analysis</a:t>
            </a:r>
            <a:endParaRPr b="0" i="0" sz="3100" u="none" cap="none" strike="noStrike">
              <a:solidFill>
                <a:schemeClr val="dk1"/>
              </a:solidFill>
              <a:latin typeface="Calibri"/>
              <a:ea typeface="Calibri"/>
              <a:cs typeface="Calibri"/>
              <a:sym typeface="Calibri"/>
            </a:endParaRPr>
          </a:p>
        </p:txBody>
      </p:sp>
      <p:sp>
        <p:nvSpPr>
          <p:cNvPr id="194" name="Google Shape;194;g3d9e588f0ee_1_81"/>
          <p:cNvSpPr/>
          <p:nvPr/>
        </p:nvSpPr>
        <p:spPr>
          <a:xfrm>
            <a:off x="3108960" y="6071616"/>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500" u="none" cap="none" strike="noStrike">
                <a:solidFill>
                  <a:srgbClr val="6B7B8D"/>
                </a:solidFill>
                <a:latin typeface="Calibri"/>
                <a:ea typeface="Calibri"/>
                <a:cs typeface="Calibri"/>
                <a:sym typeface="Calibri"/>
              </a:rPr>
              <a:t>BMI270 accel/gyro at 50 Hz — step count, cadence, stance timing</a:t>
            </a:r>
            <a:endParaRPr b="0" i="0" sz="2500" u="none" cap="none" strike="noStrike">
              <a:solidFill>
                <a:schemeClr val="dk1"/>
              </a:solidFill>
              <a:latin typeface="Calibri"/>
              <a:ea typeface="Calibri"/>
              <a:cs typeface="Calibri"/>
              <a:sym typeface="Calibri"/>
            </a:endParaRPr>
          </a:p>
        </p:txBody>
      </p:sp>
      <p:sp>
        <p:nvSpPr>
          <p:cNvPr id="195" name="Google Shape;195;g3d9e588f0ee_1_81"/>
          <p:cNvSpPr/>
          <p:nvPr/>
        </p:nvSpPr>
        <p:spPr>
          <a:xfrm>
            <a:off x="15179040" y="5705856"/>
            <a:ext cx="2011800" cy="640200"/>
          </a:xfrm>
          <a:prstGeom prst="rect">
            <a:avLst/>
          </a:prstGeom>
          <a:solidFill>
            <a:srgbClr val="F59E0B">
              <a:alpha val="14900"/>
            </a:srgbClr>
          </a:solidFill>
          <a:ln cap="flat" cmpd="sng" w="19050">
            <a:solidFill>
              <a:srgbClr val="F59E0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196" name="Google Shape;196;g3d9e588f0ee_1_81"/>
          <p:cNvSpPr/>
          <p:nvPr/>
        </p:nvSpPr>
        <p:spPr>
          <a:xfrm>
            <a:off x="15179040" y="5705856"/>
            <a:ext cx="2011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800"/>
              <a:buFont typeface="Calibri"/>
              <a:buNone/>
            </a:pPr>
            <a:r>
              <a:rPr b="1" i="0" lang="en-US" sz="2500" u="none" cap="none" strike="noStrike">
                <a:solidFill>
                  <a:srgbClr val="F59E0B"/>
                </a:solidFill>
                <a:latin typeface="Calibri"/>
                <a:ea typeface="Calibri"/>
                <a:cs typeface="Calibri"/>
                <a:sym typeface="Calibri"/>
              </a:rPr>
              <a:t>High</a:t>
            </a:r>
            <a:endParaRPr b="0" i="0" sz="2500" u="none" cap="none" strike="noStrike">
              <a:solidFill>
                <a:schemeClr val="dk1"/>
              </a:solidFill>
              <a:latin typeface="Calibri"/>
              <a:ea typeface="Calibri"/>
              <a:cs typeface="Calibri"/>
              <a:sym typeface="Calibri"/>
            </a:endParaRPr>
          </a:p>
        </p:txBody>
      </p:sp>
      <p:sp>
        <p:nvSpPr>
          <p:cNvPr id="197" name="Google Shape;197;g3d9e588f0ee_1_81"/>
          <p:cNvSpPr/>
          <p:nvPr/>
        </p:nvSpPr>
        <p:spPr>
          <a:xfrm>
            <a:off x="914400" y="6803136"/>
            <a:ext cx="823200" cy="8232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98" name="Google Shape;198;g3d9e588f0ee_1_81"/>
          <p:cNvSpPr/>
          <p:nvPr/>
        </p:nvSpPr>
        <p:spPr>
          <a:xfrm>
            <a:off x="914400" y="6803136"/>
            <a:ext cx="8232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5</a:t>
            </a:r>
            <a:endParaRPr b="0" i="0" sz="2800" u="none" cap="none" strike="noStrike">
              <a:solidFill>
                <a:schemeClr val="dk1"/>
              </a:solidFill>
              <a:latin typeface="Calibri"/>
              <a:ea typeface="Calibri"/>
              <a:cs typeface="Calibri"/>
              <a:sym typeface="Calibri"/>
            </a:endParaRPr>
          </a:p>
        </p:txBody>
      </p:sp>
      <p:pic>
        <p:nvPicPr>
          <p:cNvPr descr="preencoded.png" id="199" name="Google Shape;199;g3d9e588f0ee_1_81"/>
          <p:cNvPicPr preferRelativeResize="0"/>
          <p:nvPr/>
        </p:nvPicPr>
        <p:blipFill rotWithShape="1">
          <a:blip r:embed="rId7">
            <a:alphaModFix/>
          </a:blip>
          <a:srcRect b="0" l="0" r="0" t="0"/>
          <a:stretch/>
        </p:blipFill>
        <p:spPr>
          <a:xfrm>
            <a:off x="2103120" y="6858000"/>
            <a:ext cx="694944" cy="694944"/>
          </a:xfrm>
          <a:prstGeom prst="rect">
            <a:avLst/>
          </a:prstGeom>
          <a:noFill/>
          <a:ln>
            <a:noFill/>
          </a:ln>
        </p:spPr>
      </p:pic>
      <p:sp>
        <p:nvSpPr>
          <p:cNvPr id="200" name="Google Shape;200;g3d9e588f0ee_1_81"/>
          <p:cNvSpPr/>
          <p:nvPr/>
        </p:nvSpPr>
        <p:spPr>
          <a:xfrm>
            <a:off x="3108960" y="6711696"/>
            <a:ext cx="82296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Ambient Environmental Monitoring</a:t>
            </a:r>
            <a:endParaRPr b="0" i="0" sz="3100" u="none" cap="none" strike="noStrike">
              <a:solidFill>
                <a:schemeClr val="dk1"/>
              </a:solidFill>
              <a:latin typeface="Calibri"/>
              <a:ea typeface="Calibri"/>
              <a:cs typeface="Calibri"/>
              <a:sym typeface="Calibri"/>
            </a:endParaRPr>
          </a:p>
        </p:txBody>
      </p:sp>
      <p:sp>
        <p:nvSpPr>
          <p:cNvPr id="201" name="Google Shape;201;g3d9e588f0ee_1_81"/>
          <p:cNvSpPr/>
          <p:nvPr/>
        </p:nvSpPr>
        <p:spPr>
          <a:xfrm>
            <a:off x="3108960" y="722376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500" u="none" cap="none" strike="noStrike">
                <a:solidFill>
                  <a:srgbClr val="6B7B8D"/>
                </a:solidFill>
                <a:latin typeface="Calibri"/>
                <a:ea typeface="Calibri"/>
                <a:cs typeface="Calibri"/>
                <a:sym typeface="Calibri"/>
              </a:rPr>
              <a:t>HS300x temp (±0.25°C) and humidity (±3.5% RH) — skin maceration context</a:t>
            </a:r>
            <a:endParaRPr b="0" i="0" sz="2500" u="none" cap="none" strike="noStrike">
              <a:solidFill>
                <a:schemeClr val="dk1"/>
              </a:solidFill>
              <a:latin typeface="Calibri"/>
              <a:ea typeface="Calibri"/>
              <a:cs typeface="Calibri"/>
              <a:sym typeface="Calibri"/>
            </a:endParaRPr>
          </a:p>
        </p:txBody>
      </p:sp>
      <p:sp>
        <p:nvSpPr>
          <p:cNvPr id="202" name="Google Shape;202;g3d9e588f0ee_1_81"/>
          <p:cNvSpPr/>
          <p:nvPr/>
        </p:nvSpPr>
        <p:spPr>
          <a:xfrm>
            <a:off x="15179040" y="6858000"/>
            <a:ext cx="2011800" cy="640200"/>
          </a:xfrm>
          <a:prstGeom prst="rect">
            <a:avLst/>
          </a:prstGeom>
          <a:solidFill>
            <a:srgbClr val="13778E">
              <a:alpha val="14900"/>
            </a:srgbClr>
          </a:solidFill>
          <a:ln cap="flat" cmpd="sng" w="19050">
            <a:solidFill>
              <a:srgbClr val="13778E"/>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203" name="Google Shape;203;g3d9e588f0ee_1_81"/>
          <p:cNvSpPr/>
          <p:nvPr/>
        </p:nvSpPr>
        <p:spPr>
          <a:xfrm>
            <a:off x="15179040" y="6858000"/>
            <a:ext cx="2011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778E"/>
              </a:buClr>
              <a:buSzPts val="1800"/>
              <a:buFont typeface="Calibri"/>
              <a:buNone/>
            </a:pPr>
            <a:r>
              <a:rPr b="1" i="0" lang="en-US" sz="2500" u="none" cap="none" strike="noStrike">
                <a:solidFill>
                  <a:srgbClr val="13778E"/>
                </a:solidFill>
                <a:latin typeface="Calibri"/>
                <a:ea typeface="Calibri"/>
                <a:cs typeface="Calibri"/>
                <a:sym typeface="Calibri"/>
              </a:rPr>
              <a:t>Medium</a:t>
            </a:r>
            <a:endParaRPr b="0" i="0" sz="2500" u="none" cap="none" strike="noStrike">
              <a:solidFill>
                <a:schemeClr val="dk1"/>
              </a:solidFill>
              <a:latin typeface="Calibri"/>
              <a:ea typeface="Calibri"/>
              <a:cs typeface="Calibri"/>
              <a:sym typeface="Calibri"/>
            </a:endParaRPr>
          </a:p>
        </p:txBody>
      </p:sp>
      <p:sp>
        <p:nvSpPr>
          <p:cNvPr id="204" name="Google Shape;204;g3d9e588f0ee_1_81"/>
          <p:cNvSpPr/>
          <p:nvPr/>
        </p:nvSpPr>
        <p:spPr>
          <a:xfrm>
            <a:off x="914400" y="7955280"/>
            <a:ext cx="823200" cy="8232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05" name="Google Shape;205;g3d9e588f0ee_1_81"/>
          <p:cNvSpPr/>
          <p:nvPr/>
        </p:nvSpPr>
        <p:spPr>
          <a:xfrm>
            <a:off x="914400" y="7955280"/>
            <a:ext cx="8232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6</a:t>
            </a:r>
            <a:endParaRPr b="0" i="0" sz="2800" u="none" cap="none" strike="noStrike">
              <a:solidFill>
                <a:schemeClr val="dk1"/>
              </a:solidFill>
              <a:latin typeface="Calibri"/>
              <a:ea typeface="Calibri"/>
              <a:cs typeface="Calibri"/>
              <a:sym typeface="Calibri"/>
            </a:endParaRPr>
          </a:p>
        </p:txBody>
      </p:sp>
      <p:pic>
        <p:nvPicPr>
          <p:cNvPr descr="preencoded.png" id="206" name="Google Shape;206;g3d9e588f0ee_1_81"/>
          <p:cNvPicPr preferRelativeResize="0"/>
          <p:nvPr/>
        </p:nvPicPr>
        <p:blipFill rotWithShape="1">
          <a:blip r:embed="rId8">
            <a:alphaModFix/>
          </a:blip>
          <a:srcRect b="0" l="0" r="0" t="0"/>
          <a:stretch/>
        </p:blipFill>
        <p:spPr>
          <a:xfrm>
            <a:off x="2103120" y="8010144"/>
            <a:ext cx="694944" cy="694944"/>
          </a:xfrm>
          <a:prstGeom prst="rect">
            <a:avLst/>
          </a:prstGeom>
          <a:noFill/>
          <a:ln>
            <a:noFill/>
          </a:ln>
        </p:spPr>
      </p:pic>
      <p:sp>
        <p:nvSpPr>
          <p:cNvPr id="207" name="Google Shape;207;g3d9e588f0ee_1_81"/>
          <p:cNvSpPr/>
          <p:nvPr/>
        </p:nvSpPr>
        <p:spPr>
          <a:xfrm>
            <a:off x="3108960" y="7863840"/>
            <a:ext cx="82296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Data Logging for Clinician Review</a:t>
            </a:r>
            <a:endParaRPr b="0" i="0" sz="3100" u="none" cap="none" strike="noStrike">
              <a:solidFill>
                <a:schemeClr val="dk1"/>
              </a:solidFill>
              <a:latin typeface="Calibri"/>
              <a:ea typeface="Calibri"/>
              <a:cs typeface="Calibri"/>
              <a:sym typeface="Calibri"/>
            </a:endParaRPr>
          </a:p>
        </p:txBody>
      </p:sp>
      <p:sp>
        <p:nvSpPr>
          <p:cNvPr id="208" name="Google Shape;208;g3d9e588f0ee_1_81"/>
          <p:cNvSpPr/>
          <p:nvPr/>
        </p:nvSpPr>
        <p:spPr>
          <a:xfrm>
            <a:off x="3108960" y="8375904"/>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500" u="none" cap="none" strike="noStrike">
                <a:solidFill>
                  <a:srgbClr val="6B7B8D"/>
                </a:solidFill>
                <a:latin typeface="Calibri"/>
                <a:ea typeface="Calibri"/>
                <a:cs typeface="Calibri"/>
                <a:sym typeface="Calibri"/>
              </a:rPr>
              <a:t>Longitudinal pressure trends stored for clinical follow-up</a:t>
            </a:r>
            <a:endParaRPr b="0" i="0" sz="2500" u="none" cap="none" strike="noStrike">
              <a:solidFill>
                <a:schemeClr val="dk1"/>
              </a:solidFill>
              <a:latin typeface="Calibri"/>
              <a:ea typeface="Calibri"/>
              <a:cs typeface="Calibri"/>
              <a:sym typeface="Calibri"/>
            </a:endParaRPr>
          </a:p>
        </p:txBody>
      </p:sp>
      <p:sp>
        <p:nvSpPr>
          <p:cNvPr id="209" name="Google Shape;209;g3d9e588f0ee_1_81"/>
          <p:cNvSpPr/>
          <p:nvPr/>
        </p:nvSpPr>
        <p:spPr>
          <a:xfrm>
            <a:off x="15179040" y="8010144"/>
            <a:ext cx="2011800" cy="640200"/>
          </a:xfrm>
          <a:prstGeom prst="rect">
            <a:avLst/>
          </a:prstGeom>
          <a:solidFill>
            <a:srgbClr val="13778E">
              <a:alpha val="14900"/>
            </a:srgbClr>
          </a:solidFill>
          <a:ln cap="flat" cmpd="sng" w="19050">
            <a:solidFill>
              <a:srgbClr val="13778E"/>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210" name="Google Shape;210;g3d9e588f0ee_1_81"/>
          <p:cNvSpPr/>
          <p:nvPr/>
        </p:nvSpPr>
        <p:spPr>
          <a:xfrm>
            <a:off x="15179040" y="8010144"/>
            <a:ext cx="2011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778E"/>
              </a:buClr>
              <a:buSzPts val="1800"/>
              <a:buFont typeface="Calibri"/>
              <a:buNone/>
            </a:pPr>
            <a:r>
              <a:rPr b="1" i="0" lang="en-US" sz="2500" u="none" cap="none" strike="noStrike">
                <a:solidFill>
                  <a:srgbClr val="13778E"/>
                </a:solidFill>
                <a:latin typeface="Calibri"/>
                <a:ea typeface="Calibri"/>
                <a:cs typeface="Calibri"/>
                <a:sym typeface="Calibri"/>
              </a:rPr>
              <a:t>Medium</a:t>
            </a:r>
            <a:endParaRPr b="0" i="0" sz="2500" u="none" cap="none" strike="noStrike">
              <a:solidFill>
                <a:schemeClr val="dk1"/>
              </a:solidFill>
              <a:latin typeface="Calibri"/>
              <a:ea typeface="Calibri"/>
              <a:cs typeface="Calibri"/>
              <a:sym typeface="Calibri"/>
            </a:endParaRPr>
          </a:p>
        </p:txBody>
      </p:sp>
      <p:sp>
        <p:nvSpPr>
          <p:cNvPr id="211" name="Google Shape;211;g3d9e588f0ee_1_81"/>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12" name="Google Shape;212;g3d9e588f0ee_1_81"/>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Pouya Behdinan</a:t>
            </a:r>
            <a:endParaRPr b="0" i="0" sz="1800" u="none" cap="none" strike="noStrike">
              <a:solidFill>
                <a:schemeClr val="dk1"/>
              </a:solidFill>
              <a:latin typeface="Calibri"/>
              <a:ea typeface="Calibri"/>
              <a:cs typeface="Calibri"/>
              <a:sym typeface="Calibri"/>
            </a:endParaRPr>
          </a:p>
        </p:txBody>
      </p:sp>
      <p:sp>
        <p:nvSpPr>
          <p:cNvPr id="213" name="Google Shape;213;g3d9e588f0ee_1_81"/>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218" name="Shape 218"/>
        <p:cNvGrpSpPr/>
        <p:nvPr/>
      </p:nvGrpSpPr>
      <p:grpSpPr>
        <a:xfrm>
          <a:off x="0" y="0"/>
          <a:ext cx="0" cy="0"/>
          <a:chOff x="0" y="0"/>
          <a:chExt cx="0" cy="0"/>
        </a:xfrm>
      </p:grpSpPr>
      <p:sp>
        <p:nvSpPr>
          <p:cNvPr id="219" name="Google Shape;219;g3d9e588f0ee_1_134"/>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20" name="Google Shape;220;g3d9e588f0ee_1_134"/>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21" name="Google Shape;221;g3d9e588f0ee_1_134"/>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MVP Specifications Linked to Features</a:t>
            </a:r>
            <a:endParaRPr b="0" i="0" sz="4400" u="none" cap="none" strike="noStrike">
              <a:solidFill>
                <a:schemeClr val="dk1"/>
              </a:solidFill>
              <a:latin typeface="Calibri"/>
              <a:ea typeface="Calibri"/>
              <a:cs typeface="Calibri"/>
              <a:sym typeface="Calibri"/>
            </a:endParaRPr>
          </a:p>
        </p:txBody>
      </p:sp>
      <p:sp>
        <p:nvSpPr>
          <p:cNvPr id="222" name="Google Shape;222;g3d9e588f0ee_1_134"/>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1.1b — Measurable performance requirements</a:t>
            </a:r>
            <a:endParaRPr b="0" i="0" sz="2200" u="none" cap="none" strike="noStrike">
              <a:solidFill>
                <a:schemeClr val="dk1"/>
              </a:solidFill>
              <a:latin typeface="Calibri"/>
              <a:ea typeface="Calibri"/>
              <a:cs typeface="Calibri"/>
              <a:sym typeface="Calibri"/>
            </a:endParaRPr>
          </a:p>
        </p:txBody>
      </p:sp>
      <p:graphicFrame>
        <p:nvGraphicFramePr>
          <p:cNvPr id="223" name="Google Shape;223;g3d9e588f0ee_1_134"/>
          <p:cNvGraphicFramePr/>
          <p:nvPr/>
        </p:nvGraphicFramePr>
        <p:xfrm>
          <a:off x="914400" y="2103120"/>
          <a:ext cx="3000000" cy="3000000"/>
        </p:xfrm>
        <a:graphic>
          <a:graphicData uri="http://schemas.openxmlformats.org/drawingml/2006/table">
            <a:tbl>
              <a:tblPr>
                <a:noFill/>
                <a:tableStyleId>{1D228925-EC50-4E52-8A8C-EF4C7BB9DE8A}</a:tableStyleId>
              </a:tblPr>
              <a:tblGrid>
                <a:gridCol w="4023350"/>
                <a:gridCol w="6583700"/>
                <a:gridCol w="5852150"/>
              </a:tblGrid>
              <a:tr h="640100">
                <a:tc>
                  <a:txBody>
                    <a:bodyPr/>
                    <a:lstStyle/>
                    <a:p>
                      <a:pPr indent="0" lvl="0" marL="0" marR="0" rtl="0" algn="l">
                        <a:spcBef>
                          <a:spcPts val="0"/>
                        </a:spcBef>
                        <a:spcAft>
                          <a:spcPts val="0"/>
                        </a:spcAft>
                        <a:buClr>
                          <a:srgbClr val="FFFFFF"/>
                        </a:buClr>
                        <a:buSzPts val="2000"/>
                        <a:buFont typeface="Calibri"/>
                        <a:buNone/>
                      </a:pPr>
                      <a:r>
                        <a:rPr b="1" lang="en-US" sz="2900" u="none" cap="none" strike="noStrike">
                          <a:solidFill>
                            <a:srgbClr val="FFFFFF"/>
                          </a:solidFill>
                          <a:latin typeface="Calibri"/>
                          <a:ea typeface="Calibri"/>
                          <a:cs typeface="Calibri"/>
                          <a:sym typeface="Calibri"/>
                        </a:rPr>
                        <a:t>Feature</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2000"/>
                        <a:buFont typeface="Calibri"/>
                        <a:buNone/>
                      </a:pPr>
                      <a:r>
                        <a:rPr b="1" lang="en-US" sz="2900" u="none" cap="none" strike="noStrike">
                          <a:solidFill>
                            <a:srgbClr val="FFFFFF"/>
                          </a:solidFill>
                          <a:latin typeface="Calibri"/>
                          <a:ea typeface="Calibri"/>
                          <a:cs typeface="Calibri"/>
                          <a:sym typeface="Calibri"/>
                        </a:rPr>
                        <a:t>Specification</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2000"/>
                        <a:buFont typeface="Calibri"/>
                        <a:buNone/>
                      </a:pPr>
                      <a:r>
                        <a:rPr b="1" lang="en-US" sz="2900" u="none" cap="none" strike="noStrike">
                          <a:solidFill>
                            <a:srgbClr val="FFFFFF"/>
                          </a:solidFill>
                          <a:latin typeface="Calibri"/>
                          <a:ea typeface="Calibri"/>
                          <a:cs typeface="Calibri"/>
                          <a:sym typeface="Calibri"/>
                        </a:rPr>
                        <a:t>Verification Method</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r>
              <a:tr h="822950">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16-zone pressure sensing</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≥16 zones, 50 Hz, 0–400 kPa, R² &gt; 0.90</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Calibrated weight test, MuxPressureTest MODE 1</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822950">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Threshold alerting</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WARN &gt;600 ADC within 1s, CRITICAL &gt;850 within 1s, clear &lt;2s</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Controlled load, measure response time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822950">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BLE communication</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Advertise &lt;3s, connect &lt;10s, 4 characteristics at rate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Power-on to app data display &lt;15s</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822950">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IMU gait analysis</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±1g (±0.05g) accel, &lt;±0.5 dps gyro bias</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6-position static cal, zero-rate bias test</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822950">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Environmental sensing</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Temp ±0.5°C vs reference, humidity ±5% RH</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900"/>
                        <a:buFont typeface="Calibri"/>
                        <a:buNone/>
                      </a:pPr>
                      <a:r>
                        <a:rPr lang="en-US" sz="2800" u="none" cap="none" strike="noStrike">
                          <a:solidFill>
                            <a:srgbClr val="000000"/>
                          </a:solidFill>
                          <a:latin typeface="Calibri"/>
                          <a:ea typeface="Calibri"/>
                          <a:cs typeface="Calibri"/>
                          <a:sym typeface="Calibri"/>
                        </a:rPr>
                        <a:t>Side-by-side with calibrated instruments</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bl>
          </a:graphicData>
        </a:graphic>
      </p:graphicFrame>
      <p:sp>
        <p:nvSpPr>
          <p:cNvPr id="224" name="Google Shape;224;g3d9e588f0ee_1_134"/>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25" name="Google Shape;225;g3d9e588f0ee_1_134"/>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Pouya Behdinan</a:t>
            </a:r>
            <a:endParaRPr b="0" i="0" sz="1800" u="none" cap="none" strike="noStrike">
              <a:solidFill>
                <a:schemeClr val="dk1"/>
              </a:solidFill>
              <a:latin typeface="Calibri"/>
              <a:ea typeface="Calibri"/>
              <a:cs typeface="Calibri"/>
              <a:sym typeface="Calibri"/>
            </a:endParaRPr>
          </a:p>
        </p:txBody>
      </p:sp>
      <p:sp>
        <p:nvSpPr>
          <p:cNvPr id="226" name="Google Shape;226;g3d9e588f0ee_1_134"/>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231" name="Shape 231"/>
        <p:cNvGrpSpPr/>
        <p:nvPr/>
      </p:nvGrpSpPr>
      <p:grpSpPr>
        <a:xfrm>
          <a:off x="0" y="0"/>
          <a:ext cx="0" cy="0"/>
          <a:chOff x="0" y="0"/>
          <a:chExt cx="0" cy="0"/>
        </a:xfrm>
      </p:grpSpPr>
      <p:sp>
        <p:nvSpPr>
          <p:cNvPr id="232" name="Google Shape;232;g3d9e588f0ee_1_165"/>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33" name="Google Shape;233;g3d9e588f0ee_1_165"/>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34" name="Google Shape;234;g3d9e588f0ee_1_165"/>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Regulatory: Intended Use &amp; Predicate Device</a:t>
            </a:r>
            <a:endParaRPr b="0" i="0" sz="4400" u="none" cap="none" strike="noStrike">
              <a:solidFill>
                <a:schemeClr val="dk1"/>
              </a:solidFill>
              <a:latin typeface="Calibri"/>
              <a:ea typeface="Calibri"/>
              <a:cs typeface="Calibri"/>
              <a:sym typeface="Calibri"/>
            </a:endParaRPr>
          </a:p>
        </p:txBody>
      </p:sp>
      <p:sp>
        <p:nvSpPr>
          <p:cNvPr id="235" name="Google Shape;235;g3d9e588f0ee_1_165"/>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1.1c — 21 CFR 890.5575, Product Code IRN, Class II</a:t>
            </a:r>
            <a:endParaRPr b="0" i="0" sz="2200" u="none" cap="none" strike="noStrike">
              <a:solidFill>
                <a:schemeClr val="dk1"/>
              </a:solidFill>
              <a:latin typeface="Calibri"/>
              <a:ea typeface="Calibri"/>
              <a:cs typeface="Calibri"/>
              <a:sym typeface="Calibri"/>
            </a:endParaRPr>
          </a:p>
        </p:txBody>
      </p:sp>
      <p:sp>
        <p:nvSpPr>
          <p:cNvPr id="236" name="Google Shape;236;g3d9e588f0ee_1_165"/>
          <p:cNvSpPr/>
          <p:nvPr/>
        </p:nvSpPr>
        <p:spPr>
          <a:xfrm>
            <a:off x="731520" y="2103120"/>
            <a:ext cx="7863600" cy="68580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37" name="Google Shape;237;g3d9e588f0ee_1_165"/>
          <p:cNvSpPr/>
          <p:nvPr/>
        </p:nvSpPr>
        <p:spPr>
          <a:xfrm>
            <a:off x="731520" y="2103120"/>
            <a:ext cx="7863600" cy="91200"/>
          </a:xfrm>
          <a:prstGeom prst="rect">
            <a:avLst/>
          </a:prstGeom>
          <a:solidFill>
            <a:srgbClr val="6B7B8D"/>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38" name="Google Shape;238;g3d9e588f0ee_1_165"/>
          <p:cNvSpPr/>
          <p:nvPr/>
        </p:nvSpPr>
        <p:spPr>
          <a:xfrm>
            <a:off x="1097280" y="2468880"/>
            <a:ext cx="7132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600"/>
              <a:buFont typeface="Georgia"/>
              <a:buNone/>
            </a:pPr>
            <a:r>
              <a:rPr b="1" i="0" lang="en-US" sz="3600" u="none" cap="none" strike="noStrike">
                <a:solidFill>
                  <a:srgbClr val="1C2D3F"/>
                </a:solidFill>
                <a:latin typeface="Georgia"/>
                <a:ea typeface="Georgia"/>
                <a:cs typeface="Georgia"/>
                <a:sym typeface="Georgia"/>
              </a:rPr>
              <a:t>SmartStep (K060150)</a:t>
            </a:r>
            <a:endParaRPr b="0" i="0" sz="3600" u="none" cap="none" strike="noStrike">
              <a:solidFill>
                <a:schemeClr val="dk1"/>
              </a:solidFill>
              <a:latin typeface="Calibri"/>
              <a:ea typeface="Calibri"/>
              <a:cs typeface="Calibri"/>
              <a:sym typeface="Calibri"/>
            </a:endParaRPr>
          </a:p>
        </p:txBody>
      </p:sp>
      <p:sp>
        <p:nvSpPr>
          <p:cNvPr id="239" name="Google Shape;239;g3d9e588f0ee_1_165"/>
          <p:cNvSpPr/>
          <p:nvPr/>
        </p:nvSpPr>
        <p:spPr>
          <a:xfrm>
            <a:off x="1097280" y="3017520"/>
            <a:ext cx="7132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1" lang="en-US" sz="2800" u="none" cap="none" strike="noStrike">
                <a:solidFill>
                  <a:srgbClr val="6B7B8D"/>
                </a:solidFill>
                <a:latin typeface="Calibri"/>
                <a:ea typeface="Calibri"/>
                <a:cs typeface="Calibri"/>
                <a:sym typeface="Calibri"/>
              </a:rPr>
              <a:t>Predicate Device — Andante Medical Devices</a:t>
            </a:r>
            <a:endParaRPr b="0" i="0" sz="2800" u="none" cap="none" strike="noStrike">
              <a:solidFill>
                <a:schemeClr val="dk1"/>
              </a:solidFill>
              <a:latin typeface="Calibri"/>
              <a:ea typeface="Calibri"/>
              <a:cs typeface="Calibri"/>
              <a:sym typeface="Calibri"/>
            </a:endParaRPr>
          </a:p>
        </p:txBody>
      </p:sp>
      <p:sp>
        <p:nvSpPr>
          <p:cNvPr id="240" name="Google Shape;240;g3d9e588f0ee_1_165"/>
          <p:cNvSpPr/>
          <p:nvPr/>
        </p:nvSpPr>
        <p:spPr>
          <a:xfrm>
            <a:off x="1280160" y="3749040"/>
            <a:ext cx="6949200" cy="4755000"/>
          </a:xfrm>
          <a:prstGeom prst="rect">
            <a:avLst/>
          </a:prstGeom>
          <a:noFill/>
          <a:ln>
            <a:noFill/>
          </a:ln>
        </p:spPr>
        <p:txBody>
          <a:bodyPr anchorCtr="0" anchor="t" bIns="91400" lIns="182850" spcFirstLastPara="1" rIns="182850" wrap="square" tIns="91400">
            <a:noAutofit/>
          </a:bodyPr>
          <a:lstStyle/>
          <a:p>
            <a:pPr indent="-755650" lvl="0" marL="685800" marR="0" rtl="0" algn="l">
              <a:spcBef>
                <a:spcPts val="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Flexible pressure-sensing insole</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Belt-worn Control Unit + PC Software</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Threshold-based overload alarm</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Rehabilitation / partial weight-bearing</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Prescription Use under physician supervision</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Cleared Feb 23, 2006 (Class II)</a:t>
            </a:r>
            <a:endParaRPr b="0" i="0" sz="3100" u="none" cap="none" strike="noStrike">
              <a:solidFill>
                <a:schemeClr val="dk1"/>
              </a:solidFill>
              <a:latin typeface="Calibri"/>
              <a:ea typeface="Calibri"/>
              <a:cs typeface="Calibri"/>
              <a:sym typeface="Calibri"/>
            </a:endParaRPr>
          </a:p>
        </p:txBody>
      </p:sp>
      <p:sp>
        <p:nvSpPr>
          <p:cNvPr id="241" name="Google Shape;241;g3d9e588f0ee_1_165"/>
          <p:cNvSpPr/>
          <p:nvPr/>
        </p:nvSpPr>
        <p:spPr>
          <a:xfrm>
            <a:off x="9326880" y="2103120"/>
            <a:ext cx="8229600" cy="6766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42" name="Google Shape;242;g3d9e588f0ee_1_165"/>
          <p:cNvSpPr/>
          <p:nvPr/>
        </p:nvSpPr>
        <p:spPr>
          <a:xfrm>
            <a:off x="9326880" y="2103120"/>
            <a:ext cx="8229600" cy="91200"/>
          </a:xfrm>
          <a:prstGeom prst="rect">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43" name="Google Shape;243;g3d9e588f0ee_1_165"/>
          <p:cNvSpPr/>
          <p:nvPr/>
        </p:nvSpPr>
        <p:spPr>
          <a:xfrm>
            <a:off x="9692640" y="2468880"/>
            <a:ext cx="7498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600"/>
              <a:buFont typeface="Georgia"/>
              <a:buNone/>
            </a:pPr>
            <a:r>
              <a:rPr b="1" i="0" lang="en-US" sz="3600" u="none" cap="none" strike="noStrike">
                <a:solidFill>
                  <a:srgbClr val="1C2D3F"/>
                </a:solidFill>
                <a:latin typeface="Georgia"/>
                <a:ea typeface="Georgia"/>
                <a:cs typeface="Georgia"/>
                <a:sym typeface="Georgia"/>
              </a:rPr>
              <a:t>NeuroFoot (Proposed)</a:t>
            </a:r>
            <a:endParaRPr b="0" i="0" sz="3600" u="none" cap="none" strike="noStrike">
              <a:solidFill>
                <a:schemeClr val="dk1"/>
              </a:solidFill>
              <a:latin typeface="Calibri"/>
              <a:ea typeface="Calibri"/>
              <a:cs typeface="Calibri"/>
              <a:sym typeface="Calibri"/>
            </a:endParaRPr>
          </a:p>
        </p:txBody>
      </p:sp>
      <p:sp>
        <p:nvSpPr>
          <p:cNvPr id="244" name="Google Shape;244;g3d9e588f0ee_1_165"/>
          <p:cNvSpPr/>
          <p:nvPr/>
        </p:nvSpPr>
        <p:spPr>
          <a:xfrm>
            <a:off x="9692640" y="3017520"/>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1" lang="en-US" sz="2800" u="none" cap="none" strike="noStrike">
                <a:solidFill>
                  <a:srgbClr val="6B7B8D"/>
                </a:solidFill>
                <a:latin typeface="Calibri"/>
                <a:ea typeface="Calibri"/>
                <a:cs typeface="Calibri"/>
                <a:sym typeface="Calibri"/>
              </a:rPr>
              <a:t>Team Cardinal — USC BME 555a</a:t>
            </a:r>
            <a:endParaRPr b="0" i="0" sz="2800" u="none" cap="none" strike="noStrike">
              <a:solidFill>
                <a:schemeClr val="dk1"/>
              </a:solidFill>
              <a:latin typeface="Calibri"/>
              <a:ea typeface="Calibri"/>
              <a:cs typeface="Calibri"/>
              <a:sym typeface="Calibri"/>
            </a:endParaRPr>
          </a:p>
        </p:txBody>
      </p:sp>
      <p:sp>
        <p:nvSpPr>
          <p:cNvPr id="245" name="Google Shape;245;g3d9e588f0ee_1_165"/>
          <p:cNvSpPr/>
          <p:nvPr/>
        </p:nvSpPr>
        <p:spPr>
          <a:xfrm>
            <a:off x="9875520" y="3749040"/>
            <a:ext cx="7315200" cy="4755000"/>
          </a:xfrm>
          <a:prstGeom prst="rect">
            <a:avLst/>
          </a:prstGeom>
          <a:noFill/>
          <a:ln>
            <a:noFill/>
          </a:ln>
        </p:spPr>
        <p:txBody>
          <a:bodyPr anchorCtr="0" anchor="t" bIns="91400" lIns="182850" spcFirstLastPara="1" rIns="182850" wrap="square" tIns="91400">
            <a:noAutofit/>
          </a:bodyPr>
          <a:lstStyle/>
          <a:p>
            <a:pPr indent="-755650" lvl="0" marL="685800" marR="0" rtl="0" algn="l">
              <a:spcBef>
                <a:spcPts val="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16-zone FSR array in sandal form factor</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Arduino Nano 33 BLE + iOS companion app</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Graded alerts: OK / WARN / CRITICAL</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Continuous daily ambulatory monitoring</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Prescription Use under clinician supervision</a:t>
            </a:r>
            <a:endParaRPr b="0" i="0" sz="3100" u="none" cap="none" strike="noStrike">
              <a:solidFill>
                <a:schemeClr val="dk1"/>
              </a:solidFill>
              <a:latin typeface="Calibri"/>
              <a:ea typeface="Calibri"/>
              <a:cs typeface="Calibri"/>
              <a:sym typeface="Calibri"/>
            </a:endParaRPr>
          </a:p>
          <a:p>
            <a:pPr indent="-755650" lvl="0" marL="685800" marR="0" rtl="0" algn="l">
              <a:spcBef>
                <a:spcPts val="800"/>
              </a:spcBef>
              <a:spcAft>
                <a:spcPts val="0"/>
              </a:spcAft>
              <a:buClr>
                <a:srgbClr val="1C2D3F"/>
              </a:buClr>
              <a:buSzPts val="3100"/>
              <a:buFont typeface="Calibri"/>
              <a:buChar char="•"/>
            </a:pPr>
            <a:r>
              <a:rPr b="0" i="0" lang="en-US" sz="3100" u="none" cap="none" strike="noStrike">
                <a:solidFill>
                  <a:srgbClr val="1C2D3F"/>
                </a:solidFill>
                <a:latin typeface="Calibri"/>
                <a:ea typeface="Calibri"/>
                <a:cs typeface="Calibri"/>
                <a:sym typeface="Calibri"/>
              </a:rPr>
              <a:t>510(k) pathway via K060150 predicate</a:t>
            </a:r>
            <a:endParaRPr b="0" i="0" sz="3100" u="none" cap="none" strike="noStrike">
              <a:solidFill>
                <a:schemeClr val="dk1"/>
              </a:solidFill>
              <a:latin typeface="Calibri"/>
              <a:ea typeface="Calibri"/>
              <a:cs typeface="Calibri"/>
              <a:sym typeface="Calibri"/>
            </a:endParaRPr>
          </a:p>
        </p:txBody>
      </p:sp>
      <p:sp>
        <p:nvSpPr>
          <p:cNvPr id="246" name="Google Shape;246;g3d9e588f0ee_1_165"/>
          <p:cNvSpPr/>
          <p:nvPr/>
        </p:nvSpPr>
        <p:spPr>
          <a:xfrm>
            <a:off x="8321040" y="4480560"/>
            <a:ext cx="1280400" cy="12804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247" name="Google Shape;247;g3d9e588f0ee_1_165"/>
          <p:cNvPicPr preferRelativeResize="0"/>
          <p:nvPr/>
        </p:nvPicPr>
        <p:blipFill rotWithShape="1">
          <a:blip r:embed="rId3">
            <a:alphaModFix/>
          </a:blip>
          <a:srcRect b="0" l="0" r="0" t="0"/>
          <a:stretch/>
        </p:blipFill>
        <p:spPr>
          <a:xfrm>
            <a:off x="8503920" y="4663440"/>
            <a:ext cx="914400" cy="914400"/>
          </a:xfrm>
          <a:prstGeom prst="rect">
            <a:avLst/>
          </a:prstGeom>
          <a:noFill/>
          <a:ln>
            <a:noFill/>
          </a:ln>
        </p:spPr>
      </p:pic>
      <p:sp>
        <p:nvSpPr>
          <p:cNvPr id="248" name="Google Shape;248;g3d9e588f0ee_1_165"/>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49" name="Google Shape;249;g3d9e588f0ee_1_165"/>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Ava Rathenberg</a:t>
            </a:r>
            <a:endParaRPr b="0" i="0" sz="1800" u="none" cap="none" strike="noStrike">
              <a:solidFill>
                <a:schemeClr val="dk1"/>
              </a:solidFill>
              <a:latin typeface="Calibri"/>
              <a:ea typeface="Calibri"/>
              <a:cs typeface="Calibri"/>
              <a:sym typeface="Calibri"/>
            </a:endParaRPr>
          </a:p>
        </p:txBody>
      </p:sp>
      <p:sp>
        <p:nvSpPr>
          <p:cNvPr id="250" name="Google Shape;250;g3d9e588f0ee_1_165"/>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255" name="Shape 255"/>
        <p:cNvGrpSpPr/>
        <p:nvPr/>
      </p:nvGrpSpPr>
      <p:grpSpPr>
        <a:xfrm>
          <a:off x="0" y="0"/>
          <a:ext cx="0" cy="0"/>
          <a:chOff x="0" y="0"/>
          <a:chExt cx="0" cy="0"/>
        </a:xfrm>
      </p:grpSpPr>
      <p:sp>
        <p:nvSpPr>
          <p:cNvPr id="256" name="Google Shape;256;g3d9e588f0ee_1_188"/>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57" name="Google Shape;257;g3d9e588f0ee_1_188"/>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58" name="Google Shape;258;g3d9e588f0ee_1_188"/>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Substantial Equivalence &amp; Clinical Alignment</a:t>
            </a:r>
            <a:endParaRPr b="0" i="0" sz="4400" u="none" cap="none" strike="noStrike">
              <a:solidFill>
                <a:schemeClr val="dk1"/>
              </a:solidFill>
              <a:latin typeface="Calibri"/>
              <a:ea typeface="Calibri"/>
              <a:cs typeface="Calibri"/>
              <a:sym typeface="Calibri"/>
            </a:endParaRPr>
          </a:p>
        </p:txBody>
      </p:sp>
      <p:sp>
        <p:nvSpPr>
          <p:cNvPr id="259" name="Google Shape;259;g3d9e588f0ee_1_188"/>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1.1c — Key SE comparisons and guideline reconciliation</a:t>
            </a:r>
            <a:endParaRPr b="0" i="0" sz="2200" u="none" cap="none" strike="noStrike">
              <a:solidFill>
                <a:schemeClr val="dk1"/>
              </a:solidFill>
              <a:latin typeface="Calibri"/>
              <a:ea typeface="Calibri"/>
              <a:cs typeface="Calibri"/>
              <a:sym typeface="Calibri"/>
            </a:endParaRPr>
          </a:p>
        </p:txBody>
      </p:sp>
      <p:graphicFrame>
        <p:nvGraphicFramePr>
          <p:cNvPr id="260" name="Google Shape;260;g3d9e588f0ee_1_188"/>
          <p:cNvGraphicFramePr/>
          <p:nvPr/>
        </p:nvGraphicFramePr>
        <p:xfrm>
          <a:off x="731520" y="2103120"/>
          <a:ext cx="3000000" cy="3000000"/>
        </p:xfrm>
        <a:graphic>
          <a:graphicData uri="http://schemas.openxmlformats.org/drawingml/2006/table">
            <a:tbl>
              <a:tblPr>
                <a:noFill/>
                <a:tableStyleId>{1D228925-EC50-4E52-8A8C-EF4C7BB9DE8A}</a:tableStyleId>
              </a:tblPr>
              <a:tblGrid>
                <a:gridCol w="2743200"/>
                <a:gridCol w="4023350"/>
                <a:gridCol w="4572000"/>
                <a:gridCol w="5486400"/>
              </a:tblGrid>
              <a:tr h="228600">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Feature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SmartStep</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NeuroFoot</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Equivalence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Sensor</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Resistive insole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16-zone FSR via mux</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Same modality</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Pressure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Single threshold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16-zone 50 Hz + PTI</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Enhanced resolution</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Alerts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Audible/visual alarm</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OK/WARN/CRITICAL + haptic</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Same core function</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Wireless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Control Unit to PC</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BLE 5.0 to iOS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Both wireless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Form Factor</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Insole + belt unit</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Sandal + embedded MCU</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Both wearable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Safety Std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IEC 60601-1, ISO 14971</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Same + IEC 62304</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Same core standards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bl>
          </a:graphicData>
        </a:graphic>
      </p:graphicFrame>
      <p:sp>
        <p:nvSpPr>
          <p:cNvPr id="261" name="Google Shape;261;g3d9e588f0ee_1_188"/>
          <p:cNvSpPr/>
          <p:nvPr/>
        </p:nvSpPr>
        <p:spPr>
          <a:xfrm>
            <a:off x="731520" y="6949440"/>
            <a:ext cx="16825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62" name="Google Shape;262;g3d9e588f0ee_1_188"/>
          <p:cNvSpPr/>
          <p:nvPr/>
        </p:nvSpPr>
        <p:spPr>
          <a:xfrm>
            <a:off x="1097280" y="7040880"/>
            <a:ext cx="54864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200"/>
              <a:buFont typeface="Georgia"/>
              <a:buNone/>
            </a:pPr>
            <a:r>
              <a:rPr b="1" i="0" lang="en-US" sz="2200" u="none" cap="none" strike="noStrike">
                <a:solidFill>
                  <a:srgbClr val="1C2D3F"/>
                </a:solidFill>
                <a:latin typeface="Georgia"/>
                <a:ea typeface="Georgia"/>
                <a:cs typeface="Georgia"/>
                <a:sym typeface="Georgia"/>
              </a:rPr>
              <a:t>Clinical Guideline Alignment</a:t>
            </a:r>
            <a:endParaRPr b="0" i="0" sz="2200" u="none" cap="none" strike="noStrike">
              <a:solidFill>
                <a:schemeClr val="dk1"/>
              </a:solidFill>
              <a:latin typeface="Calibri"/>
              <a:ea typeface="Calibri"/>
              <a:cs typeface="Calibri"/>
              <a:sym typeface="Calibri"/>
            </a:endParaRPr>
          </a:p>
        </p:txBody>
      </p:sp>
      <p:sp>
        <p:nvSpPr>
          <p:cNvPr id="263" name="Google Shape;263;g3d9e588f0ee_1_188"/>
          <p:cNvSpPr/>
          <p:nvPr/>
        </p:nvSpPr>
        <p:spPr>
          <a:xfrm>
            <a:off x="1097280" y="7589520"/>
            <a:ext cx="16093200" cy="100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0" lang="en-US" sz="2800" u="none" cap="none" strike="noStrike">
                <a:solidFill>
                  <a:srgbClr val="6B7B8D"/>
                </a:solidFill>
                <a:latin typeface="Calibri"/>
                <a:ea typeface="Calibri"/>
                <a:cs typeface="Calibri"/>
                <a:sym typeface="Calibri"/>
              </a:rPr>
              <a:t>IWGDF 2023: Pressure offloading for neuropathic patients  •  ADA 2024: Comprehensive foot exams + early intervention  •  APMA: Wearable pressure-offloading technologies</a:t>
            </a:r>
            <a:endParaRPr b="0" i="0" sz="2800" u="none" cap="none" strike="noStrike">
              <a:solidFill>
                <a:schemeClr val="dk1"/>
              </a:solidFill>
              <a:latin typeface="Calibri"/>
              <a:ea typeface="Calibri"/>
              <a:cs typeface="Calibri"/>
              <a:sym typeface="Calibri"/>
            </a:endParaRPr>
          </a:p>
        </p:txBody>
      </p:sp>
      <p:sp>
        <p:nvSpPr>
          <p:cNvPr id="264" name="Google Shape;264;g3d9e588f0ee_1_188"/>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65" name="Google Shape;265;g3d9e588f0ee_1_188"/>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Ava Rathenberg</a:t>
            </a:r>
            <a:endParaRPr b="0" i="0" sz="1800" u="none" cap="none" strike="noStrike">
              <a:solidFill>
                <a:schemeClr val="dk1"/>
              </a:solidFill>
              <a:latin typeface="Calibri"/>
              <a:ea typeface="Calibri"/>
              <a:cs typeface="Calibri"/>
              <a:sym typeface="Calibri"/>
            </a:endParaRPr>
          </a:p>
        </p:txBody>
      </p:sp>
      <p:sp>
        <p:nvSpPr>
          <p:cNvPr id="266" name="Google Shape;266;g3d9e588f0ee_1_188"/>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271" name="Shape 271"/>
        <p:cNvGrpSpPr/>
        <p:nvPr/>
      </p:nvGrpSpPr>
      <p:grpSpPr>
        <a:xfrm>
          <a:off x="0" y="0"/>
          <a:ext cx="0" cy="0"/>
          <a:chOff x="0" y="0"/>
          <a:chExt cx="0" cy="0"/>
        </a:xfrm>
      </p:grpSpPr>
      <p:sp>
        <p:nvSpPr>
          <p:cNvPr id="272" name="Google Shape;272;g3d9e588f0ee_1_203"/>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73" name="Google Shape;273;g3d9e588f0ee_1_203"/>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74" name="Google Shape;274;g3d9e588f0ee_1_203"/>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Bill of Materials Overview</a:t>
            </a:r>
            <a:endParaRPr b="0" i="0" sz="4400" u="none" cap="none" strike="noStrike">
              <a:solidFill>
                <a:schemeClr val="dk1"/>
              </a:solidFill>
              <a:latin typeface="Calibri"/>
              <a:ea typeface="Calibri"/>
              <a:cs typeface="Calibri"/>
              <a:sym typeface="Calibri"/>
            </a:endParaRPr>
          </a:p>
        </p:txBody>
      </p:sp>
      <p:sp>
        <p:nvSpPr>
          <p:cNvPr id="275" name="Google Shape;275;g3d9e588f0ee_1_203"/>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1.2a — Key components and specifications</a:t>
            </a:r>
            <a:endParaRPr b="0" i="0" sz="2200" u="none" cap="none" strike="noStrike">
              <a:solidFill>
                <a:schemeClr val="dk1"/>
              </a:solidFill>
              <a:latin typeface="Calibri"/>
              <a:ea typeface="Calibri"/>
              <a:cs typeface="Calibri"/>
              <a:sym typeface="Calibri"/>
            </a:endParaRPr>
          </a:p>
        </p:txBody>
      </p:sp>
      <p:graphicFrame>
        <p:nvGraphicFramePr>
          <p:cNvPr id="276" name="Google Shape;276;g3d9e588f0ee_1_203"/>
          <p:cNvGraphicFramePr/>
          <p:nvPr/>
        </p:nvGraphicFramePr>
        <p:xfrm>
          <a:off x="731520" y="2011680"/>
          <a:ext cx="3000000" cy="3000000"/>
        </p:xfrm>
        <a:graphic>
          <a:graphicData uri="http://schemas.openxmlformats.org/drawingml/2006/table">
            <a:tbl>
              <a:tblPr>
                <a:noFill/>
                <a:tableStyleId>{1D228925-EC50-4E52-8A8C-EF4C7BB9DE8A}</a:tableStyleId>
              </a:tblPr>
              <a:tblGrid>
                <a:gridCol w="2926100"/>
                <a:gridCol w="5852150"/>
                <a:gridCol w="5486400"/>
                <a:gridCol w="2560300"/>
              </a:tblGrid>
              <a:tr h="228600">
                <a:tc>
                  <a:txBody>
                    <a:bodyPr/>
                    <a:lstStyle/>
                    <a:p>
                      <a:pPr indent="0" lvl="0" marL="0" marR="0" rtl="0" algn="l">
                        <a:spcBef>
                          <a:spcPts val="0"/>
                        </a:spcBef>
                        <a:spcAft>
                          <a:spcPts val="0"/>
                        </a:spcAft>
                        <a:buClr>
                          <a:srgbClr val="FFFFFF"/>
                        </a:buClr>
                        <a:buSzPts val="1800"/>
                        <a:buFont typeface="Calibri"/>
                        <a:buNone/>
                      </a:pPr>
                      <a:r>
                        <a:rPr b="1" lang="en-US" sz="2900" u="none" cap="none" strike="noStrike">
                          <a:solidFill>
                            <a:srgbClr val="FFFFFF"/>
                          </a:solidFill>
                          <a:latin typeface="Calibri"/>
                          <a:ea typeface="Calibri"/>
                          <a:cs typeface="Calibri"/>
                          <a:sym typeface="Calibri"/>
                        </a:rPr>
                        <a:t>Component</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900" u="none" cap="none" strike="noStrike">
                          <a:solidFill>
                            <a:srgbClr val="FFFFFF"/>
                          </a:solidFill>
                          <a:latin typeface="Calibri"/>
                          <a:ea typeface="Calibri"/>
                          <a:cs typeface="Calibri"/>
                          <a:sym typeface="Calibri"/>
                        </a:rPr>
                        <a:t>Part Number / Description</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900" u="none" cap="none" strike="noStrike">
                          <a:solidFill>
                            <a:srgbClr val="FFFFFF"/>
                          </a:solidFill>
                          <a:latin typeface="Calibri"/>
                          <a:ea typeface="Calibri"/>
                          <a:cs typeface="Calibri"/>
                          <a:sym typeface="Calibri"/>
                        </a:rPr>
                        <a:t>Key Specification</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900" u="none" cap="none" strike="noStrike">
                          <a:solidFill>
                            <a:srgbClr val="FFFFFF"/>
                          </a:solidFill>
                          <a:latin typeface="Calibri"/>
                          <a:ea typeface="Calibri"/>
                          <a:cs typeface="Calibri"/>
                          <a:sym typeface="Calibri"/>
                        </a:rPr>
                        <a:t>Qty</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r>
              <a:tr h="228600">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Microcontroller</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Arduino Nano 33 BLE Sense Rev2 (ABX00070)</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nRF52840, BLE 5.0, BMI270, HS300x</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1</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Multiplexer</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CD74HC4067 (16-ch analog)</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Break-before-make, 100µs settle</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1</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FSR Insole</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a:latin typeface="Calibri"/>
                          <a:ea typeface="Calibri"/>
                          <a:cs typeface="Calibri"/>
                          <a:sym typeface="Calibri"/>
                        </a:rPr>
                        <a:t>In-house developed </a:t>
                      </a:r>
                      <a:r>
                        <a:rPr lang="en-US" sz="2900" u="none" cap="none" strike="noStrike">
                          <a:solidFill>
                            <a:srgbClr val="000000"/>
                          </a:solidFill>
                          <a:latin typeface="Calibri"/>
                          <a:ea typeface="Calibri"/>
                          <a:cs typeface="Calibri"/>
                          <a:sym typeface="Calibri"/>
                        </a:rPr>
                        <a:t> 16-zone </a:t>
                      </a:r>
                      <a:r>
                        <a:rPr lang="en-US" sz="2900">
                          <a:latin typeface="Calibri"/>
                          <a:ea typeface="Calibri"/>
                          <a:cs typeface="Calibri"/>
                          <a:sym typeface="Calibri"/>
                        </a:rPr>
                        <a:t>sensor</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Resistance varies </a:t>
                      </a:r>
                      <a:r>
                        <a:rPr lang="en-US" sz="2900">
                          <a:latin typeface="Calibri"/>
                          <a:ea typeface="Calibri"/>
                          <a:cs typeface="Calibri"/>
                          <a:sym typeface="Calibri"/>
                        </a:rPr>
                        <a:t>10k</a:t>
                      </a:r>
                      <a:r>
                        <a:rPr lang="en-US" sz="2900" u="none" cap="none" strike="noStrike">
                          <a:solidFill>
                            <a:srgbClr val="000000"/>
                          </a:solidFill>
                          <a:latin typeface="Calibri"/>
                          <a:ea typeface="Calibri"/>
                          <a:cs typeface="Calibri"/>
                          <a:sym typeface="Calibri"/>
                        </a:rPr>
                        <a:t>Ω</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1</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Pull-down Resistors</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10kΩ </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Voltage divider for FSR channels</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16</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Sandal</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EVA foam, two-layer construction</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Board housed between layers</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900" u="none" cap="none" strike="noStrike">
                          <a:solidFill>
                            <a:srgbClr val="000000"/>
                          </a:solidFill>
                          <a:latin typeface="Calibri"/>
                          <a:ea typeface="Calibri"/>
                          <a:cs typeface="Calibri"/>
                          <a:sym typeface="Calibri"/>
                        </a:rPr>
                        <a:t>1 pair</a:t>
                      </a:r>
                      <a:endParaRPr sz="29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bl>
          </a:graphicData>
        </a:graphic>
      </p:graphicFrame>
      <p:sp>
        <p:nvSpPr>
          <p:cNvPr id="277" name="Google Shape;277;g3d9e588f0ee_1_203"/>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78" name="Google Shape;278;g3d9e588f0ee_1_203"/>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Ava Rathenberg</a:t>
            </a:r>
            <a:endParaRPr b="0" i="0" sz="1800" u="none" cap="none" strike="noStrike">
              <a:solidFill>
                <a:schemeClr val="dk1"/>
              </a:solidFill>
              <a:latin typeface="Calibri"/>
              <a:ea typeface="Calibri"/>
              <a:cs typeface="Calibri"/>
              <a:sym typeface="Calibri"/>
            </a:endParaRPr>
          </a:p>
        </p:txBody>
      </p:sp>
      <p:sp>
        <p:nvSpPr>
          <p:cNvPr id="279" name="Google Shape;279;g3d9e588f0ee_1_203"/>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284" name="Shape 284"/>
        <p:cNvGrpSpPr/>
        <p:nvPr/>
      </p:nvGrpSpPr>
      <p:grpSpPr>
        <a:xfrm>
          <a:off x="0" y="0"/>
          <a:ext cx="0" cy="0"/>
          <a:chOff x="0" y="0"/>
          <a:chExt cx="0" cy="0"/>
        </a:xfrm>
      </p:grpSpPr>
      <p:sp>
        <p:nvSpPr>
          <p:cNvPr id="285" name="Google Shape;285;g3d9e588f0ee_1_215"/>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86" name="Google Shape;286;g3d9e588f0ee_1_215"/>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87" name="Google Shape;287;g3d9e588f0ee_1_215"/>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Hardware Block Diagram</a:t>
            </a:r>
            <a:endParaRPr b="0" i="0" sz="4400" u="none" cap="none" strike="noStrike">
              <a:solidFill>
                <a:schemeClr val="dk1"/>
              </a:solidFill>
              <a:latin typeface="Calibri"/>
              <a:ea typeface="Calibri"/>
              <a:cs typeface="Calibri"/>
              <a:sym typeface="Calibri"/>
            </a:endParaRPr>
          </a:p>
        </p:txBody>
      </p:sp>
      <p:sp>
        <p:nvSpPr>
          <p:cNvPr id="288" name="Google Shape;288;g3d9e588f0ee_1_215"/>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1.2a — System architecture and signal flow</a:t>
            </a:r>
            <a:endParaRPr b="0" i="0" sz="2200" u="none" cap="none" strike="noStrike">
              <a:solidFill>
                <a:schemeClr val="dk1"/>
              </a:solidFill>
              <a:latin typeface="Calibri"/>
              <a:ea typeface="Calibri"/>
              <a:cs typeface="Calibri"/>
              <a:sym typeface="Calibri"/>
            </a:endParaRPr>
          </a:p>
        </p:txBody>
      </p:sp>
      <p:sp>
        <p:nvSpPr>
          <p:cNvPr id="289" name="Google Shape;289;g3d9e588f0ee_1_215"/>
          <p:cNvSpPr/>
          <p:nvPr/>
        </p:nvSpPr>
        <p:spPr>
          <a:xfrm>
            <a:off x="823075" y="4958448"/>
            <a:ext cx="2743200" cy="1280400"/>
          </a:xfrm>
          <a:prstGeom prst="rect">
            <a:avLst/>
          </a:prstGeom>
          <a:solidFill>
            <a:srgbClr val="13778E"/>
          </a:solidFill>
          <a:ln>
            <a:noFill/>
          </a:ln>
          <a:effectLst>
            <a:outerShdw blurRad="1016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90" name="Google Shape;290;g3d9e588f0ee_1_215"/>
          <p:cNvSpPr/>
          <p:nvPr/>
        </p:nvSpPr>
        <p:spPr>
          <a:xfrm>
            <a:off x="823075" y="4958448"/>
            <a:ext cx="2743200" cy="128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FSR Insole</a:t>
            </a:r>
            <a:endParaRPr b="0" i="0" sz="3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(16 zones)</a:t>
            </a:r>
            <a:endParaRPr b="0" i="0" sz="3200" u="none" cap="none" strike="noStrike">
              <a:solidFill>
                <a:schemeClr val="dk1"/>
              </a:solidFill>
              <a:latin typeface="Calibri"/>
              <a:ea typeface="Calibri"/>
              <a:cs typeface="Calibri"/>
              <a:sym typeface="Calibri"/>
            </a:endParaRPr>
          </a:p>
        </p:txBody>
      </p:sp>
      <p:cxnSp>
        <p:nvCxnSpPr>
          <p:cNvPr id="291" name="Google Shape;291;g3d9e588f0ee_1_215"/>
          <p:cNvCxnSpPr/>
          <p:nvPr/>
        </p:nvCxnSpPr>
        <p:spPr>
          <a:xfrm>
            <a:off x="3566275" y="5598528"/>
            <a:ext cx="1097400" cy="0"/>
          </a:xfrm>
          <a:prstGeom prst="straightConnector1">
            <a:avLst/>
          </a:prstGeom>
          <a:noFill/>
          <a:ln cap="flat" cmpd="sng" w="38100">
            <a:solidFill>
              <a:srgbClr val="6B7B8D"/>
            </a:solidFill>
            <a:prstDash val="solid"/>
            <a:round/>
            <a:headEnd len="sm" w="sm" type="none"/>
            <a:tailEnd len="sm" w="sm" type="none"/>
          </a:ln>
        </p:spPr>
      </p:cxnSp>
      <p:sp>
        <p:nvSpPr>
          <p:cNvPr id="292" name="Google Shape;292;g3d9e588f0ee_1_215"/>
          <p:cNvSpPr/>
          <p:nvPr/>
        </p:nvSpPr>
        <p:spPr>
          <a:xfrm>
            <a:off x="4663555" y="4958448"/>
            <a:ext cx="2560200" cy="1280400"/>
          </a:xfrm>
          <a:prstGeom prst="rect">
            <a:avLst/>
          </a:prstGeom>
          <a:solidFill>
            <a:srgbClr val="1DB7A8"/>
          </a:solidFill>
          <a:ln>
            <a:noFill/>
          </a:ln>
          <a:effectLst>
            <a:outerShdw blurRad="1016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93" name="Google Shape;293;g3d9e588f0ee_1_215"/>
          <p:cNvSpPr/>
          <p:nvPr/>
        </p:nvSpPr>
        <p:spPr>
          <a:xfrm>
            <a:off x="4663555" y="4958448"/>
            <a:ext cx="2560200" cy="128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CD74HC4067</a:t>
            </a:r>
            <a:endParaRPr b="0" i="0" sz="3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Multiplexer</a:t>
            </a:r>
            <a:endParaRPr b="0" i="0" sz="3200" u="none" cap="none" strike="noStrike">
              <a:solidFill>
                <a:schemeClr val="dk1"/>
              </a:solidFill>
              <a:latin typeface="Calibri"/>
              <a:ea typeface="Calibri"/>
              <a:cs typeface="Calibri"/>
              <a:sym typeface="Calibri"/>
            </a:endParaRPr>
          </a:p>
        </p:txBody>
      </p:sp>
      <p:cxnSp>
        <p:nvCxnSpPr>
          <p:cNvPr id="294" name="Google Shape;294;g3d9e588f0ee_1_215"/>
          <p:cNvCxnSpPr/>
          <p:nvPr/>
        </p:nvCxnSpPr>
        <p:spPr>
          <a:xfrm>
            <a:off x="7223875" y="5598528"/>
            <a:ext cx="914400" cy="0"/>
          </a:xfrm>
          <a:prstGeom prst="straightConnector1">
            <a:avLst/>
          </a:prstGeom>
          <a:noFill/>
          <a:ln cap="flat" cmpd="sng" w="38100">
            <a:solidFill>
              <a:srgbClr val="6B7B8D"/>
            </a:solidFill>
            <a:prstDash val="solid"/>
            <a:round/>
            <a:headEnd len="sm" w="sm" type="none"/>
            <a:tailEnd len="sm" w="sm" type="none"/>
          </a:ln>
        </p:spPr>
      </p:cxnSp>
      <p:sp>
        <p:nvSpPr>
          <p:cNvPr id="295" name="Google Shape;295;g3d9e588f0ee_1_215"/>
          <p:cNvSpPr/>
          <p:nvPr/>
        </p:nvSpPr>
        <p:spPr>
          <a:xfrm>
            <a:off x="8138275" y="3678288"/>
            <a:ext cx="3657600" cy="4023600"/>
          </a:xfrm>
          <a:prstGeom prst="rect">
            <a:avLst/>
          </a:prstGeom>
          <a:solidFill>
            <a:srgbClr val="0B2545"/>
          </a:solidFill>
          <a:ln>
            <a:noFill/>
          </a:ln>
          <a:effectLst>
            <a:outerShdw blurRad="1016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96" name="Google Shape;296;g3d9e588f0ee_1_215"/>
          <p:cNvSpPr/>
          <p:nvPr/>
        </p:nvSpPr>
        <p:spPr>
          <a:xfrm>
            <a:off x="8138275" y="3678288"/>
            <a:ext cx="3657600" cy="402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97" name="Google Shape;297;g3d9e588f0ee_1_215"/>
          <p:cNvSpPr/>
          <p:nvPr/>
        </p:nvSpPr>
        <p:spPr>
          <a:xfrm>
            <a:off x="8138275" y="3696565"/>
            <a:ext cx="36576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Arduino Nano 33</a:t>
            </a:r>
            <a:endParaRPr b="0" i="0" sz="3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BLE Sense Rev2</a:t>
            </a:r>
            <a:endParaRPr b="0" i="0" sz="3200" u="none" cap="none" strike="noStrike">
              <a:solidFill>
                <a:schemeClr val="dk1"/>
              </a:solidFill>
              <a:latin typeface="Calibri"/>
              <a:ea typeface="Calibri"/>
              <a:cs typeface="Calibri"/>
              <a:sym typeface="Calibri"/>
            </a:endParaRPr>
          </a:p>
        </p:txBody>
      </p:sp>
      <p:sp>
        <p:nvSpPr>
          <p:cNvPr id="298" name="Google Shape;298;g3d9e588f0ee_1_215"/>
          <p:cNvSpPr/>
          <p:nvPr/>
        </p:nvSpPr>
        <p:spPr>
          <a:xfrm>
            <a:off x="8321155" y="5049888"/>
            <a:ext cx="1554600" cy="731400"/>
          </a:xfrm>
          <a:prstGeom prst="rect">
            <a:avLst/>
          </a:prstGeom>
          <a:solidFill>
            <a:srgbClr val="13778E"/>
          </a:solidFill>
          <a:ln cap="flat" cmpd="sng" w="1905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299" name="Google Shape;299;g3d9e588f0ee_1_215"/>
          <p:cNvSpPr/>
          <p:nvPr/>
        </p:nvSpPr>
        <p:spPr>
          <a:xfrm>
            <a:off x="8321155" y="5049888"/>
            <a:ext cx="15546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0" i="0" lang="en-US" sz="2600" u="none" cap="none" strike="noStrike">
                <a:solidFill>
                  <a:srgbClr val="FFFFFF"/>
                </a:solidFill>
                <a:latin typeface="Calibri"/>
                <a:ea typeface="Calibri"/>
                <a:cs typeface="Calibri"/>
                <a:sym typeface="Calibri"/>
              </a:rPr>
              <a:t>BMI270</a:t>
            </a:r>
            <a:endParaRPr b="0" i="0" sz="2600" u="none" cap="none" strike="noStrike">
              <a:solidFill>
                <a:schemeClr val="dk1"/>
              </a:solidFill>
              <a:latin typeface="Calibri"/>
              <a:ea typeface="Calibri"/>
              <a:cs typeface="Calibri"/>
              <a:sym typeface="Calibri"/>
            </a:endParaRPr>
          </a:p>
        </p:txBody>
      </p:sp>
      <p:sp>
        <p:nvSpPr>
          <p:cNvPr id="300" name="Google Shape;300;g3d9e588f0ee_1_215"/>
          <p:cNvSpPr/>
          <p:nvPr/>
        </p:nvSpPr>
        <p:spPr>
          <a:xfrm>
            <a:off x="10058515" y="5049888"/>
            <a:ext cx="1554600" cy="731400"/>
          </a:xfrm>
          <a:prstGeom prst="rect">
            <a:avLst/>
          </a:prstGeom>
          <a:solidFill>
            <a:srgbClr val="13778E"/>
          </a:solidFill>
          <a:ln cap="flat" cmpd="sng" w="1905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01" name="Google Shape;301;g3d9e588f0ee_1_215"/>
          <p:cNvSpPr/>
          <p:nvPr/>
        </p:nvSpPr>
        <p:spPr>
          <a:xfrm>
            <a:off x="10058515" y="5049888"/>
            <a:ext cx="15546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0" i="0" lang="en-US" sz="2600" u="none" cap="none" strike="noStrike">
                <a:solidFill>
                  <a:srgbClr val="FFFFFF"/>
                </a:solidFill>
                <a:latin typeface="Calibri"/>
                <a:ea typeface="Calibri"/>
                <a:cs typeface="Calibri"/>
                <a:sym typeface="Calibri"/>
              </a:rPr>
              <a:t>HS300x</a:t>
            </a:r>
            <a:endParaRPr b="0" i="0" sz="2600" u="none" cap="none" strike="noStrike">
              <a:solidFill>
                <a:schemeClr val="dk1"/>
              </a:solidFill>
              <a:latin typeface="Calibri"/>
              <a:ea typeface="Calibri"/>
              <a:cs typeface="Calibri"/>
              <a:sym typeface="Calibri"/>
            </a:endParaRPr>
          </a:p>
        </p:txBody>
      </p:sp>
      <p:sp>
        <p:nvSpPr>
          <p:cNvPr id="302" name="Google Shape;302;g3d9e588f0ee_1_215"/>
          <p:cNvSpPr/>
          <p:nvPr/>
        </p:nvSpPr>
        <p:spPr>
          <a:xfrm>
            <a:off x="8321155" y="5964288"/>
            <a:ext cx="1554600" cy="731400"/>
          </a:xfrm>
          <a:prstGeom prst="rect">
            <a:avLst/>
          </a:prstGeom>
          <a:solidFill>
            <a:srgbClr val="13778E"/>
          </a:solidFill>
          <a:ln cap="flat" cmpd="sng" w="1905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03" name="Google Shape;303;g3d9e588f0ee_1_215"/>
          <p:cNvSpPr/>
          <p:nvPr/>
        </p:nvSpPr>
        <p:spPr>
          <a:xfrm>
            <a:off x="8321155" y="5964288"/>
            <a:ext cx="15546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0" i="0" lang="en-US" sz="2600" u="none" cap="none" strike="noStrike">
                <a:solidFill>
                  <a:srgbClr val="FFFFFF"/>
                </a:solidFill>
                <a:latin typeface="Calibri"/>
                <a:ea typeface="Calibri"/>
                <a:cs typeface="Calibri"/>
                <a:sym typeface="Calibri"/>
              </a:rPr>
              <a:t>nRF52840</a:t>
            </a:r>
            <a:endParaRPr b="0" i="0" sz="2600" u="none" cap="none" strike="noStrike">
              <a:solidFill>
                <a:schemeClr val="dk1"/>
              </a:solidFill>
              <a:latin typeface="Calibri"/>
              <a:ea typeface="Calibri"/>
              <a:cs typeface="Calibri"/>
              <a:sym typeface="Calibri"/>
            </a:endParaRPr>
          </a:p>
        </p:txBody>
      </p:sp>
      <p:sp>
        <p:nvSpPr>
          <p:cNvPr id="304" name="Google Shape;304;g3d9e588f0ee_1_215"/>
          <p:cNvSpPr/>
          <p:nvPr/>
        </p:nvSpPr>
        <p:spPr>
          <a:xfrm>
            <a:off x="10058515" y="5964288"/>
            <a:ext cx="1554600" cy="731400"/>
          </a:xfrm>
          <a:prstGeom prst="rect">
            <a:avLst/>
          </a:prstGeom>
          <a:solidFill>
            <a:srgbClr val="13778E"/>
          </a:solidFill>
          <a:ln cap="flat" cmpd="sng" w="1905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05" name="Google Shape;305;g3d9e588f0ee_1_215"/>
          <p:cNvSpPr/>
          <p:nvPr/>
        </p:nvSpPr>
        <p:spPr>
          <a:xfrm>
            <a:off x="10058515" y="5964288"/>
            <a:ext cx="15546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0" i="0" lang="en-US" sz="2600" u="none" cap="none" strike="noStrike">
                <a:solidFill>
                  <a:srgbClr val="FFFFFF"/>
                </a:solidFill>
                <a:latin typeface="Calibri"/>
                <a:ea typeface="Calibri"/>
                <a:cs typeface="Calibri"/>
                <a:sym typeface="Calibri"/>
              </a:rPr>
              <a:t>ADC</a:t>
            </a:r>
            <a:endParaRPr b="0" i="0" sz="2600" u="none" cap="none" strike="noStrike">
              <a:solidFill>
                <a:schemeClr val="dk1"/>
              </a:solidFill>
              <a:latin typeface="Calibri"/>
              <a:ea typeface="Calibri"/>
              <a:cs typeface="Calibri"/>
              <a:sym typeface="Calibri"/>
            </a:endParaRPr>
          </a:p>
        </p:txBody>
      </p:sp>
      <p:cxnSp>
        <p:nvCxnSpPr>
          <p:cNvPr id="306" name="Google Shape;306;g3d9e588f0ee_1_215"/>
          <p:cNvCxnSpPr/>
          <p:nvPr/>
        </p:nvCxnSpPr>
        <p:spPr>
          <a:xfrm>
            <a:off x="11795875" y="5598528"/>
            <a:ext cx="1097400" cy="0"/>
          </a:xfrm>
          <a:prstGeom prst="straightConnector1">
            <a:avLst/>
          </a:prstGeom>
          <a:noFill/>
          <a:ln cap="flat" cmpd="sng" w="38100">
            <a:solidFill>
              <a:srgbClr val="6B7B8D"/>
            </a:solidFill>
            <a:prstDash val="solid"/>
            <a:round/>
            <a:headEnd len="sm" w="sm" type="none"/>
            <a:tailEnd len="sm" w="sm" type="none"/>
          </a:ln>
        </p:spPr>
      </p:cxnSp>
      <p:sp>
        <p:nvSpPr>
          <p:cNvPr id="307" name="Google Shape;307;g3d9e588f0ee_1_215"/>
          <p:cNvSpPr/>
          <p:nvPr/>
        </p:nvSpPr>
        <p:spPr>
          <a:xfrm>
            <a:off x="12893155" y="4958448"/>
            <a:ext cx="2194800" cy="1280400"/>
          </a:xfrm>
          <a:prstGeom prst="rect">
            <a:avLst/>
          </a:prstGeom>
          <a:solidFill>
            <a:srgbClr val="1DB7A8"/>
          </a:solidFill>
          <a:ln>
            <a:noFill/>
          </a:ln>
          <a:effectLst>
            <a:outerShdw blurRad="1016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08" name="Google Shape;308;g3d9e588f0ee_1_215"/>
          <p:cNvSpPr/>
          <p:nvPr/>
        </p:nvSpPr>
        <p:spPr>
          <a:xfrm>
            <a:off x="12893155" y="4958448"/>
            <a:ext cx="2194800" cy="128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BLE  5.0</a:t>
            </a:r>
            <a:endParaRPr b="0" i="0" sz="3200" u="none" cap="none" strike="noStrike">
              <a:solidFill>
                <a:schemeClr val="dk1"/>
              </a:solidFill>
              <a:latin typeface="Calibri"/>
              <a:ea typeface="Calibri"/>
              <a:cs typeface="Calibri"/>
              <a:sym typeface="Calibri"/>
            </a:endParaRPr>
          </a:p>
        </p:txBody>
      </p:sp>
      <p:cxnSp>
        <p:nvCxnSpPr>
          <p:cNvPr id="309" name="Google Shape;309;g3d9e588f0ee_1_215"/>
          <p:cNvCxnSpPr/>
          <p:nvPr/>
        </p:nvCxnSpPr>
        <p:spPr>
          <a:xfrm>
            <a:off x="15087715" y="5598528"/>
            <a:ext cx="914400" cy="0"/>
          </a:xfrm>
          <a:prstGeom prst="straightConnector1">
            <a:avLst/>
          </a:prstGeom>
          <a:noFill/>
          <a:ln cap="flat" cmpd="sng" w="38100">
            <a:solidFill>
              <a:srgbClr val="6B7B8D"/>
            </a:solidFill>
            <a:prstDash val="solid"/>
            <a:round/>
            <a:headEnd len="sm" w="sm" type="none"/>
            <a:tailEnd len="sm" w="sm" type="none"/>
          </a:ln>
        </p:spPr>
      </p:cxnSp>
      <p:sp>
        <p:nvSpPr>
          <p:cNvPr id="310" name="Google Shape;310;g3d9e588f0ee_1_215"/>
          <p:cNvSpPr/>
          <p:nvPr/>
        </p:nvSpPr>
        <p:spPr>
          <a:xfrm>
            <a:off x="16002115" y="4226928"/>
            <a:ext cx="1462800" cy="2743200"/>
          </a:xfrm>
          <a:prstGeom prst="rect">
            <a:avLst/>
          </a:prstGeom>
          <a:solidFill>
            <a:srgbClr val="F4A261"/>
          </a:solidFill>
          <a:ln>
            <a:noFill/>
          </a:ln>
          <a:effectLst>
            <a:outerShdw blurRad="1016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11" name="Google Shape;311;g3d9e588f0ee_1_215"/>
          <p:cNvSpPr/>
          <p:nvPr/>
        </p:nvSpPr>
        <p:spPr>
          <a:xfrm>
            <a:off x="16002115" y="4226928"/>
            <a:ext cx="1462800" cy="274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iOS</a:t>
            </a:r>
            <a:endParaRPr b="0" i="0" sz="3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000"/>
              <a:buFont typeface="Calibri"/>
              <a:buNone/>
            </a:pPr>
            <a:r>
              <a:rPr b="1" i="0" lang="en-US" sz="3200" u="none" cap="none" strike="noStrike">
                <a:solidFill>
                  <a:srgbClr val="FFFFFF"/>
                </a:solidFill>
                <a:latin typeface="Calibri"/>
                <a:ea typeface="Calibri"/>
                <a:cs typeface="Calibri"/>
                <a:sym typeface="Calibri"/>
              </a:rPr>
              <a:t>App</a:t>
            </a:r>
            <a:endParaRPr b="0" i="0" sz="3200" u="none" cap="none" strike="noStrike">
              <a:solidFill>
                <a:schemeClr val="dk1"/>
              </a:solidFill>
              <a:latin typeface="Calibri"/>
              <a:ea typeface="Calibri"/>
              <a:cs typeface="Calibri"/>
              <a:sym typeface="Calibri"/>
            </a:endParaRPr>
          </a:p>
        </p:txBody>
      </p:sp>
      <p:sp>
        <p:nvSpPr>
          <p:cNvPr id="312" name="Google Shape;312;g3d9e588f0ee_1_215"/>
          <p:cNvSpPr/>
          <p:nvPr/>
        </p:nvSpPr>
        <p:spPr>
          <a:xfrm>
            <a:off x="3200580" y="4501248"/>
            <a:ext cx="1828800" cy="36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B8D"/>
              </a:buClr>
              <a:buSzPts val="1400"/>
              <a:buFont typeface="Calibri"/>
              <a:buNone/>
            </a:pPr>
            <a:r>
              <a:rPr b="0" i="0" lang="en-US" sz="2600" u="none" cap="none" strike="noStrike">
                <a:solidFill>
                  <a:srgbClr val="6B7B8D"/>
                </a:solidFill>
                <a:latin typeface="Calibri"/>
                <a:ea typeface="Calibri"/>
                <a:cs typeface="Calibri"/>
                <a:sym typeface="Calibri"/>
              </a:rPr>
              <a:t>Analog Signal</a:t>
            </a:r>
            <a:endParaRPr b="0" i="0" sz="2600" u="none" cap="none" strike="noStrike">
              <a:solidFill>
                <a:schemeClr val="dk1"/>
              </a:solidFill>
              <a:latin typeface="Calibri"/>
              <a:ea typeface="Calibri"/>
              <a:cs typeface="Calibri"/>
              <a:sym typeface="Calibri"/>
            </a:endParaRPr>
          </a:p>
        </p:txBody>
      </p:sp>
      <p:sp>
        <p:nvSpPr>
          <p:cNvPr id="313" name="Google Shape;313;g3d9e588f0ee_1_215"/>
          <p:cNvSpPr/>
          <p:nvPr/>
        </p:nvSpPr>
        <p:spPr>
          <a:xfrm>
            <a:off x="12893155" y="4501248"/>
            <a:ext cx="2194800" cy="36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B8D"/>
              </a:buClr>
              <a:buSzPts val="1400"/>
              <a:buFont typeface="Calibri"/>
              <a:buNone/>
            </a:pPr>
            <a:r>
              <a:rPr b="0" i="0" lang="en-US" sz="2600" u="none" cap="none" strike="noStrike">
                <a:solidFill>
                  <a:srgbClr val="6B7B8D"/>
                </a:solidFill>
                <a:latin typeface="Calibri"/>
                <a:ea typeface="Calibri"/>
                <a:cs typeface="Calibri"/>
                <a:sym typeface="Calibri"/>
              </a:rPr>
              <a:t>Wireless</a:t>
            </a:r>
            <a:endParaRPr b="0" i="0" sz="2600" u="none" cap="none" strike="noStrike">
              <a:solidFill>
                <a:schemeClr val="dk1"/>
              </a:solidFill>
              <a:latin typeface="Calibri"/>
              <a:ea typeface="Calibri"/>
              <a:cs typeface="Calibri"/>
              <a:sym typeface="Calibri"/>
            </a:endParaRPr>
          </a:p>
        </p:txBody>
      </p:sp>
      <p:sp>
        <p:nvSpPr>
          <p:cNvPr id="314" name="Google Shape;314;g3d9e588f0ee_1_215"/>
          <p:cNvSpPr/>
          <p:nvPr/>
        </p:nvSpPr>
        <p:spPr>
          <a:xfrm>
            <a:off x="4663555" y="6787248"/>
            <a:ext cx="2560200" cy="731400"/>
          </a:xfrm>
          <a:prstGeom prst="rect">
            <a:avLst/>
          </a:prstGeom>
          <a:solidFill>
            <a:srgbClr val="F59E0B">
              <a:alpha val="20000"/>
            </a:srgbClr>
          </a:solidFill>
          <a:ln cap="flat" cmpd="sng" w="19050">
            <a:solidFill>
              <a:srgbClr val="F59E0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15" name="Google Shape;315;g3d9e588f0ee_1_215"/>
          <p:cNvSpPr/>
          <p:nvPr/>
        </p:nvSpPr>
        <p:spPr>
          <a:xfrm>
            <a:off x="4663555" y="6787248"/>
            <a:ext cx="25602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600"/>
              <a:buFont typeface="Calibri"/>
              <a:buNone/>
            </a:pPr>
            <a:r>
              <a:rPr b="0" i="0" lang="en-US" sz="2800" u="none" cap="none" strike="noStrike">
                <a:solidFill>
                  <a:srgbClr val="F59E0B"/>
                </a:solidFill>
                <a:latin typeface="Calibri"/>
                <a:ea typeface="Calibri"/>
                <a:cs typeface="Calibri"/>
                <a:sym typeface="Calibri"/>
              </a:rPr>
              <a:t>10kΩ ×16</a:t>
            </a:r>
            <a:endParaRPr b="0" i="0" sz="2800" u="none" cap="none" strike="noStrike">
              <a:solidFill>
                <a:schemeClr val="dk1"/>
              </a:solidFill>
              <a:latin typeface="Calibri"/>
              <a:ea typeface="Calibri"/>
              <a:cs typeface="Calibri"/>
              <a:sym typeface="Calibri"/>
            </a:endParaRPr>
          </a:p>
        </p:txBody>
      </p:sp>
      <p:sp>
        <p:nvSpPr>
          <p:cNvPr id="316" name="Google Shape;316;g3d9e588f0ee_1_215"/>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17" name="Google Shape;317;g3d9e588f0ee_1_215"/>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Nwachukwu Anene</a:t>
            </a:r>
            <a:endParaRPr b="0" i="0" sz="1800" u="none" cap="none" strike="noStrike">
              <a:solidFill>
                <a:schemeClr val="dk1"/>
              </a:solidFill>
              <a:latin typeface="Calibri"/>
              <a:ea typeface="Calibri"/>
              <a:cs typeface="Calibri"/>
              <a:sym typeface="Calibri"/>
            </a:endParaRPr>
          </a:p>
        </p:txBody>
      </p:sp>
      <p:sp>
        <p:nvSpPr>
          <p:cNvPr id="318" name="Google Shape;318;g3d9e588f0ee_1_215"/>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
        <p:nvSpPr>
          <p:cNvPr id="319" name="Google Shape;319;g3d9e588f0ee_1_215"/>
          <p:cNvSpPr/>
          <p:nvPr/>
        </p:nvSpPr>
        <p:spPr>
          <a:xfrm>
            <a:off x="9052680" y="3216173"/>
            <a:ext cx="1828800" cy="36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B8D"/>
              </a:buClr>
              <a:buSzPts val="1400"/>
              <a:buFont typeface="Calibri"/>
              <a:buNone/>
            </a:pPr>
            <a:r>
              <a:rPr lang="en-US" sz="2600">
                <a:solidFill>
                  <a:srgbClr val="6B7B8D"/>
                </a:solidFill>
                <a:latin typeface="Calibri"/>
                <a:ea typeface="Calibri"/>
                <a:cs typeface="Calibri"/>
                <a:sym typeface="Calibri"/>
              </a:rPr>
              <a:t>Digital</a:t>
            </a:r>
            <a:r>
              <a:rPr b="0" i="0" lang="en-US" sz="2600" u="none" cap="none" strike="noStrike">
                <a:solidFill>
                  <a:srgbClr val="6B7B8D"/>
                </a:solidFill>
                <a:latin typeface="Calibri"/>
                <a:ea typeface="Calibri"/>
                <a:cs typeface="Calibri"/>
                <a:sym typeface="Calibri"/>
              </a:rPr>
              <a:t> Signal</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324" name="Shape 324"/>
        <p:cNvGrpSpPr/>
        <p:nvPr/>
      </p:nvGrpSpPr>
      <p:grpSpPr>
        <a:xfrm>
          <a:off x="0" y="0"/>
          <a:ext cx="0" cy="0"/>
          <a:chOff x="0" y="0"/>
          <a:chExt cx="0" cy="0"/>
        </a:xfrm>
      </p:grpSpPr>
      <p:sp>
        <p:nvSpPr>
          <p:cNvPr id="325" name="Google Shape;325;g3d9e588f0ee_1_253"/>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26" name="Google Shape;326;g3d9e588f0ee_1_253"/>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27" name="Google Shape;327;g3d9e588f0ee_1_253"/>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Software Decision Logic &amp; App Workflow</a:t>
            </a:r>
            <a:endParaRPr b="0" i="0" sz="4400" u="none" cap="none" strike="noStrike">
              <a:solidFill>
                <a:schemeClr val="dk1"/>
              </a:solidFill>
              <a:latin typeface="Calibri"/>
              <a:ea typeface="Calibri"/>
              <a:cs typeface="Calibri"/>
              <a:sym typeface="Calibri"/>
            </a:endParaRPr>
          </a:p>
        </p:txBody>
      </p:sp>
      <p:sp>
        <p:nvSpPr>
          <p:cNvPr id="328" name="Google Shape;328;g3d9e588f0ee_1_253"/>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1.2a — Firmware thresholds and iOS companion app</a:t>
            </a:r>
            <a:endParaRPr b="0" i="0" sz="2200" u="none" cap="none" strike="noStrike">
              <a:solidFill>
                <a:schemeClr val="dk1"/>
              </a:solidFill>
              <a:latin typeface="Calibri"/>
              <a:ea typeface="Calibri"/>
              <a:cs typeface="Calibri"/>
              <a:sym typeface="Calibri"/>
            </a:endParaRPr>
          </a:p>
        </p:txBody>
      </p:sp>
      <p:sp>
        <p:nvSpPr>
          <p:cNvPr id="329" name="Google Shape;329;g3d9e588f0ee_1_253"/>
          <p:cNvSpPr/>
          <p:nvPr/>
        </p:nvSpPr>
        <p:spPr>
          <a:xfrm>
            <a:off x="731520" y="2103120"/>
            <a:ext cx="8412600" cy="6766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30" name="Google Shape;330;g3d9e588f0ee_1_253"/>
          <p:cNvSpPr/>
          <p:nvPr/>
        </p:nvSpPr>
        <p:spPr>
          <a:xfrm>
            <a:off x="1097280" y="2286000"/>
            <a:ext cx="7681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500" u="none" cap="none" strike="noStrike">
                <a:solidFill>
                  <a:srgbClr val="1C2D3F"/>
                </a:solidFill>
                <a:latin typeface="Georgia"/>
                <a:ea typeface="Georgia"/>
                <a:cs typeface="Georgia"/>
                <a:sym typeface="Georgia"/>
              </a:rPr>
              <a:t>Firmware Decision Logic</a:t>
            </a:r>
            <a:endParaRPr b="0" i="0" sz="3500" u="none" cap="none" strike="noStrike">
              <a:solidFill>
                <a:schemeClr val="dk1"/>
              </a:solidFill>
              <a:latin typeface="Calibri"/>
              <a:ea typeface="Calibri"/>
              <a:cs typeface="Calibri"/>
              <a:sym typeface="Calibri"/>
            </a:endParaRPr>
          </a:p>
        </p:txBody>
      </p:sp>
      <p:sp>
        <p:nvSpPr>
          <p:cNvPr id="331" name="Google Shape;331;g3d9e588f0ee_1_253"/>
          <p:cNvSpPr/>
          <p:nvPr/>
        </p:nvSpPr>
        <p:spPr>
          <a:xfrm>
            <a:off x="2194560" y="3108960"/>
            <a:ext cx="5120400" cy="731400"/>
          </a:xfrm>
          <a:prstGeom prst="rect">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32" name="Google Shape;332;g3d9e588f0ee_1_253"/>
          <p:cNvSpPr/>
          <p:nvPr/>
        </p:nvSpPr>
        <p:spPr>
          <a:xfrm>
            <a:off x="2194560" y="3108960"/>
            <a:ext cx="5120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Read 16 FSR channels (50 Hz scan)</a:t>
            </a:r>
            <a:endParaRPr b="0" i="0" sz="2600" u="none" cap="none" strike="noStrike">
              <a:solidFill>
                <a:schemeClr val="dk1"/>
              </a:solidFill>
              <a:latin typeface="Calibri"/>
              <a:ea typeface="Calibri"/>
              <a:cs typeface="Calibri"/>
              <a:sym typeface="Calibri"/>
            </a:endParaRPr>
          </a:p>
        </p:txBody>
      </p:sp>
      <p:cxnSp>
        <p:nvCxnSpPr>
          <p:cNvPr id="333" name="Google Shape;333;g3d9e588f0ee_1_253"/>
          <p:cNvCxnSpPr/>
          <p:nvPr/>
        </p:nvCxnSpPr>
        <p:spPr>
          <a:xfrm>
            <a:off x="4754880" y="3840480"/>
            <a:ext cx="0" cy="457200"/>
          </a:xfrm>
          <a:prstGeom prst="straightConnector1">
            <a:avLst/>
          </a:prstGeom>
          <a:noFill/>
          <a:ln cap="flat" cmpd="sng" w="25400">
            <a:solidFill>
              <a:srgbClr val="6B7B8D"/>
            </a:solidFill>
            <a:prstDash val="solid"/>
            <a:round/>
            <a:headEnd len="sm" w="sm" type="none"/>
            <a:tailEnd len="sm" w="sm" type="none"/>
          </a:ln>
        </p:spPr>
      </p:cxnSp>
      <p:sp>
        <p:nvSpPr>
          <p:cNvPr id="334" name="Google Shape;334;g3d9e588f0ee_1_253"/>
          <p:cNvSpPr/>
          <p:nvPr/>
        </p:nvSpPr>
        <p:spPr>
          <a:xfrm>
            <a:off x="2194560" y="4297680"/>
            <a:ext cx="5120400" cy="731400"/>
          </a:xfrm>
          <a:prstGeom prst="rect">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35" name="Google Shape;335;g3d9e588f0ee_1_253"/>
          <p:cNvSpPr/>
          <p:nvPr/>
        </p:nvSpPr>
        <p:spPr>
          <a:xfrm>
            <a:off x="2194560" y="4297680"/>
            <a:ext cx="5120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Check each zone against thresholds</a:t>
            </a:r>
            <a:endParaRPr b="0" i="0" sz="2600" u="none" cap="none" strike="noStrike">
              <a:solidFill>
                <a:schemeClr val="dk1"/>
              </a:solidFill>
              <a:latin typeface="Calibri"/>
              <a:ea typeface="Calibri"/>
              <a:cs typeface="Calibri"/>
              <a:sym typeface="Calibri"/>
            </a:endParaRPr>
          </a:p>
        </p:txBody>
      </p:sp>
      <p:cxnSp>
        <p:nvCxnSpPr>
          <p:cNvPr id="336" name="Google Shape;336;g3d9e588f0ee_1_253"/>
          <p:cNvCxnSpPr/>
          <p:nvPr/>
        </p:nvCxnSpPr>
        <p:spPr>
          <a:xfrm>
            <a:off x="4754755" y="4983469"/>
            <a:ext cx="0" cy="457200"/>
          </a:xfrm>
          <a:prstGeom prst="straightConnector1">
            <a:avLst/>
          </a:prstGeom>
          <a:noFill/>
          <a:ln cap="flat" cmpd="sng" w="25400">
            <a:solidFill>
              <a:srgbClr val="6B7B8D"/>
            </a:solidFill>
            <a:prstDash val="solid"/>
            <a:round/>
            <a:headEnd len="sm" w="sm" type="none"/>
            <a:tailEnd len="sm" w="sm" type="none"/>
          </a:ln>
        </p:spPr>
      </p:cxnSp>
      <p:sp>
        <p:nvSpPr>
          <p:cNvPr id="337" name="Google Shape;337;g3d9e588f0ee_1_253"/>
          <p:cNvSpPr/>
          <p:nvPr/>
        </p:nvSpPr>
        <p:spPr>
          <a:xfrm>
            <a:off x="1097280" y="5577840"/>
            <a:ext cx="2377200" cy="731400"/>
          </a:xfrm>
          <a:prstGeom prst="rect">
            <a:avLst/>
          </a:prstGeom>
          <a:solidFill>
            <a:srgbClr val="22C55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38" name="Google Shape;338;g3d9e588f0ee_1_253"/>
          <p:cNvSpPr/>
          <p:nvPr/>
        </p:nvSpPr>
        <p:spPr>
          <a:xfrm>
            <a:off x="1097280" y="5577840"/>
            <a:ext cx="23772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&lt; 600: OK</a:t>
            </a:r>
            <a:endParaRPr b="0" i="0" sz="2600" u="none" cap="none" strike="noStrike">
              <a:solidFill>
                <a:schemeClr val="dk1"/>
              </a:solidFill>
              <a:latin typeface="Calibri"/>
              <a:ea typeface="Calibri"/>
              <a:cs typeface="Calibri"/>
              <a:sym typeface="Calibri"/>
            </a:endParaRPr>
          </a:p>
        </p:txBody>
      </p:sp>
      <p:sp>
        <p:nvSpPr>
          <p:cNvPr id="339" name="Google Shape;339;g3d9e588f0ee_1_253"/>
          <p:cNvSpPr/>
          <p:nvPr/>
        </p:nvSpPr>
        <p:spPr>
          <a:xfrm>
            <a:off x="3657600" y="5577840"/>
            <a:ext cx="2743200" cy="731400"/>
          </a:xfrm>
          <a:prstGeom prst="rect">
            <a:avLst/>
          </a:prstGeom>
          <a:solidFill>
            <a:srgbClr val="F59E0B"/>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40" name="Google Shape;340;g3d9e588f0ee_1_253"/>
          <p:cNvSpPr/>
          <p:nvPr/>
        </p:nvSpPr>
        <p:spPr>
          <a:xfrm>
            <a:off x="3657600" y="5577840"/>
            <a:ext cx="27432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600–849: WARN</a:t>
            </a:r>
            <a:endParaRPr b="0" i="0" sz="2600" u="none" cap="none" strike="noStrike">
              <a:solidFill>
                <a:schemeClr val="dk1"/>
              </a:solidFill>
              <a:latin typeface="Calibri"/>
              <a:ea typeface="Calibri"/>
              <a:cs typeface="Calibri"/>
              <a:sym typeface="Calibri"/>
            </a:endParaRPr>
          </a:p>
        </p:txBody>
      </p:sp>
      <p:sp>
        <p:nvSpPr>
          <p:cNvPr id="341" name="Google Shape;341;g3d9e588f0ee_1_253"/>
          <p:cNvSpPr/>
          <p:nvPr/>
        </p:nvSpPr>
        <p:spPr>
          <a:xfrm>
            <a:off x="6583680" y="5577840"/>
            <a:ext cx="2377200" cy="731400"/>
          </a:xfrm>
          <a:prstGeom prst="rect">
            <a:avLst/>
          </a:prstGeom>
          <a:solidFill>
            <a:srgbClr val="EF444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42" name="Google Shape;342;g3d9e588f0ee_1_253"/>
          <p:cNvSpPr/>
          <p:nvPr/>
        </p:nvSpPr>
        <p:spPr>
          <a:xfrm>
            <a:off x="6583680" y="5577840"/>
            <a:ext cx="23772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 850: CRIT</a:t>
            </a:r>
            <a:endParaRPr b="0" i="0" sz="2600" u="none" cap="none" strike="noStrike">
              <a:solidFill>
                <a:schemeClr val="dk1"/>
              </a:solidFill>
              <a:latin typeface="Calibri"/>
              <a:ea typeface="Calibri"/>
              <a:cs typeface="Calibri"/>
              <a:sym typeface="Calibri"/>
            </a:endParaRPr>
          </a:p>
        </p:txBody>
      </p:sp>
      <p:cxnSp>
        <p:nvCxnSpPr>
          <p:cNvPr id="343" name="Google Shape;343;g3d9e588f0ee_1_253"/>
          <p:cNvCxnSpPr/>
          <p:nvPr/>
        </p:nvCxnSpPr>
        <p:spPr>
          <a:xfrm>
            <a:off x="4754880" y="6400800"/>
            <a:ext cx="0" cy="457200"/>
          </a:xfrm>
          <a:prstGeom prst="straightConnector1">
            <a:avLst/>
          </a:prstGeom>
          <a:noFill/>
          <a:ln cap="flat" cmpd="sng" w="25400">
            <a:solidFill>
              <a:srgbClr val="6B7B8D"/>
            </a:solidFill>
            <a:prstDash val="solid"/>
            <a:round/>
            <a:headEnd len="sm" w="sm" type="none"/>
            <a:tailEnd len="sm" w="sm" type="none"/>
          </a:ln>
        </p:spPr>
      </p:cxnSp>
      <p:sp>
        <p:nvSpPr>
          <p:cNvPr id="344" name="Google Shape;344;g3d9e588f0ee_1_253"/>
          <p:cNvSpPr/>
          <p:nvPr/>
        </p:nvSpPr>
        <p:spPr>
          <a:xfrm>
            <a:off x="2194550" y="6812276"/>
            <a:ext cx="5120400" cy="8235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45" name="Google Shape;345;g3d9e588f0ee_1_253"/>
          <p:cNvSpPr/>
          <p:nvPr/>
        </p:nvSpPr>
        <p:spPr>
          <a:xfrm>
            <a:off x="2194550" y="6812275"/>
            <a:ext cx="5120400" cy="82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lang="en-US" sz="2600">
                <a:solidFill>
                  <a:schemeClr val="lt1"/>
                </a:solidFill>
                <a:latin typeface="Calibri"/>
                <a:ea typeface="Calibri"/>
                <a:cs typeface="Calibri"/>
                <a:sym typeface="Calibri"/>
              </a:rPr>
              <a:t>Record duration each zone spends within thresholds</a:t>
            </a:r>
            <a:endParaRPr b="1" i="0" sz="2600" u="none" cap="none" strike="noStrike">
              <a:solidFill>
                <a:schemeClr val="lt1"/>
              </a:solidFill>
              <a:latin typeface="Calibri"/>
              <a:ea typeface="Calibri"/>
              <a:cs typeface="Calibri"/>
              <a:sym typeface="Calibri"/>
            </a:endParaRPr>
          </a:p>
        </p:txBody>
      </p:sp>
      <p:sp>
        <p:nvSpPr>
          <p:cNvPr id="346" name="Google Shape;346;g3d9e588f0ee_1_253"/>
          <p:cNvSpPr/>
          <p:nvPr/>
        </p:nvSpPr>
        <p:spPr>
          <a:xfrm>
            <a:off x="9692640" y="2103120"/>
            <a:ext cx="7863600" cy="6766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47" name="Google Shape;347;g3d9e588f0ee_1_253"/>
          <p:cNvSpPr/>
          <p:nvPr/>
        </p:nvSpPr>
        <p:spPr>
          <a:xfrm>
            <a:off x="10058400" y="2286000"/>
            <a:ext cx="7132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500" u="none" cap="none" strike="noStrike">
                <a:solidFill>
                  <a:srgbClr val="1C2D3F"/>
                </a:solidFill>
                <a:latin typeface="Georgia"/>
                <a:ea typeface="Georgia"/>
                <a:cs typeface="Georgia"/>
                <a:sym typeface="Georgia"/>
              </a:rPr>
              <a:t>iOS Companion App</a:t>
            </a:r>
            <a:endParaRPr b="0" i="0" sz="3500" u="none" cap="none" strike="noStrike">
              <a:solidFill>
                <a:schemeClr val="dk1"/>
              </a:solidFill>
              <a:latin typeface="Calibri"/>
              <a:ea typeface="Calibri"/>
              <a:cs typeface="Calibri"/>
              <a:sym typeface="Calibri"/>
            </a:endParaRPr>
          </a:p>
        </p:txBody>
      </p:sp>
      <p:sp>
        <p:nvSpPr>
          <p:cNvPr id="348" name="Google Shape;348;g3d9e588f0ee_1_253"/>
          <p:cNvSpPr/>
          <p:nvPr/>
        </p:nvSpPr>
        <p:spPr>
          <a:xfrm>
            <a:off x="10241275" y="3108950"/>
            <a:ext cx="7132200" cy="5665800"/>
          </a:xfrm>
          <a:prstGeom prst="rect">
            <a:avLst/>
          </a:prstGeom>
          <a:noFill/>
          <a:ln>
            <a:noFill/>
          </a:ln>
        </p:spPr>
        <p:txBody>
          <a:bodyPr anchorCtr="0" anchor="t" bIns="91400" lIns="182850" spcFirstLastPara="1" rIns="182850" wrap="square" tIns="91400">
            <a:noAutofit/>
          </a:bodyPr>
          <a:lstStyle/>
          <a:p>
            <a:pPr indent="-749300" lvl="0" marL="685800" marR="0" rtl="0" algn="l">
              <a:spcBef>
                <a:spcPts val="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Real-time 16-zone pressure heatmap</a:t>
            </a:r>
            <a:endParaRPr b="0" i="0" sz="3000" u="none" cap="none" strike="noStrike">
              <a:solidFill>
                <a:schemeClr val="dk1"/>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Zone bar charts with threshold markers</a:t>
            </a:r>
            <a:endParaRPr b="0" i="0" sz="3000" u="none" cap="none" strike="noStrike">
              <a:solidFill>
                <a:srgbClr val="1C2D3F"/>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lang="en-US" sz="3000">
                <a:solidFill>
                  <a:srgbClr val="1C2D3F"/>
                </a:solidFill>
                <a:latin typeface="Calibri"/>
                <a:ea typeface="Calibri"/>
                <a:cs typeface="Calibri"/>
                <a:sym typeface="Calibri"/>
              </a:rPr>
              <a:t>Duration each zone spends within a threshold recorded</a:t>
            </a:r>
            <a:endParaRPr sz="3000">
              <a:solidFill>
                <a:srgbClr val="1C2D3F"/>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Gait metrics: steps, cadence, stance</a:t>
            </a:r>
            <a:endParaRPr b="0" i="0" sz="3000" u="none" cap="none" strike="noStrike">
              <a:solidFill>
                <a:schemeClr val="dk1"/>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Ambient temperature &amp; humidity display</a:t>
            </a:r>
            <a:endParaRPr b="0" i="0" sz="3000" u="none" cap="none" strike="noStrike">
              <a:solidFill>
                <a:schemeClr val="dk1"/>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WARN/CRITICAL alert banners + haptic</a:t>
            </a:r>
            <a:endParaRPr b="0" i="0" sz="3000" u="none" cap="none" strike="noStrike">
              <a:solidFill>
                <a:schemeClr val="dk1"/>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Connection status &amp; battery monitoring</a:t>
            </a:r>
            <a:endParaRPr b="0" i="0" sz="3000" u="none" cap="none" strike="noStrike">
              <a:solidFill>
                <a:schemeClr val="dk1"/>
              </a:solidFill>
              <a:latin typeface="Calibri"/>
              <a:ea typeface="Calibri"/>
              <a:cs typeface="Calibri"/>
              <a:sym typeface="Calibri"/>
            </a:endParaRPr>
          </a:p>
          <a:p>
            <a:pPr indent="-749300" lvl="0" marL="685800" marR="0" rtl="0" algn="l">
              <a:spcBef>
                <a:spcPts val="600"/>
              </a:spcBef>
              <a:spcAft>
                <a:spcPts val="0"/>
              </a:spcAft>
              <a:buClr>
                <a:srgbClr val="1C2D3F"/>
              </a:buClr>
              <a:buSzPts val="3000"/>
              <a:buFont typeface="Calibri"/>
              <a:buChar char="•"/>
            </a:pPr>
            <a:r>
              <a:rPr b="0" i="0" lang="en-US" sz="3000" u="none" cap="none" strike="noStrike">
                <a:solidFill>
                  <a:srgbClr val="1C2D3F"/>
                </a:solidFill>
                <a:latin typeface="Calibri"/>
                <a:ea typeface="Calibri"/>
                <a:cs typeface="Calibri"/>
                <a:sym typeface="Calibri"/>
              </a:rPr>
              <a:t>SwiftUI + CoreBluetooth framework</a:t>
            </a:r>
            <a:endParaRPr b="0" i="0" sz="3000" u="none" cap="none" strike="noStrike">
              <a:solidFill>
                <a:schemeClr val="dk1"/>
              </a:solidFill>
              <a:latin typeface="Calibri"/>
              <a:ea typeface="Calibri"/>
              <a:cs typeface="Calibri"/>
              <a:sym typeface="Calibri"/>
            </a:endParaRPr>
          </a:p>
        </p:txBody>
      </p:sp>
      <p:sp>
        <p:nvSpPr>
          <p:cNvPr id="349" name="Google Shape;349;g3d9e588f0ee_1_253"/>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50" name="Google Shape;350;g3d9e588f0ee_1_253"/>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Nwachukwu Anene</a:t>
            </a:r>
            <a:endParaRPr b="0" i="0" sz="1800" u="none" cap="none" strike="noStrike">
              <a:solidFill>
                <a:schemeClr val="dk1"/>
              </a:solidFill>
              <a:latin typeface="Calibri"/>
              <a:ea typeface="Calibri"/>
              <a:cs typeface="Calibri"/>
              <a:sym typeface="Calibri"/>
            </a:endParaRPr>
          </a:p>
        </p:txBody>
      </p:sp>
      <p:sp>
        <p:nvSpPr>
          <p:cNvPr id="351" name="Google Shape;351;g3d9e588f0ee_1_253"/>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
        <p:nvSpPr>
          <p:cNvPr id="352" name="Google Shape;352;g3d9e588f0ee_1_253"/>
          <p:cNvSpPr/>
          <p:nvPr/>
        </p:nvSpPr>
        <p:spPr>
          <a:xfrm>
            <a:off x="2194685" y="7863940"/>
            <a:ext cx="5120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Transmit via BLE to iOS app</a:t>
            </a:r>
            <a:endParaRPr b="0" i="0" sz="2600" u="none" cap="none" strike="noStrike">
              <a:solidFill>
                <a:schemeClr val="dk1"/>
              </a:solidFill>
              <a:latin typeface="Calibri"/>
              <a:ea typeface="Calibri"/>
              <a:cs typeface="Calibri"/>
              <a:sym typeface="Calibri"/>
            </a:endParaRPr>
          </a:p>
        </p:txBody>
      </p:sp>
      <p:sp>
        <p:nvSpPr>
          <p:cNvPr id="353" name="Google Shape;353;g3d9e588f0ee_1_253"/>
          <p:cNvSpPr/>
          <p:nvPr/>
        </p:nvSpPr>
        <p:spPr>
          <a:xfrm>
            <a:off x="2194560" y="7863940"/>
            <a:ext cx="5120400" cy="7314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lt1"/>
              </a:buClr>
              <a:buSzPts val="1700"/>
              <a:buFont typeface="Calibri"/>
              <a:buNone/>
            </a:pPr>
            <a:r>
              <a:rPr b="1" lang="en-US" sz="2600">
                <a:solidFill>
                  <a:schemeClr val="lt1"/>
                </a:solidFill>
                <a:latin typeface="Calibri"/>
                <a:ea typeface="Calibri"/>
                <a:cs typeface="Calibri"/>
                <a:sym typeface="Calibri"/>
              </a:rPr>
              <a:t>Transmit via BLE to iOS app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358" name="Shape 358"/>
        <p:cNvGrpSpPr/>
        <p:nvPr/>
      </p:nvGrpSpPr>
      <p:grpSpPr>
        <a:xfrm>
          <a:off x="0" y="0"/>
          <a:ext cx="0" cy="0"/>
          <a:chOff x="0" y="0"/>
          <a:chExt cx="0" cy="0"/>
        </a:xfrm>
      </p:grpSpPr>
      <p:sp>
        <p:nvSpPr>
          <p:cNvPr id="359" name="Google Shape;359;g3d9e588f0ee_1_284"/>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60" name="Google Shape;360;g3d9e588f0ee_1_284"/>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61" name="Google Shape;361;g3d9e588f0ee_1_284"/>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Acceptance Criteria</a:t>
            </a:r>
            <a:endParaRPr b="0" i="0" sz="4400" u="none" cap="none" strike="noStrike">
              <a:solidFill>
                <a:schemeClr val="dk1"/>
              </a:solidFill>
              <a:latin typeface="Calibri"/>
              <a:ea typeface="Calibri"/>
              <a:cs typeface="Calibri"/>
              <a:sym typeface="Calibri"/>
            </a:endParaRPr>
          </a:p>
        </p:txBody>
      </p:sp>
      <p:sp>
        <p:nvSpPr>
          <p:cNvPr id="362" name="Google Shape;362;g3d9e588f0ee_1_284"/>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1.2b — Per-component and integrated system verification</a:t>
            </a:r>
            <a:endParaRPr b="0" i="0" sz="2200" u="none" cap="none" strike="noStrike">
              <a:solidFill>
                <a:schemeClr val="dk1"/>
              </a:solidFill>
              <a:latin typeface="Calibri"/>
              <a:ea typeface="Calibri"/>
              <a:cs typeface="Calibri"/>
              <a:sym typeface="Calibri"/>
            </a:endParaRPr>
          </a:p>
        </p:txBody>
      </p:sp>
      <p:graphicFrame>
        <p:nvGraphicFramePr>
          <p:cNvPr id="363" name="Google Shape;363;g3d9e588f0ee_1_284"/>
          <p:cNvGraphicFramePr/>
          <p:nvPr/>
        </p:nvGraphicFramePr>
        <p:xfrm>
          <a:off x="548640" y="2011680"/>
          <a:ext cx="3000000" cy="3000000"/>
        </p:xfrm>
        <a:graphic>
          <a:graphicData uri="http://schemas.openxmlformats.org/drawingml/2006/table">
            <a:tbl>
              <a:tblPr>
                <a:noFill/>
                <a:tableStyleId>{1D228925-EC50-4E52-8A8C-EF4C7BB9DE8A}</a:tableStyleId>
              </a:tblPr>
              <a:tblGrid>
                <a:gridCol w="3291850"/>
                <a:gridCol w="3291850"/>
                <a:gridCol w="5486400"/>
                <a:gridCol w="5120650"/>
              </a:tblGrid>
              <a:tr h="215900">
                <a:tc>
                  <a:txBody>
                    <a:bodyPr/>
                    <a:lstStyle/>
                    <a:p>
                      <a:pPr indent="0" lvl="0" marL="0" marR="0" rtl="0" algn="l">
                        <a:spcBef>
                          <a:spcPts val="0"/>
                        </a:spcBef>
                        <a:spcAft>
                          <a:spcPts val="0"/>
                        </a:spcAft>
                        <a:buClr>
                          <a:srgbClr val="FFFFFF"/>
                        </a:buClr>
                        <a:buSzPts val="1700"/>
                        <a:buFont typeface="Calibri"/>
                        <a:buNone/>
                      </a:pPr>
                      <a:r>
                        <a:rPr b="1" lang="en-US" sz="2600" u="none" cap="none" strike="noStrike">
                          <a:solidFill>
                            <a:srgbClr val="FFFFFF"/>
                          </a:solidFill>
                          <a:latin typeface="Calibri"/>
                          <a:ea typeface="Calibri"/>
                          <a:cs typeface="Calibri"/>
                          <a:sym typeface="Calibri"/>
                        </a:rPr>
                        <a:t>Component</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700"/>
                        <a:buFont typeface="Calibri"/>
                        <a:buNone/>
                      </a:pPr>
                      <a:r>
                        <a:rPr b="1" lang="en-US" sz="2600" u="none" cap="none" strike="noStrike">
                          <a:solidFill>
                            <a:srgbClr val="FFFFFF"/>
                          </a:solidFill>
                          <a:latin typeface="Calibri"/>
                          <a:ea typeface="Calibri"/>
                          <a:cs typeface="Calibri"/>
                          <a:sym typeface="Calibri"/>
                        </a:rPr>
                        <a:t>Test</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700"/>
                        <a:buFont typeface="Calibri"/>
                        <a:buNone/>
                      </a:pPr>
                      <a:r>
                        <a:rPr b="1" lang="en-US" sz="2600" u="none" cap="none" strike="noStrike">
                          <a:solidFill>
                            <a:srgbClr val="FFFFFF"/>
                          </a:solidFill>
                          <a:latin typeface="Calibri"/>
                          <a:ea typeface="Calibri"/>
                          <a:cs typeface="Calibri"/>
                          <a:sym typeface="Calibri"/>
                        </a:rPr>
                        <a:t>Pass Criteria</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700"/>
                        <a:buFont typeface="Calibri"/>
                        <a:buNone/>
                      </a:pPr>
                      <a:r>
                        <a:rPr b="1" lang="en-US" sz="2600" u="none" cap="none" strike="noStrike">
                          <a:solidFill>
                            <a:srgbClr val="FFFFFF"/>
                          </a:solidFill>
                          <a:latin typeface="Calibri"/>
                          <a:ea typeface="Calibri"/>
                          <a:cs typeface="Calibri"/>
                          <a:sym typeface="Calibri"/>
                        </a:rPr>
                        <a:t>Result</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Arduino Nano 33 BLE</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Power-on self-test</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Board ID + BLE MAC within 5s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CD74HC4067 Mux</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Channel isolation</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&lt;5 ADC unloaded, no cross-talk</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FSR Array (16 zones)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Response linearity</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Monotonic, R² &gt; 0.90</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a:t>
                      </a:r>
                      <a:r>
                        <a:rPr lang="en-US" sz="2600">
                          <a:latin typeface="Calibri"/>
                          <a:ea typeface="Calibri"/>
                          <a:cs typeface="Calibri"/>
                          <a:sym typeface="Calibri"/>
                        </a:rPr>
                        <a:t>To Be Tested</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BMI270 Accel</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6-position static cal</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±1g (±0.05g)</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BMI270 Gyro</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Zero-rate bias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&lt;±0.5 dps stationary 30s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HS300x Temp</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Reference comparison</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±0.5°C vs calibrated</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BLE Link</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Connection test</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a:latin typeface="Calibri"/>
                          <a:ea typeface="Calibri"/>
                          <a:cs typeface="Calibri"/>
                          <a:sym typeface="Calibri"/>
                        </a:rPr>
                        <a:t>C</a:t>
                      </a:r>
                      <a:r>
                        <a:rPr lang="en-US" sz="2600" u="none" cap="none" strike="noStrike">
                          <a:solidFill>
                            <a:srgbClr val="000000"/>
                          </a:solidFill>
                          <a:latin typeface="Calibri"/>
                          <a:ea typeface="Calibri"/>
                          <a:cs typeface="Calibri"/>
                          <a:sym typeface="Calibri"/>
                        </a:rPr>
                        <a:t>onnect &lt;10s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Alert System</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Threshold trigger</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WARN &lt;1s, CRITICAL &lt;1s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Pass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Full System</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2-min walk test</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Continuous data, no dropouts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 </a:t>
                      </a:r>
                      <a:r>
                        <a:rPr lang="en-US" sz="2600">
                          <a:solidFill>
                            <a:schemeClr val="dk1"/>
                          </a:solidFill>
                          <a:latin typeface="Calibri"/>
                          <a:ea typeface="Calibri"/>
                          <a:cs typeface="Calibri"/>
                          <a:sym typeface="Calibri"/>
                        </a:rPr>
                        <a:t>To Be Tested/Improved</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15900">
                <a:tc>
                  <a:txBody>
                    <a:bodyPr/>
                    <a:lstStyle/>
                    <a:p>
                      <a:pPr indent="0" lvl="0" marL="0" marR="0" rtl="0" algn="l">
                        <a:spcBef>
                          <a:spcPts val="0"/>
                        </a:spcBef>
                        <a:spcAft>
                          <a:spcPts val="0"/>
                        </a:spcAft>
                        <a:buClr>
                          <a:srgbClr val="EF4444"/>
                        </a:buClr>
                        <a:buSzPts val="1700"/>
                        <a:buFont typeface="Calibri"/>
                        <a:buNone/>
                      </a:pPr>
                      <a:r>
                        <a:rPr lang="en-US" sz="2600" u="none" cap="none" strike="noStrike">
                          <a:solidFill>
                            <a:srgbClr val="EF4444"/>
                          </a:solidFill>
                          <a:latin typeface="Calibri"/>
                          <a:ea typeface="Calibri"/>
                          <a:cs typeface="Calibri"/>
                          <a:sym typeface="Calibri"/>
                        </a:rPr>
                        <a:t>BMM150 Magneto</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I2C read</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700"/>
                        <a:buFont typeface="Calibri"/>
                        <a:buNone/>
                      </a:pPr>
                      <a:r>
                        <a:rPr lang="en-US" sz="2600" u="none" cap="none" strike="noStrike">
                          <a:solidFill>
                            <a:srgbClr val="000000"/>
                          </a:solidFill>
                          <a:latin typeface="Calibri"/>
                          <a:ea typeface="Calibri"/>
                          <a:cs typeface="Calibri"/>
                          <a:sym typeface="Calibri"/>
                        </a:rPr>
                        <a:t>Valid axis readings</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EF4444"/>
                        </a:buClr>
                        <a:buSzPts val="1700"/>
                        <a:buFont typeface="Calibri"/>
                        <a:buNone/>
                      </a:pPr>
                      <a:r>
                        <a:rPr b="1" lang="en-US" sz="2600" u="none" cap="none" strike="noStrike">
                          <a:solidFill>
                            <a:srgbClr val="EF4444"/>
                          </a:solidFill>
                          <a:latin typeface="Calibri"/>
                          <a:ea typeface="Calibri"/>
                          <a:cs typeface="Calibri"/>
                          <a:sym typeface="Calibri"/>
                        </a:rPr>
                        <a:t>✗ </a:t>
                      </a:r>
                      <a:r>
                        <a:rPr b="1" lang="en-US" sz="2600">
                          <a:solidFill>
                            <a:srgbClr val="EF4444"/>
                          </a:solidFill>
                          <a:latin typeface="Calibri"/>
                          <a:ea typeface="Calibri"/>
                          <a:cs typeface="Calibri"/>
                          <a:sym typeface="Calibri"/>
                        </a:rPr>
                        <a:t>Not Included</a:t>
                      </a:r>
                      <a:endParaRPr sz="26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bl>
          </a:graphicData>
        </a:graphic>
      </p:graphicFrame>
      <p:sp>
        <p:nvSpPr>
          <p:cNvPr id="364" name="Google Shape;364;g3d9e588f0ee_1_284"/>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65" name="Google Shape;365;g3d9e588f0ee_1_284"/>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Pouya Behdinan</a:t>
            </a:r>
            <a:endParaRPr b="0" i="0" sz="1800" u="none" cap="none" strike="noStrike">
              <a:solidFill>
                <a:schemeClr val="dk1"/>
              </a:solidFill>
              <a:latin typeface="Calibri"/>
              <a:ea typeface="Calibri"/>
              <a:cs typeface="Calibri"/>
              <a:sym typeface="Calibri"/>
            </a:endParaRPr>
          </a:p>
        </p:txBody>
      </p:sp>
      <p:sp>
        <p:nvSpPr>
          <p:cNvPr id="366" name="Google Shape;366;g3d9e588f0ee_1_284"/>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371" name="Shape 371"/>
        <p:cNvGrpSpPr/>
        <p:nvPr/>
      </p:nvGrpSpPr>
      <p:grpSpPr>
        <a:xfrm>
          <a:off x="0" y="0"/>
          <a:ext cx="0" cy="0"/>
          <a:chOff x="0" y="0"/>
          <a:chExt cx="0" cy="0"/>
        </a:xfrm>
      </p:grpSpPr>
      <p:sp>
        <p:nvSpPr>
          <p:cNvPr id="372" name="Google Shape;372;g3d9e588f0ee_1_296"/>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3" name="Google Shape;373;g3d9e588f0ee_1_296"/>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4" name="Google Shape;374;g3d9e588f0ee_1_296"/>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Test Plan &amp; Calibration Methods</a:t>
            </a:r>
            <a:endParaRPr b="0" i="0" sz="4400" u="none" cap="none" strike="noStrike">
              <a:solidFill>
                <a:schemeClr val="dk1"/>
              </a:solidFill>
              <a:latin typeface="Calibri"/>
              <a:ea typeface="Calibri"/>
              <a:cs typeface="Calibri"/>
              <a:sym typeface="Calibri"/>
            </a:endParaRPr>
          </a:p>
        </p:txBody>
      </p:sp>
      <p:sp>
        <p:nvSpPr>
          <p:cNvPr id="375" name="Google Shape;375;g3d9e588f0ee_1_296"/>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1.2b — Verification sequence and calibration approach</a:t>
            </a:r>
            <a:endParaRPr b="0" i="0" sz="2200" u="none" cap="none" strike="noStrike">
              <a:solidFill>
                <a:schemeClr val="dk1"/>
              </a:solidFill>
              <a:latin typeface="Calibri"/>
              <a:ea typeface="Calibri"/>
              <a:cs typeface="Calibri"/>
              <a:sym typeface="Calibri"/>
            </a:endParaRPr>
          </a:p>
        </p:txBody>
      </p:sp>
      <p:sp>
        <p:nvSpPr>
          <p:cNvPr id="376" name="Google Shape;376;g3d9e588f0ee_1_296"/>
          <p:cNvSpPr/>
          <p:nvPr/>
        </p:nvSpPr>
        <p:spPr>
          <a:xfrm>
            <a:off x="731520" y="2103120"/>
            <a:ext cx="8046600" cy="6766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377" name="Google Shape;377;g3d9e588f0ee_1_296"/>
          <p:cNvSpPr/>
          <p:nvPr/>
        </p:nvSpPr>
        <p:spPr>
          <a:xfrm>
            <a:off x="731520" y="2103120"/>
            <a:ext cx="8046600" cy="91200"/>
          </a:xfrm>
          <a:prstGeom prst="rect">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8" name="Google Shape;378;g3d9e588f0ee_1_296"/>
          <p:cNvSpPr/>
          <p:nvPr/>
        </p:nvSpPr>
        <p:spPr>
          <a:xfrm>
            <a:off x="1097280" y="2468880"/>
            <a:ext cx="7315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Integration Verification</a:t>
            </a:r>
            <a:endParaRPr b="0" i="0" sz="3100" u="none" cap="none" strike="noStrike">
              <a:solidFill>
                <a:schemeClr val="dk1"/>
              </a:solidFill>
              <a:latin typeface="Calibri"/>
              <a:ea typeface="Calibri"/>
              <a:cs typeface="Calibri"/>
              <a:sym typeface="Calibri"/>
            </a:endParaRPr>
          </a:p>
        </p:txBody>
      </p:sp>
      <p:sp>
        <p:nvSpPr>
          <p:cNvPr id="379" name="Google Shape;379;g3d9e588f0ee_1_296"/>
          <p:cNvSpPr/>
          <p:nvPr/>
        </p:nvSpPr>
        <p:spPr>
          <a:xfrm>
            <a:off x="1097275" y="3200400"/>
            <a:ext cx="7770900" cy="5669400"/>
          </a:xfrm>
          <a:prstGeom prst="rect">
            <a:avLst/>
          </a:prstGeom>
          <a:noFill/>
          <a:ln>
            <a:noFill/>
          </a:ln>
        </p:spPr>
        <p:txBody>
          <a:bodyPr anchorCtr="0" anchor="t" bIns="91400" lIns="182850" spcFirstLastPara="1" rIns="182850" wrap="square" tIns="91400">
            <a:noAutofit/>
          </a:bodyPr>
          <a:lstStyle/>
          <a:p>
            <a:pPr indent="0" lvl="0" marL="0" marR="0" rtl="0" algn="l">
              <a:lnSpc>
                <a:spcPct val="115000"/>
              </a:lnSpc>
              <a:spcBef>
                <a:spcPts val="0"/>
              </a:spcBef>
              <a:spcAft>
                <a:spcPts val="0"/>
              </a:spcAft>
              <a:buClr>
                <a:srgbClr val="13778E"/>
              </a:buClr>
              <a:buSzPts val="2000"/>
              <a:buFont typeface="Calibri"/>
              <a:buNone/>
            </a:pPr>
            <a:r>
              <a:rPr b="1" i="0" lang="en-US" sz="2700" u="none" cap="none" strike="noStrike">
                <a:solidFill>
                  <a:srgbClr val="13778E"/>
                </a:solidFill>
                <a:latin typeface="Calibri"/>
                <a:ea typeface="Calibri"/>
                <a:cs typeface="Calibri"/>
                <a:sym typeface="Calibri"/>
              </a:rPr>
              <a:t>Stage 1 — Breadboard</a:t>
            </a:r>
            <a:endParaRPr b="0" i="0" sz="2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C2D3F"/>
              </a:buClr>
              <a:buSzPts val="1800"/>
              <a:buFont typeface="Calibri"/>
              <a:buNone/>
            </a:pPr>
            <a:r>
              <a:rPr lang="en-US" sz="2500">
                <a:solidFill>
                  <a:srgbClr val="1C2D3F"/>
                </a:solidFill>
                <a:latin typeface="Calibri"/>
                <a:ea typeface="Calibri"/>
                <a:cs typeface="Calibri"/>
                <a:sym typeface="Calibri"/>
              </a:rPr>
              <a:t>Tested Arduino - IMU (accel and gyro), Temp, and Humidty</a:t>
            </a:r>
            <a:endParaRPr sz="2500">
              <a:solidFill>
                <a:srgbClr val="1C2D3F"/>
              </a:solidFill>
              <a:latin typeface="Calibri"/>
              <a:ea typeface="Calibri"/>
              <a:cs typeface="Calibri"/>
              <a:sym typeface="Calibri"/>
            </a:endParaRPr>
          </a:p>
          <a:p>
            <a:pPr indent="0" lvl="0" marL="0" marR="0" rtl="0" algn="l">
              <a:lnSpc>
                <a:spcPct val="115000"/>
              </a:lnSpc>
              <a:spcBef>
                <a:spcPts val="0"/>
              </a:spcBef>
              <a:spcAft>
                <a:spcPts val="0"/>
              </a:spcAft>
              <a:buClr>
                <a:srgbClr val="1C2D3F"/>
              </a:buClr>
              <a:buSzPts val="1800"/>
              <a:buFont typeface="Calibri"/>
              <a:buNone/>
            </a:pPr>
            <a:r>
              <a:rPr b="0" i="0" lang="en-US" sz="2500" u="none" cap="none" strike="noStrike">
                <a:solidFill>
                  <a:srgbClr val="1C2D3F"/>
                </a:solidFill>
                <a:latin typeface="Calibri"/>
                <a:ea typeface="Calibri"/>
                <a:cs typeface="Calibri"/>
                <a:sym typeface="Calibri"/>
              </a:rPr>
              <a:t>Arduino + MUX + FSR on breadboard. MuxPressureTest sketch confirms 16 independent channels with 10kΩ pull-downs. NeuroFoot_BLE sketch verifies iOS app receives all 4 BLE characteristics.</a:t>
            </a:r>
            <a:endParaRPr b="0" i="0" sz="2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3778E"/>
              </a:buClr>
              <a:buSzPts val="2000"/>
              <a:buFont typeface="Calibri"/>
              <a:buNone/>
            </a:pPr>
            <a:r>
              <a:rPr b="1" i="0" lang="en-US" sz="2700" u="none" cap="none" strike="noStrike">
                <a:solidFill>
                  <a:srgbClr val="13778E"/>
                </a:solidFill>
                <a:latin typeface="Calibri"/>
                <a:ea typeface="Calibri"/>
                <a:cs typeface="Calibri"/>
                <a:sym typeface="Calibri"/>
              </a:rPr>
              <a:t>Stage 2 — Sandal Assembly</a:t>
            </a:r>
            <a:endParaRPr b="0" i="0" sz="2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C2D3F"/>
              </a:buClr>
              <a:buSzPts val="1800"/>
              <a:buFont typeface="Calibri"/>
              <a:buNone/>
            </a:pPr>
            <a:r>
              <a:rPr b="0" i="0" lang="en-US" sz="2500" u="none" cap="none" strike="noStrike">
                <a:solidFill>
                  <a:srgbClr val="1C2D3F"/>
                </a:solidFill>
                <a:latin typeface="Calibri"/>
                <a:ea typeface="Calibri"/>
                <a:cs typeface="Calibri"/>
                <a:sym typeface="Calibri"/>
              </a:rPr>
              <a:t>Transfer to sandal form factor. Arduino secured between EVA layers. FPC breakout connected via ribbon cable. Full walk test verifies no signal degradation, loose connections, or BLE range issues.</a:t>
            </a:r>
            <a:endParaRPr b="0" i="0" sz="2700" u="none" cap="none" strike="noStrike">
              <a:solidFill>
                <a:schemeClr val="dk1"/>
              </a:solidFill>
              <a:latin typeface="Calibri"/>
              <a:ea typeface="Calibri"/>
              <a:cs typeface="Calibri"/>
              <a:sym typeface="Calibri"/>
            </a:endParaRPr>
          </a:p>
        </p:txBody>
      </p:sp>
      <p:sp>
        <p:nvSpPr>
          <p:cNvPr id="380" name="Google Shape;380;g3d9e588f0ee_1_296"/>
          <p:cNvSpPr/>
          <p:nvPr/>
        </p:nvSpPr>
        <p:spPr>
          <a:xfrm>
            <a:off x="9326880" y="2103120"/>
            <a:ext cx="8229600" cy="6766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100"/>
          </a:p>
        </p:txBody>
      </p:sp>
      <p:sp>
        <p:nvSpPr>
          <p:cNvPr id="381" name="Google Shape;381;g3d9e588f0ee_1_296"/>
          <p:cNvSpPr/>
          <p:nvPr/>
        </p:nvSpPr>
        <p:spPr>
          <a:xfrm>
            <a:off x="9326880" y="2103120"/>
            <a:ext cx="8229600" cy="91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82" name="Google Shape;382;g3d9e588f0ee_1_296"/>
          <p:cNvSpPr/>
          <p:nvPr/>
        </p:nvSpPr>
        <p:spPr>
          <a:xfrm>
            <a:off x="9692640" y="2468880"/>
            <a:ext cx="7498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400"/>
              <a:buFont typeface="Georgia"/>
              <a:buNone/>
            </a:pPr>
            <a:r>
              <a:rPr b="1" i="0" lang="en-US" sz="3100" u="none" cap="none" strike="noStrike">
                <a:solidFill>
                  <a:srgbClr val="1C2D3F"/>
                </a:solidFill>
                <a:latin typeface="Georgia"/>
                <a:ea typeface="Georgia"/>
                <a:cs typeface="Georgia"/>
                <a:sym typeface="Georgia"/>
              </a:rPr>
              <a:t>Calibration Methods</a:t>
            </a:r>
            <a:endParaRPr b="0" i="0" sz="3100" u="none" cap="none" strike="noStrike">
              <a:solidFill>
                <a:schemeClr val="dk1"/>
              </a:solidFill>
              <a:latin typeface="Calibri"/>
              <a:ea typeface="Calibri"/>
              <a:cs typeface="Calibri"/>
              <a:sym typeface="Calibri"/>
            </a:endParaRPr>
          </a:p>
        </p:txBody>
      </p:sp>
      <p:sp>
        <p:nvSpPr>
          <p:cNvPr id="383" name="Google Shape;383;g3d9e588f0ee_1_296"/>
          <p:cNvSpPr/>
          <p:nvPr/>
        </p:nvSpPr>
        <p:spPr>
          <a:xfrm>
            <a:off x="9875520" y="3200400"/>
            <a:ext cx="7315200" cy="5303400"/>
          </a:xfrm>
          <a:prstGeom prst="rect">
            <a:avLst/>
          </a:prstGeom>
          <a:noFill/>
          <a:ln>
            <a:noFill/>
          </a:ln>
        </p:spPr>
        <p:txBody>
          <a:bodyPr anchorCtr="0" anchor="t" bIns="91400" lIns="182850" spcFirstLastPara="1" rIns="182850" wrap="square" tIns="91400">
            <a:noAutofit/>
          </a:bodyPr>
          <a:lstStyle/>
          <a:p>
            <a:pPr indent="-730250" lvl="0" marL="685800" marR="0" rtl="0" algn="l">
              <a:spcBef>
                <a:spcPts val="0"/>
              </a:spcBef>
              <a:spcAft>
                <a:spcPts val="0"/>
              </a:spcAft>
              <a:buClr>
                <a:srgbClr val="1C2D3F"/>
              </a:buClr>
              <a:buSzPts val="2500"/>
              <a:buFont typeface="Calibri"/>
              <a:buChar char="•"/>
            </a:pPr>
            <a:r>
              <a:rPr b="0" i="0" lang="en-US" sz="2500" u="none" cap="none" strike="noStrike">
                <a:solidFill>
                  <a:srgbClr val="1C2D3F"/>
                </a:solidFill>
                <a:latin typeface="Calibri"/>
                <a:ea typeface="Calibri"/>
                <a:cs typeface="Calibri"/>
                <a:sym typeface="Calibri"/>
              </a:rPr>
              <a:t>FSR: Calibrated weights (0, 5, 10, 20, 40 kg) on rigid surface, ADC vs load curve</a:t>
            </a:r>
            <a:endParaRPr b="0" i="0" sz="2500" u="none" cap="none" strike="noStrike">
              <a:solidFill>
                <a:schemeClr val="dk1"/>
              </a:solidFill>
              <a:latin typeface="Calibri"/>
              <a:ea typeface="Calibri"/>
              <a:cs typeface="Calibri"/>
              <a:sym typeface="Calibri"/>
            </a:endParaRPr>
          </a:p>
          <a:p>
            <a:pPr indent="-730250" lvl="0" marL="685800" marR="0" rtl="0" algn="l">
              <a:spcBef>
                <a:spcPts val="800"/>
              </a:spcBef>
              <a:spcAft>
                <a:spcPts val="0"/>
              </a:spcAft>
              <a:buClr>
                <a:srgbClr val="1C2D3F"/>
              </a:buClr>
              <a:buSzPts val="2500"/>
              <a:buFont typeface="Calibri"/>
              <a:buChar char="•"/>
            </a:pPr>
            <a:r>
              <a:rPr b="0" i="0" lang="en-US" sz="2500" u="none" cap="none" strike="noStrike">
                <a:solidFill>
                  <a:srgbClr val="1C2D3F"/>
                </a:solidFill>
                <a:latin typeface="Calibri"/>
                <a:ea typeface="Calibri"/>
                <a:cs typeface="Calibri"/>
                <a:sym typeface="Calibri"/>
              </a:rPr>
              <a:t>IMU Accel: 6-position static test, 100 samples per orientation, mean per axis</a:t>
            </a:r>
            <a:endParaRPr b="0" i="0" sz="2500" u="none" cap="none" strike="noStrike">
              <a:solidFill>
                <a:schemeClr val="dk1"/>
              </a:solidFill>
              <a:latin typeface="Calibri"/>
              <a:ea typeface="Calibri"/>
              <a:cs typeface="Calibri"/>
              <a:sym typeface="Calibri"/>
            </a:endParaRPr>
          </a:p>
          <a:p>
            <a:pPr indent="-730250" lvl="0" marL="685800" marR="0" rtl="0" algn="l">
              <a:spcBef>
                <a:spcPts val="800"/>
              </a:spcBef>
              <a:spcAft>
                <a:spcPts val="0"/>
              </a:spcAft>
              <a:buClr>
                <a:srgbClr val="1C2D3F"/>
              </a:buClr>
              <a:buSzPts val="2500"/>
              <a:buFont typeface="Calibri"/>
              <a:buChar char="•"/>
            </a:pPr>
            <a:r>
              <a:rPr b="0" i="0" lang="en-US" sz="2500" u="none" cap="none" strike="noStrike">
                <a:solidFill>
                  <a:srgbClr val="1C2D3F"/>
                </a:solidFill>
                <a:latin typeface="Calibri"/>
                <a:ea typeface="Calibri"/>
                <a:cs typeface="Calibri"/>
                <a:sym typeface="Calibri"/>
              </a:rPr>
              <a:t>IMU Gyro: Stationary 30s, 3000 samples at 100 Hz, compute zero-rate bias</a:t>
            </a:r>
            <a:endParaRPr b="0" i="0" sz="2500" u="none" cap="none" strike="noStrike">
              <a:solidFill>
                <a:schemeClr val="dk1"/>
              </a:solidFill>
              <a:latin typeface="Calibri"/>
              <a:ea typeface="Calibri"/>
              <a:cs typeface="Calibri"/>
              <a:sym typeface="Calibri"/>
            </a:endParaRPr>
          </a:p>
          <a:p>
            <a:pPr indent="-730250" lvl="0" marL="685800" marR="0" rtl="0" algn="l">
              <a:spcBef>
                <a:spcPts val="800"/>
              </a:spcBef>
              <a:spcAft>
                <a:spcPts val="0"/>
              </a:spcAft>
              <a:buClr>
                <a:srgbClr val="1C2D3F"/>
              </a:buClr>
              <a:buSzPts val="2500"/>
              <a:buFont typeface="Calibri"/>
              <a:buChar char="•"/>
            </a:pPr>
            <a:r>
              <a:rPr b="0" i="0" lang="en-US" sz="2500" u="none" cap="none" strike="noStrike">
                <a:solidFill>
                  <a:srgbClr val="1C2D3F"/>
                </a:solidFill>
                <a:latin typeface="Calibri"/>
                <a:ea typeface="Calibri"/>
                <a:cs typeface="Calibri"/>
                <a:sym typeface="Calibri"/>
              </a:rPr>
              <a:t>Temp: Side-by-side with NIST-traceable thermometer, 5-min stabilization</a:t>
            </a:r>
            <a:endParaRPr b="0" i="0" sz="2500" u="none" cap="none" strike="noStrike">
              <a:solidFill>
                <a:schemeClr val="dk1"/>
              </a:solidFill>
              <a:latin typeface="Calibri"/>
              <a:ea typeface="Calibri"/>
              <a:cs typeface="Calibri"/>
              <a:sym typeface="Calibri"/>
            </a:endParaRPr>
          </a:p>
          <a:p>
            <a:pPr indent="-730250" lvl="0" marL="685800" marR="0" rtl="0" algn="l">
              <a:spcBef>
                <a:spcPts val="800"/>
              </a:spcBef>
              <a:spcAft>
                <a:spcPts val="0"/>
              </a:spcAft>
              <a:buClr>
                <a:srgbClr val="1C2D3F"/>
              </a:buClr>
              <a:buSzPts val="2500"/>
              <a:buFont typeface="Calibri"/>
              <a:buChar char="•"/>
            </a:pPr>
            <a:r>
              <a:rPr b="0" i="0" lang="en-US" sz="2500" u="none" cap="none" strike="noStrike">
                <a:solidFill>
                  <a:srgbClr val="1C2D3F"/>
                </a:solidFill>
                <a:latin typeface="Calibri"/>
                <a:ea typeface="Calibri"/>
                <a:cs typeface="Calibri"/>
                <a:sym typeface="Calibri"/>
              </a:rPr>
              <a:t>Humidity: Side-by-side with calibrated hygrometer, 5-min stabilization</a:t>
            </a:r>
            <a:endParaRPr b="0" i="0" sz="2500" u="none" cap="none" strike="noStrike">
              <a:solidFill>
                <a:schemeClr val="dk1"/>
              </a:solidFill>
              <a:latin typeface="Calibri"/>
              <a:ea typeface="Calibri"/>
              <a:cs typeface="Calibri"/>
              <a:sym typeface="Calibri"/>
            </a:endParaRPr>
          </a:p>
          <a:p>
            <a:pPr indent="-730250" lvl="0" marL="685800" marR="0" rtl="0" algn="l">
              <a:spcBef>
                <a:spcPts val="800"/>
              </a:spcBef>
              <a:spcAft>
                <a:spcPts val="0"/>
              </a:spcAft>
              <a:buClr>
                <a:srgbClr val="1C2D3F"/>
              </a:buClr>
              <a:buSzPts val="2500"/>
              <a:buFont typeface="Calibri"/>
              <a:buChar char="•"/>
            </a:pPr>
            <a:r>
              <a:rPr b="0" i="0" lang="en-US" sz="2500" u="none" cap="none" strike="noStrike">
                <a:solidFill>
                  <a:srgbClr val="1C2D3F"/>
                </a:solidFill>
                <a:latin typeface="Calibri"/>
                <a:ea typeface="Calibri"/>
                <a:cs typeface="Calibri"/>
                <a:sym typeface="Calibri"/>
              </a:rPr>
              <a:t>BLE: Power-on to app data display timing, repeated 10× for consistency</a:t>
            </a:r>
            <a:endParaRPr b="0" i="0" sz="2500" u="none" cap="none" strike="noStrike">
              <a:solidFill>
                <a:schemeClr val="dk1"/>
              </a:solidFill>
              <a:latin typeface="Calibri"/>
              <a:ea typeface="Calibri"/>
              <a:cs typeface="Calibri"/>
              <a:sym typeface="Calibri"/>
            </a:endParaRPr>
          </a:p>
        </p:txBody>
      </p:sp>
      <p:sp>
        <p:nvSpPr>
          <p:cNvPr id="384" name="Google Shape;384;g3d9e588f0ee_1_296"/>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85" name="Google Shape;385;g3d9e588f0ee_1_296"/>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Nwachukwu Anene</a:t>
            </a:r>
            <a:endParaRPr b="0" i="0" sz="1800" u="none" cap="none" strike="noStrike">
              <a:solidFill>
                <a:schemeClr val="dk1"/>
              </a:solidFill>
              <a:latin typeface="Calibri"/>
              <a:ea typeface="Calibri"/>
              <a:cs typeface="Calibri"/>
              <a:sym typeface="Calibri"/>
            </a:endParaRPr>
          </a:p>
        </p:txBody>
      </p:sp>
      <p:sp>
        <p:nvSpPr>
          <p:cNvPr id="386" name="Google Shape;386;g3d9e588f0ee_1_296"/>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391" name="Shape 391"/>
        <p:cNvGrpSpPr/>
        <p:nvPr/>
      </p:nvGrpSpPr>
      <p:grpSpPr>
        <a:xfrm>
          <a:off x="0" y="0"/>
          <a:ext cx="0" cy="0"/>
          <a:chOff x="0" y="0"/>
          <a:chExt cx="0" cy="0"/>
        </a:xfrm>
      </p:grpSpPr>
      <p:sp>
        <p:nvSpPr>
          <p:cNvPr id="392" name="Google Shape;392;g3d9e588f0ee_1_315"/>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93" name="Google Shape;393;g3d9e588f0ee_1_315"/>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94" name="Google Shape;394;g3d9e588f0ee_1_315"/>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Traceability &amp; Components to Avoid</a:t>
            </a:r>
            <a:endParaRPr b="0" i="0" sz="4400" u="none" cap="none" strike="noStrike">
              <a:solidFill>
                <a:schemeClr val="dk1"/>
              </a:solidFill>
              <a:latin typeface="Calibri"/>
              <a:ea typeface="Calibri"/>
              <a:cs typeface="Calibri"/>
              <a:sym typeface="Calibri"/>
            </a:endParaRPr>
          </a:p>
        </p:txBody>
      </p:sp>
      <p:sp>
        <p:nvSpPr>
          <p:cNvPr id="395" name="Google Shape;395;g3d9e588f0ee_1_315"/>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1.2c — Breadboard → Altium → PCB, and lessons learned</a:t>
            </a:r>
            <a:endParaRPr b="0" i="0" sz="2200" u="none" cap="none" strike="noStrike">
              <a:solidFill>
                <a:schemeClr val="dk1"/>
              </a:solidFill>
              <a:latin typeface="Calibri"/>
              <a:ea typeface="Calibri"/>
              <a:cs typeface="Calibri"/>
              <a:sym typeface="Calibri"/>
            </a:endParaRPr>
          </a:p>
        </p:txBody>
      </p:sp>
      <p:sp>
        <p:nvSpPr>
          <p:cNvPr id="396" name="Google Shape;396;g3d9e588f0ee_1_315"/>
          <p:cNvSpPr/>
          <p:nvPr/>
        </p:nvSpPr>
        <p:spPr>
          <a:xfrm>
            <a:off x="731520" y="2194560"/>
            <a:ext cx="2743200" cy="1097400"/>
          </a:xfrm>
          <a:prstGeom prst="rect">
            <a:avLst/>
          </a:prstGeom>
          <a:solidFill>
            <a:srgbClr val="13778E"/>
          </a:solidFill>
          <a:ln>
            <a:noFill/>
          </a:ln>
          <a:effectLst>
            <a:outerShdw blurRad="762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97" name="Google Shape;397;g3d9e588f0ee_1_315"/>
          <p:cNvSpPr/>
          <p:nvPr/>
        </p:nvSpPr>
        <p:spPr>
          <a:xfrm>
            <a:off x="731520" y="2194560"/>
            <a:ext cx="27432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Design</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Requirement</a:t>
            </a:r>
            <a:endParaRPr b="0" i="0" sz="2600" u="none" cap="none" strike="noStrike">
              <a:solidFill>
                <a:schemeClr val="dk1"/>
              </a:solidFill>
              <a:latin typeface="Calibri"/>
              <a:ea typeface="Calibri"/>
              <a:cs typeface="Calibri"/>
              <a:sym typeface="Calibri"/>
            </a:endParaRPr>
          </a:p>
        </p:txBody>
      </p:sp>
      <p:cxnSp>
        <p:nvCxnSpPr>
          <p:cNvPr id="398" name="Google Shape;398;g3d9e588f0ee_1_315"/>
          <p:cNvCxnSpPr/>
          <p:nvPr/>
        </p:nvCxnSpPr>
        <p:spPr>
          <a:xfrm>
            <a:off x="3474720" y="2743200"/>
            <a:ext cx="1645800" cy="0"/>
          </a:xfrm>
          <a:prstGeom prst="straightConnector1">
            <a:avLst/>
          </a:prstGeom>
          <a:noFill/>
          <a:ln cap="flat" cmpd="sng" w="38100">
            <a:solidFill>
              <a:srgbClr val="6B7B8D"/>
            </a:solidFill>
            <a:prstDash val="solid"/>
            <a:round/>
            <a:headEnd len="sm" w="sm" type="none"/>
            <a:tailEnd len="sm" w="sm" type="none"/>
          </a:ln>
        </p:spPr>
      </p:cxnSp>
      <p:sp>
        <p:nvSpPr>
          <p:cNvPr id="399" name="Google Shape;399;g3d9e588f0ee_1_315"/>
          <p:cNvSpPr/>
          <p:nvPr/>
        </p:nvSpPr>
        <p:spPr>
          <a:xfrm>
            <a:off x="4389120" y="2194560"/>
            <a:ext cx="2743200" cy="1097400"/>
          </a:xfrm>
          <a:prstGeom prst="rect">
            <a:avLst/>
          </a:prstGeom>
          <a:solidFill>
            <a:srgbClr val="1DB7A8"/>
          </a:solidFill>
          <a:ln>
            <a:noFill/>
          </a:ln>
          <a:effectLst>
            <a:outerShdw blurRad="762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00" name="Google Shape;400;g3d9e588f0ee_1_315"/>
          <p:cNvSpPr/>
          <p:nvPr/>
        </p:nvSpPr>
        <p:spPr>
          <a:xfrm>
            <a:off x="4389120" y="2194560"/>
            <a:ext cx="27432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BOM</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Component</a:t>
            </a:r>
            <a:endParaRPr b="0" i="0" sz="2600" u="none" cap="none" strike="noStrike">
              <a:solidFill>
                <a:schemeClr val="dk1"/>
              </a:solidFill>
              <a:latin typeface="Calibri"/>
              <a:ea typeface="Calibri"/>
              <a:cs typeface="Calibri"/>
              <a:sym typeface="Calibri"/>
            </a:endParaRPr>
          </a:p>
        </p:txBody>
      </p:sp>
      <p:cxnSp>
        <p:nvCxnSpPr>
          <p:cNvPr id="401" name="Google Shape;401;g3d9e588f0ee_1_315"/>
          <p:cNvCxnSpPr/>
          <p:nvPr/>
        </p:nvCxnSpPr>
        <p:spPr>
          <a:xfrm>
            <a:off x="7132320" y="2743200"/>
            <a:ext cx="1645800" cy="0"/>
          </a:xfrm>
          <a:prstGeom prst="straightConnector1">
            <a:avLst/>
          </a:prstGeom>
          <a:noFill/>
          <a:ln cap="flat" cmpd="sng" w="38100">
            <a:solidFill>
              <a:srgbClr val="6B7B8D"/>
            </a:solidFill>
            <a:prstDash val="solid"/>
            <a:round/>
            <a:headEnd len="sm" w="sm" type="none"/>
            <a:tailEnd len="sm" w="sm" type="none"/>
          </a:ln>
        </p:spPr>
      </p:cxnSp>
      <p:sp>
        <p:nvSpPr>
          <p:cNvPr id="402" name="Google Shape;402;g3d9e588f0ee_1_315"/>
          <p:cNvSpPr/>
          <p:nvPr/>
        </p:nvSpPr>
        <p:spPr>
          <a:xfrm>
            <a:off x="8046720" y="2194560"/>
            <a:ext cx="2743200" cy="1097400"/>
          </a:xfrm>
          <a:prstGeom prst="rect">
            <a:avLst/>
          </a:prstGeom>
          <a:solidFill>
            <a:srgbClr val="F4A261"/>
          </a:solidFill>
          <a:ln>
            <a:noFill/>
          </a:ln>
          <a:effectLst>
            <a:outerShdw blurRad="762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03" name="Google Shape;403;g3d9e588f0ee_1_315"/>
          <p:cNvSpPr/>
          <p:nvPr/>
        </p:nvSpPr>
        <p:spPr>
          <a:xfrm>
            <a:off x="8046720" y="2194560"/>
            <a:ext cx="27432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Breadboard</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Validation</a:t>
            </a:r>
            <a:endParaRPr b="0" i="0" sz="2600" u="none" cap="none" strike="noStrike">
              <a:solidFill>
                <a:schemeClr val="dk1"/>
              </a:solidFill>
              <a:latin typeface="Calibri"/>
              <a:ea typeface="Calibri"/>
              <a:cs typeface="Calibri"/>
              <a:sym typeface="Calibri"/>
            </a:endParaRPr>
          </a:p>
        </p:txBody>
      </p:sp>
      <p:cxnSp>
        <p:nvCxnSpPr>
          <p:cNvPr id="404" name="Google Shape;404;g3d9e588f0ee_1_315"/>
          <p:cNvCxnSpPr/>
          <p:nvPr/>
        </p:nvCxnSpPr>
        <p:spPr>
          <a:xfrm>
            <a:off x="10789920" y="2743200"/>
            <a:ext cx="1645800" cy="0"/>
          </a:xfrm>
          <a:prstGeom prst="straightConnector1">
            <a:avLst/>
          </a:prstGeom>
          <a:noFill/>
          <a:ln cap="flat" cmpd="sng" w="38100">
            <a:solidFill>
              <a:srgbClr val="6B7B8D"/>
            </a:solidFill>
            <a:prstDash val="solid"/>
            <a:round/>
            <a:headEnd len="sm" w="sm" type="none"/>
            <a:tailEnd len="sm" w="sm" type="none"/>
          </a:ln>
        </p:spPr>
      </p:cxnSp>
      <p:sp>
        <p:nvSpPr>
          <p:cNvPr id="405" name="Google Shape;405;g3d9e588f0ee_1_315"/>
          <p:cNvSpPr/>
          <p:nvPr/>
        </p:nvSpPr>
        <p:spPr>
          <a:xfrm>
            <a:off x="11704320" y="2194560"/>
            <a:ext cx="2743200" cy="1097400"/>
          </a:xfrm>
          <a:prstGeom prst="rect">
            <a:avLst/>
          </a:prstGeom>
          <a:solidFill>
            <a:srgbClr val="13778E"/>
          </a:solidFill>
          <a:ln>
            <a:noFill/>
          </a:ln>
          <a:effectLst>
            <a:outerShdw blurRad="762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06" name="Google Shape;406;g3d9e588f0ee_1_315"/>
          <p:cNvSpPr/>
          <p:nvPr/>
        </p:nvSpPr>
        <p:spPr>
          <a:xfrm>
            <a:off x="11704320" y="2194560"/>
            <a:ext cx="27432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Altium</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Schematic</a:t>
            </a:r>
            <a:endParaRPr b="0" i="0" sz="2600" u="none" cap="none" strike="noStrike">
              <a:solidFill>
                <a:schemeClr val="dk1"/>
              </a:solidFill>
              <a:latin typeface="Calibri"/>
              <a:ea typeface="Calibri"/>
              <a:cs typeface="Calibri"/>
              <a:sym typeface="Calibri"/>
            </a:endParaRPr>
          </a:p>
        </p:txBody>
      </p:sp>
      <p:cxnSp>
        <p:nvCxnSpPr>
          <p:cNvPr id="407" name="Google Shape;407;g3d9e588f0ee_1_315"/>
          <p:cNvCxnSpPr/>
          <p:nvPr/>
        </p:nvCxnSpPr>
        <p:spPr>
          <a:xfrm>
            <a:off x="14447520" y="2743200"/>
            <a:ext cx="1645800" cy="0"/>
          </a:xfrm>
          <a:prstGeom prst="straightConnector1">
            <a:avLst/>
          </a:prstGeom>
          <a:noFill/>
          <a:ln cap="flat" cmpd="sng" w="38100">
            <a:solidFill>
              <a:srgbClr val="6B7B8D"/>
            </a:solidFill>
            <a:prstDash val="solid"/>
            <a:round/>
            <a:headEnd len="sm" w="sm" type="none"/>
            <a:tailEnd len="sm" w="sm" type="none"/>
          </a:ln>
        </p:spPr>
      </p:cxnSp>
      <p:sp>
        <p:nvSpPr>
          <p:cNvPr id="408" name="Google Shape;408;g3d9e588f0ee_1_315"/>
          <p:cNvSpPr/>
          <p:nvPr/>
        </p:nvSpPr>
        <p:spPr>
          <a:xfrm>
            <a:off x="15361920" y="2194560"/>
            <a:ext cx="2743200" cy="1097400"/>
          </a:xfrm>
          <a:prstGeom prst="rect">
            <a:avLst/>
          </a:prstGeom>
          <a:solidFill>
            <a:srgbClr val="0B2545"/>
          </a:solidFill>
          <a:ln>
            <a:noFill/>
          </a:ln>
          <a:effectLst>
            <a:outerShdw blurRad="76200" rotWithShape="0" algn="bl" dir="8100000" dist="25400">
              <a:srgbClr val="000000">
                <a:alpha val="102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09" name="Google Shape;409;g3d9e588f0ee_1_315"/>
          <p:cNvSpPr/>
          <p:nvPr/>
        </p:nvSpPr>
        <p:spPr>
          <a:xfrm>
            <a:off x="15361920" y="2194560"/>
            <a:ext cx="2743200" cy="109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PCB</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700"/>
              <a:buFont typeface="Calibri"/>
              <a:buNone/>
            </a:pPr>
            <a:r>
              <a:rPr b="1" i="0" lang="en-US" sz="2600" u="none" cap="none" strike="noStrike">
                <a:solidFill>
                  <a:srgbClr val="FFFFFF"/>
                </a:solidFill>
                <a:latin typeface="Calibri"/>
                <a:ea typeface="Calibri"/>
                <a:cs typeface="Calibri"/>
                <a:sym typeface="Calibri"/>
              </a:rPr>
              <a:t>Vendor</a:t>
            </a:r>
            <a:endParaRPr b="0" i="0" sz="2600" u="none" cap="none" strike="noStrike">
              <a:solidFill>
                <a:schemeClr val="dk1"/>
              </a:solidFill>
              <a:latin typeface="Calibri"/>
              <a:ea typeface="Calibri"/>
              <a:cs typeface="Calibri"/>
              <a:sym typeface="Calibri"/>
            </a:endParaRPr>
          </a:p>
        </p:txBody>
      </p:sp>
      <p:sp>
        <p:nvSpPr>
          <p:cNvPr id="410" name="Google Shape;410;g3d9e588f0ee_1_315"/>
          <p:cNvSpPr/>
          <p:nvPr/>
        </p:nvSpPr>
        <p:spPr>
          <a:xfrm>
            <a:off x="731520" y="3840480"/>
            <a:ext cx="16825200" cy="50292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11" name="Google Shape;411;g3d9e588f0ee_1_315"/>
          <p:cNvSpPr/>
          <p:nvPr/>
        </p:nvSpPr>
        <p:spPr>
          <a:xfrm>
            <a:off x="731520" y="3840480"/>
            <a:ext cx="16825200" cy="91200"/>
          </a:xfrm>
          <a:prstGeom prst="rect">
            <a:avLst/>
          </a:prstGeom>
          <a:solidFill>
            <a:srgbClr val="EF444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412" name="Google Shape;412;g3d9e588f0ee_1_315"/>
          <p:cNvPicPr preferRelativeResize="0"/>
          <p:nvPr/>
        </p:nvPicPr>
        <p:blipFill rotWithShape="1">
          <a:blip r:embed="rId3">
            <a:alphaModFix/>
          </a:blip>
          <a:srcRect b="0" l="0" r="0" t="0"/>
          <a:stretch/>
        </p:blipFill>
        <p:spPr>
          <a:xfrm>
            <a:off x="1097280" y="4114800"/>
            <a:ext cx="640081" cy="640081"/>
          </a:xfrm>
          <a:prstGeom prst="rect">
            <a:avLst/>
          </a:prstGeom>
          <a:noFill/>
          <a:ln>
            <a:noFill/>
          </a:ln>
        </p:spPr>
      </p:pic>
      <p:sp>
        <p:nvSpPr>
          <p:cNvPr id="413" name="Google Shape;413;g3d9e588f0ee_1_315"/>
          <p:cNvSpPr/>
          <p:nvPr/>
        </p:nvSpPr>
        <p:spPr>
          <a:xfrm>
            <a:off x="1920240" y="4114800"/>
            <a:ext cx="914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2400"/>
              <a:buFont typeface="Georgia"/>
              <a:buNone/>
            </a:pPr>
            <a:r>
              <a:rPr b="1" i="0" lang="en-US" sz="3400" u="none" cap="none" strike="noStrike">
                <a:solidFill>
                  <a:srgbClr val="EF4444"/>
                </a:solidFill>
                <a:latin typeface="Georgia"/>
                <a:ea typeface="Georgia"/>
                <a:cs typeface="Georgia"/>
                <a:sym typeface="Georgia"/>
              </a:rPr>
              <a:t>Components &amp; Configurations to AVOID</a:t>
            </a:r>
            <a:endParaRPr b="0" i="0" sz="3400" u="none" cap="none" strike="noStrike">
              <a:solidFill>
                <a:schemeClr val="dk1"/>
              </a:solidFill>
              <a:latin typeface="Calibri"/>
              <a:ea typeface="Calibri"/>
              <a:cs typeface="Calibri"/>
              <a:sym typeface="Calibri"/>
            </a:endParaRPr>
          </a:p>
        </p:txBody>
      </p:sp>
      <p:sp>
        <p:nvSpPr>
          <p:cNvPr id="414" name="Google Shape;414;g3d9e588f0ee_1_315"/>
          <p:cNvSpPr/>
          <p:nvPr/>
        </p:nvSpPr>
        <p:spPr>
          <a:xfrm>
            <a:off x="1280160" y="4937760"/>
            <a:ext cx="15910800" cy="3657600"/>
          </a:xfrm>
          <a:prstGeom prst="rect">
            <a:avLst/>
          </a:prstGeom>
          <a:noFill/>
          <a:ln>
            <a:noFill/>
          </a:ln>
        </p:spPr>
        <p:txBody>
          <a:bodyPr anchorCtr="0" anchor="t" bIns="91400" lIns="182850" spcFirstLastPara="1" rIns="182850" wrap="square" tIns="91400">
            <a:noAutofit/>
          </a:bodyPr>
          <a:lstStyle/>
          <a:p>
            <a:pPr indent="-742950" lvl="0" marL="685800" marR="0" rtl="0" algn="l">
              <a:spcBef>
                <a:spcPts val="0"/>
              </a:spcBef>
              <a:spcAft>
                <a:spcPts val="0"/>
              </a:spcAft>
              <a:buClr>
                <a:srgbClr val="1C2D3F"/>
              </a:buClr>
              <a:buSzPts val="2900"/>
              <a:buFont typeface="Calibri"/>
              <a:buChar char="•"/>
            </a:pPr>
            <a:r>
              <a:rPr b="0" i="0" lang="en-US" sz="2900" u="none" cap="none" strike="noStrike">
                <a:solidFill>
                  <a:srgbClr val="1C2D3F"/>
                </a:solidFill>
                <a:latin typeface="Calibri"/>
                <a:ea typeface="Calibri"/>
                <a:cs typeface="Calibri"/>
                <a:sym typeface="Calibri"/>
              </a:rPr>
              <a:t>100kΩ pull-downs — compressed ADC range to ~270 counts; use 10kΩ instead</a:t>
            </a:r>
            <a:endParaRPr b="0" i="0" sz="2900" u="none" cap="none" strike="noStrike">
              <a:solidFill>
                <a:schemeClr val="dk1"/>
              </a:solidFill>
              <a:latin typeface="Calibri"/>
              <a:ea typeface="Calibri"/>
              <a:cs typeface="Calibri"/>
              <a:sym typeface="Calibri"/>
            </a:endParaRPr>
          </a:p>
          <a:p>
            <a:pPr indent="-742950" lvl="0" marL="685800" marR="0" rtl="0" algn="l">
              <a:spcBef>
                <a:spcPts val="600"/>
              </a:spcBef>
              <a:spcAft>
                <a:spcPts val="0"/>
              </a:spcAft>
              <a:buClr>
                <a:srgbClr val="1C2D3F"/>
              </a:buClr>
              <a:buSzPts val="2900"/>
              <a:buFont typeface="Calibri"/>
              <a:buChar char="•"/>
            </a:pPr>
            <a:r>
              <a:rPr b="0" i="0" lang="en-US" sz="2900" u="none" cap="none" strike="noStrike">
                <a:solidFill>
                  <a:srgbClr val="1C2D3F"/>
                </a:solidFill>
                <a:latin typeface="Calibri"/>
                <a:ea typeface="Calibri"/>
                <a:cs typeface="Calibri"/>
                <a:sym typeface="Calibri"/>
              </a:rPr>
              <a:t>Piezoelectric sensors — no sustained reading under static load; unsuitable for plantar monitoring</a:t>
            </a:r>
            <a:endParaRPr b="0" i="0" sz="2900" u="none" cap="none" strike="noStrike">
              <a:solidFill>
                <a:schemeClr val="dk1"/>
              </a:solidFill>
              <a:latin typeface="Calibri"/>
              <a:ea typeface="Calibri"/>
              <a:cs typeface="Calibri"/>
              <a:sym typeface="Calibri"/>
            </a:endParaRPr>
          </a:p>
          <a:p>
            <a:pPr indent="-742950" lvl="0" marL="685800" marR="0" rtl="0" algn="l">
              <a:spcBef>
                <a:spcPts val="600"/>
              </a:spcBef>
              <a:spcAft>
                <a:spcPts val="0"/>
              </a:spcAft>
              <a:buClr>
                <a:srgbClr val="1C2D3F"/>
              </a:buClr>
              <a:buSzPts val="2900"/>
              <a:buFont typeface="Calibri"/>
              <a:buChar char="•"/>
            </a:pPr>
            <a:r>
              <a:rPr b="0" i="0" lang="en-US" sz="2900" u="none" cap="none" strike="noStrike">
                <a:solidFill>
                  <a:srgbClr val="1C2D3F"/>
                </a:solidFill>
                <a:latin typeface="Calibri"/>
                <a:ea typeface="Calibri"/>
                <a:cs typeface="Calibri"/>
                <a:sym typeface="Calibri"/>
              </a:rPr>
              <a:t>BMM150 magnetometer — not accessible on Rev2 Wire1 bus; excluded from design</a:t>
            </a:r>
            <a:endParaRPr b="0" i="0" sz="2900" u="none" cap="none" strike="noStrike">
              <a:solidFill>
                <a:schemeClr val="dk1"/>
              </a:solidFill>
              <a:latin typeface="Calibri"/>
              <a:ea typeface="Calibri"/>
              <a:cs typeface="Calibri"/>
              <a:sym typeface="Calibri"/>
            </a:endParaRPr>
          </a:p>
          <a:p>
            <a:pPr indent="-742950" lvl="0" marL="685800" marR="0" rtl="0" algn="l">
              <a:spcBef>
                <a:spcPts val="600"/>
              </a:spcBef>
              <a:spcAft>
                <a:spcPts val="0"/>
              </a:spcAft>
              <a:buClr>
                <a:srgbClr val="1C2D3F"/>
              </a:buClr>
              <a:buSzPts val="2900"/>
              <a:buFont typeface="Calibri"/>
              <a:buChar char="•"/>
            </a:pPr>
            <a:r>
              <a:rPr b="0" i="0" lang="en-US" sz="2900" u="none" cap="none" strike="noStrike">
                <a:solidFill>
                  <a:srgbClr val="1C2D3F"/>
                </a:solidFill>
                <a:latin typeface="Calibri"/>
                <a:ea typeface="Calibri"/>
                <a:cs typeface="Calibri"/>
                <a:sym typeface="Calibri"/>
              </a:rPr>
              <a:t>Wire.begin() in firmware — corrupts onboard I2C bus (HS300x, BMI270 fail)</a:t>
            </a:r>
            <a:endParaRPr b="0" i="0" sz="2900" u="none" cap="none" strike="noStrike">
              <a:solidFill>
                <a:schemeClr val="dk1"/>
              </a:solidFill>
              <a:latin typeface="Calibri"/>
              <a:ea typeface="Calibri"/>
              <a:cs typeface="Calibri"/>
              <a:sym typeface="Calibri"/>
            </a:endParaRPr>
          </a:p>
          <a:p>
            <a:pPr indent="-742950" lvl="0" marL="685800" marR="0" rtl="0" algn="l">
              <a:spcBef>
                <a:spcPts val="600"/>
              </a:spcBef>
              <a:spcAft>
                <a:spcPts val="0"/>
              </a:spcAft>
              <a:buClr>
                <a:srgbClr val="1C2D3F"/>
              </a:buClr>
              <a:buSzPts val="2900"/>
              <a:buFont typeface="Calibri"/>
              <a:buChar char="•"/>
            </a:pPr>
            <a:r>
              <a:rPr b="0" i="0" lang="en-US" sz="2900" u="none" cap="none" strike="noStrike">
                <a:solidFill>
                  <a:srgbClr val="1C2D3F"/>
                </a:solidFill>
                <a:latin typeface="Calibri"/>
                <a:ea typeface="Calibri"/>
                <a:cs typeface="Calibri"/>
                <a:sym typeface="Calibri"/>
              </a:rPr>
              <a:t>APDS9960 init before other I2C — causes bus conflicts; must initialize last</a:t>
            </a:r>
            <a:endParaRPr b="0" i="0" sz="2900" u="none" cap="none" strike="noStrike">
              <a:solidFill>
                <a:schemeClr val="dk1"/>
              </a:solidFill>
              <a:latin typeface="Calibri"/>
              <a:ea typeface="Calibri"/>
              <a:cs typeface="Calibri"/>
              <a:sym typeface="Calibri"/>
            </a:endParaRPr>
          </a:p>
        </p:txBody>
      </p:sp>
      <p:sp>
        <p:nvSpPr>
          <p:cNvPr id="415" name="Google Shape;415;g3d9e588f0ee_1_315"/>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16" name="Google Shape;416;g3d9e588f0ee_1_315"/>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Pouya Behdinan</a:t>
            </a:r>
            <a:endParaRPr b="0" i="0" sz="1800" u="none" cap="none" strike="noStrike">
              <a:solidFill>
                <a:schemeClr val="dk1"/>
              </a:solidFill>
              <a:latin typeface="Calibri"/>
              <a:ea typeface="Calibri"/>
              <a:cs typeface="Calibri"/>
              <a:sym typeface="Calibri"/>
            </a:endParaRPr>
          </a:p>
        </p:txBody>
      </p:sp>
      <p:sp>
        <p:nvSpPr>
          <p:cNvPr id="417" name="Google Shape;417;g3d9e588f0ee_1_315"/>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422" name="Shape 422"/>
        <p:cNvGrpSpPr/>
        <p:nvPr/>
      </p:nvGrpSpPr>
      <p:grpSpPr>
        <a:xfrm>
          <a:off x="0" y="0"/>
          <a:ext cx="0" cy="0"/>
          <a:chOff x="0" y="0"/>
          <a:chExt cx="0" cy="0"/>
        </a:xfrm>
      </p:grpSpPr>
      <p:sp>
        <p:nvSpPr>
          <p:cNvPr id="423" name="Google Shape;423;g3d9e588f0ee_1_345"/>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24" name="Google Shape;424;g3d9e588f0ee_1_345"/>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25" name="Google Shape;425;g3d9e588f0ee_1_345"/>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Manufacturing Process Flow</a:t>
            </a:r>
            <a:endParaRPr b="0" i="0" sz="4400" u="none" cap="none" strike="noStrike">
              <a:solidFill>
                <a:schemeClr val="dk1"/>
              </a:solidFill>
              <a:latin typeface="Calibri"/>
              <a:ea typeface="Calibri"/>
              <a:cs typeface="Calibri"/>
              <a:sym typeface="Calibri"/>
            </a:endParaRPr>
          </a:p>
        </p:txBody>
      </p:sp>
      <p:sp>
        <p:nvSpPr>
          <p:cNvPr id="426" name="Google Shape;426;g3d9e588f0ee_1_345"/>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1.2d — Repeatable assembly recipe</a:t>
            </a:r>
            <a:endParaRPr b="0" i="0" sz="2200" u="none" cap="none" strike="noStrike">
              <a:solidFill>
                <a:schemeClr val="dk1"/>
              </a:solidFill>
              <a:latin typeface="Calibri"/>
              <a:ea typeface="Calibri"/>
              <a:cs typeface="Calibri"/>
              <a:sym typeface="Calibri"/>
            </a:endParaRPr>
          </a:p>
        </p:txBody>
      </p:sp>
      <p:sp>
        <p:nvSpPr>
          <p:cNvPr id="427" name="Google Shape;427;g3d9e588f0ee_1_345"/>
          <p:cNvSpPr/>
          <p:nvPr/>
        </p:nvSpPr>
        <p:spPr>
          <a:xfrm>
            <a:off x="731520" y="219456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28" name="Google Shape;428;g3d9e588f0ee_1_345"/>
          <p:cNvSpPr/>
          <p:nvPr/>
        </p:nvSpPr>
        <p:spPr>
          <a:xfrm>
            <a:off x="914400" y="2377440"/>
            <a:ext cx="731400" cy="7314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29" name="Google Shape;429;g3d9e588f0ee_1_345"/>
          <p:cNvSpPr/>
          <p:nvPr/>
        </p:nvSpPr>
        <p:spPr>
          <a:xfrm>
            <a:off x="914400" y="237744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1</a:t>
            </a:r>
            <a:endParaRPr b="0" i="0" sz="3200" u="none" cap="none" strike="noStrike">
              <a:solidFill>
                <a:schemeClr val="dk1"/>
              </a:solidFill>
              <a:latin typeface="Calibri"/>
              <a:ea typeface="Calibri"/>
              <a:cs typeface="Calibri"/>
              <a:sym typeface="Calibri"/>
            </a:endParaRPr>
          </a:p>
        </p:txBody>
      </p:sp>
      <p:sp>
        <p:nvSpPr>
          <p:cNvPr id="430" name="Google Shape;430;g3d9e588f0ee_1_345"/>
          <p:cNvSpPr/>
          <p:nvPr/>
        </p:nvSpPr>
        <p:spPr>
          <a:xfrm>
            <a:off x="1828800" y="237744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Populate 16 × 10kΩ pull-downs on breadboard/PCB</a:t>
            </a:r>
            <a:endParaRPr b="0" i="0" sz="2600" u="none" cap="none" strike="noStrike">
              <a:solidFill>
                <a:schemeClr val="dk1"/>
              </a:solidFill>
              <a:latin typeface="Calibri"/>
              <a:ea typeface="Calibri"/>
              <a:cs typeface="Calibri"/>
              <a:sym typeface="Calibri"/>
            </a:endParaRPr>
          </a:p>
        </p:txBody>
      </p:sp>
      <p:sp>
        <p:nvSpPr>
          <p:cNvPr id="431" name="Google Shape;431;g3d9e588f0ee_1_345"/>
          <p:cNvSpPr/>
          <p:nvPr/>
        </p:nvSpPr>
        <p:spPr>
          <a:xfrm>
            <a:off x="6492240" y="219456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32" name="Google Shape;432;g3d9e588f0ee_1_345"/>
          <p:cNvSpPr/>
          <p:nvPr/>
        </p:nvSpPr>
        <p:spPr>
          <a:xfrm>
            <a:off x="6675120" y="2377440"/>
            <a:ext cx="731400" cy="7314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33" name="Google Shape;433;g3d9e588f0ee_1_345"/>
          <p:cNvSpPr/>
          <p:nvPr/>
        </p:nvSpPr>
        <p:spPr>
          <a:xfrm>
            <a:off x="6675120" y="237744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2</a:t>
            </a:r>
            <a:endParaRPr b="0" i="0" sz="3200" u="none" cap="none" strike="noStrike">
              <a:solidFill>
                <a:schemeClr val="dk1"/>
              </a:solidFill>
              <a:latin typeface="Calibri"/>
              <a:ea typeface="Calibri"/>
              <a:cs typeface="Calibri"/>
              <a:sym typeface="Calibri"/>
            </a:endParaRPr>
          </a:p>
        </p:txBody>
      </p:sp>
      <p:sp>
        <p:nvSpPr>
          <p:cNvPr id="434" name="Google Shape;434;g3d9e588f0ee_1_345"/>
          <p:cNvSpPr/>
          <p:nvPr/>
        </p:nvSpPr>
        <p:spPr>
          <a:xfrm>
            <a:off x="7589520" y="237744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Mount CD74HC4067 mux; wire S0–S3 to Arduino digital pins</a:t>
            </a:r>
            <a:endParaRPr b="0" i="0" sz="2600" u="none" cap="none" strike="noStrike">
              <a:solidFill>
                <a:schemeClr val="dk1"/>
              </a:solidFill>
              <a:latin typeface="Calibri"/>
              <a:ea typeface="Calibri"/>
              <a:cs typeface="Calibri"/>
              <a:sym typeface="Calibri"/>
            </a:endParaRPr>
          </a:p>
        </p:txBody>
      </p:sp>
      <p:sp>
        <p:nvSpPr>
          <p:cNvPr id="435" name="Google Shape;435;g3d9e588f0ee_1_345"/>
          <p:cNvSpPr/>
          <p:nvPr/>
        </p:nvSpPr>
        <p:spPr>
          <a:xfrm>
            <a:off x="12252960" y="219456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36" name="Google Shape;436;g3d9e588f0ee_1_345"/>
          <p:cNvSpPr/>
          <p:nvPr/>
        </p:nvSpPr>
        <p:spPr>
          <a:xfrm>
            <a:off x="12435840" y="2377440"/>
            <a:ext cx="731400" cy="7314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37" name="Google Shape;437;g3d9e588f0ee_1_345"/>
          <p:cNvSpPr/>
          <p:nvPr/>
        </p:nvSpPr>
        <p:spPr>
          <a:xfrm>
            <a:off x="12435840" y="237744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3</a:t>
            </a:r>
            <a:endParaRPr b="0" i="0" sz="3200" u="none" cap="none" strike="noStrike">
              <a:solidFill>
                <a:schemeClr val="dk1"/>
              </a:solidFill>
              <a:latin typeface="Calibri"/>
              <a:ea typeface="Calibri"/>
              <a:cs typeface="Calibri"/>
              <a:sym typeface="Calibri"/>
            </a:endParaRPr>
          </a:p>
        </p:txBody>
      </p:sp>
      <p:sp>
        <p:nvSpPr>
          <p:cNvPr id="438" name="Google Shape;438;g3d9e588f0ee_1_345"/>
          <p:cNvSpPr/>
          <p:nvPr/>
        </p:nvSpPr>
        <p:spPr>
          <a:xfrm>
            <a:off x="13350240" y="237744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Connect FPC breakout board; attach insole ribbon cable</a:t>
            </a:r>
            <a:endParaRPr b="0" i="0" sz="2600" u="none" cap="none" strike="noStrike">
              <a:solidFill>
                <a:schemeClr val="dk1"/>
              </a:solidFill>
              <a:latin typeface="Calibri"/>
              <a:ea typeface="Calibri"/>
              <a:cs typeface="Calibri"/>
              <a:sym typeface="Calibri"/>
            </a:endParaRPr>
          </a:p>
        </p:txBody>
      </p:sp>
      <p:sp>
        <p:nvSpPr>
          <p:cNvPr id="439" name="Google Shape;439;g3d9e588f0ee_1_345"/>
          <p:cNvSpPr/>
          <p:nvPr/>
        </p:nvSpPr>
        <p:spPr>
          <a:xfrm>
            <a:off x="731520" y="466344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40" name="Google Shape;440;g3d9e588f0ee_1_345"/>
          <p:cNvSpPr/>
          <p:nvPr/>
        </p:nvSpPr>
        <p:spPr>
          <a:xfrm>
            <a:off x="914400" y="4846320"/>
            <a:ext cx="731400" cy="731400"/>
          </a:xfrm>
          <a:prstGeom prst="ellipse">
            <a:avLst/>
          </a:prstGeom>
          <a:solidFill>
            <a:srgbClr val="13778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41" name="Google Shape;441;g3d9e588f0ee_1_345"/>
          <p:cNvSpPr/>
          <p:nvPr/>
        </p:nvSpPr>
        <p:spPr>
          <a:xfrm>
            <a:off x="914400" y="484632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4</a:t>
            </a:r>
            <a:endParaRPr b="0" i="0" sz="3200" u="none" cap="none" strike="noStrike">
              <a:solidFill>
                <a:schemeClr val="dk1"/>
              </a:solidFill>
              <a:latin typeface="Calibri"/>
              <a:ea typeface="Calibri"/>
              <a:cs typeface="Calibri"/>
              <a:sym typeface="Calibri"/>
            </a:endParaRPr>
          </a:p>
        </p:txBody>
      </p:sp>
      <p:sp>
        <p:nvSpPr>
          <p:cNvPr id="442" name="Google Shape;442;g3d9e588f0ee_1_345"/>
          <p:cNvSpPr/>
          <p:nvPr/>
        </p:nvSpPr>
        <p:spPr>
          <a:xfrm>
            <a:off x="1828800" y="484632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Wire mux SIG → Arduino A0; VCC/GND connections</a:t>
            </a:r>
            <a:endParaRPr b="0" i="0" sz="2600" u="none" cap="none" strike="noStrike">
              <a:solidFill>
                <a:schemeClr val="dk1"/>
              </a:solidFill>
              <a:latin typeface="Calibri"/>
              <a:ea typeface="Calibri"/>
              <a:cs typeface="Calibri"/>
              <a:sym typeface="Calibri"/>
            </a:endParaRPr>
          </a:p>
        </p:txBody>
      </p:sp>
      <p:sp>
        <p:nvSpPr>
          <p:cNvPr id="443" name="Google Shape;443;g3d9e588f0ee_1_345"/>
          <p:cNvSpPr/>
          <p:nvPr/>
        </p:nvSpPr>
        <p:spPr>
          <a:xfrm>
            <a:off x="6492240" y="466344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44" name="Google Shape;444;g3d9e588f0ee_1_345"/>
          <p:cNvSpPr/>
          <p:nvPr/>
        </p:nvSpPr>
        <p:spPr>
          <a:xfrm>
            <a:off x="6675120" y="4846320"/>
            <a:ext cx="731400" cy="731400"/>
          </a:xfrm>
          <a:prstGeom prst="ellipse">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45" name="Google Shape;445;g3d9e588f0ee_1_345"/>
          <p:cNvSpPr/>
          <p:nvPr/>
        </p:nvSpPr>
        <p:spPr>
          <a:xfrm>
            <a:off x="6675120" y="484632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5</a:t>
            </a:r>
            <a:endParaRPr b="0" i="0" sz="3200" u="none" cap="none" strike="noStrike">
              <a:solidFill>
                <a:schemeClr val="dk1"/>
              </a:solidFill>
              <a:latin typeface="Calibri"/>
              <a:ea typeface="Calibri"/>
              <a:cs typeface="Calibri"/>
              <a:sym typeface="Calibri"/>
            </a:endParaRPr>
          </a:p>
        </p:txBody>
      </p:sp>
      <p:sp>
        <p:nvSpPr>
          <p:cNvPr id="446" name="Google Shape;446;g3d9e588f0ee_1_345"/>
          <p:cNvSpPr/>
          <p:nvPr/>
        </p:nvSpPr>
        <p:spPr>
          <a:xfrm>
            <a:off x="7589520" y="484632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Flash firmware (NeuroFoot_BLE sketch); verify serial output</a:t>
            </a:r>
            <a:endParaRPr b="0" i="0" sz="2600" u="none" cap="none" strike="noStrike">
              <a:solidFill>
                <a:schemeClr val="dk1"/>
              </a:solidFill>
              <a:latin typeface="Calibri"/>
              <a:ea typeface="Calibri"/>
              <a:cs typeface="Calibri"/>
              <a:sym typeface="Calibri"/>
            </a:endParaRPr>
          </a:p>
        </p:txBody>
      </p:sp>
      <p:sp>
        <p:nvSpPr>
          <p:cNvPr id="447" name="Google Shape;447;g3d9e588f0ee_1_345"/>
          <p:cNvSpPr/>
          <p:nvPr/>
        </p:nvSpPr>
        <p:spPr>
          <a:xfrm>
            <a:off x="12252960" y="466344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48" name="Google Shape;448;g3d9e588f0ee_1_345"/>
          <p:cNvSpPr/>
          <p:nvPr/>
        </p:nvSpPr>
        <p:spPr>
          <a:xfrm>
            <a:off x="12435840" y="4846320"/>
            <a:ext cx="731400" cy="731400"/>
          </a:xfrm>
          <a:prstGeom prst="ellipse">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49" name="Google Shape;449;g3d9e588f0ee_1_345"/>
          <p:cNvSpPr/>
          <p:nvPr/>
        </p:nvSpPr>
        <p:spPr>
          <a:xfrm>
            <a:off x="12435840" y="484632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6</a:t>
            </a:r>
            <a:endParaRPr b="0" i="0" sz="3200" u="none" cap="none" strike="noStrike">
              <a:solidFill>
                <a:schemeClr val="dk1"/>
              </a:solidFill>
              <a:latin typeface="Calibri"/>
              <a:ea typeface="Calibri"/>
              <a:cs typeface="Calibri"/>
              <a:sym typeface="Calibri"/>
            </a:endParaRPr>
          </a:p>
        </p:txBody>
      </p:sp>
      <p:sp>
        <p:nvSpPr>
          <p:cNvPr id="450" name="Google Shape;450;g3d9e588f0ee_1_345"/>
          <p:cNvSpPr/>
          <p:nvPr/>
        </p:nvSpPr>
        <p:spPr>
          <a:xfrm>
            <a:off x="13350240" y="484632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Run MuxPressureTest — validate all 16 channels</a:t>
            </a:r>
            <a:endParaRPr b="0" i="0" sz="2600" u="none" cap="none" strike="noStrike">
              <a:solidFill>
                <a:schemeClr val="dk1"/>
              </a:solidFill>
              <a:latin typeface="Calibri"/>
              <a:ea typeface="Calibri"/>
              <a:cs typeface="Calibri"/>
              <a:sym typeface="Calibri"/>
            </a:endParaRPr>
          </a:p>
        </p:txBody>
      </p:sp>
      <p:sp>
        <p:nvSpPr>
          <p:cNvPr id="451" name="Google Shape;451;g3d9e588f0ee_1_345"/>
          <p:cNvSpPr/>
          <p:nvPr/>
        </p:nvSpPr>
        <p:spPr>
          <a:xfrm>
            <a:off x="731520" y="713232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52" name="Google Shape;452;g3d9e588f0ee_1_345"/>
          <p:cNvSpPr/>
          <p:nvPr/>
        </p:nvSpPr>
        <p:spPr>
          <a:xfrm>
            <a:off x="914400" y="7315200"/>
            <a:ext cx="731400" cy="731400"/>
          </a:xfrm>
          <a:prstGeom prst="ellipse">
            <a:avLst/>
          </a:prstGeom>
          <a:solidFill>
            <a:srgbClr val="F4A26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53" name="Google Shape;453;g3d9e588f0ee_1_345"/>
          <p:cNvSpPr/>
          <p:nvPr/>
        </p:nvSpPr>
        <p:spPr>
          <a:xfrm>
            <a:off x="914400" y="731520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7</a:t>
            </a:r>
            <a:endParaRPr b="0" i="0" sz="3200" u="none" cap="none" strike="noStrike">
              <a:solidFill>
                <a:schemeClr val="dk1"/>
              </a:solidFill>
              <a:latin typeface="Calibri"/>
              <a:ea typeface="Calibri"/>
              <a:cs typeface="Calibri"/>
              <a:sym typeface="Calibri"/>
            </a:endParaRPr>
          </a:p>
        </p:txBody>
      </p:sp>
      <p:sp>
        <p:nvSpPr>
          <p:cNvPr id="454" name="Google Shape;454;g3d9e588f0ee_1_345"/>
          <p:cNvSpPr/>
          <p:nvPr/>
        </p:nvSpPr>
        <p:spPr>
          <a:xfrm>
            <a:off x="1828800" y="731520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Cut sandal in half; seat Arduino + PCB between layers; glue</a:t>
            </a:r>
            <a:endParaRPr b="0" i="0" sz="2600" u="none" cap="none" strike="noStrike">
              <a:solidFill>
                <a:schemeClr val="dk1"/>
              </a:solidFill>
              <a:latin typeface="Calibri"/>
              <a:ea typeface="Calibri"/>
              <a:cs typeface="Calibri"/>
              <a:sym typeface="Calibri"/>
            </a:endParaRPr>
          </a:p>
        </p:txBody>
      </p:sp>
      <p:sp>
        <p:nvSpPr>
          <p:cNvPr id="455" name="Google Shape;455;g3d9e588f0ee_1_345"/>
          <p:cNvSpPr/>
          <p:nvPr/>
        </p:nvSpPr>
        <p:spPr>
          <a:xfrm>
            <a:off x="6492240" y="713232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56" name="Google Shape;456;g3d9e588f0ee_1_345"/>
          <p:cNvSpPr/>
          <p:nvPr/>
        </p:nvSpPr>
        <p:spPr>
          <a:xfrm>
            <a:off x="6675120" y="7315200"/>
            <a:ext cx="731400" cy="731400"/>
          </a:xfrm>
          <a:prstGeom prst="ellipse">
            <a:avLst/>
          </a:prstGeom>
          <a:solidFill>
            <a:srgbClr val="F4A26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57" name="Google Shape;457;g3d9e588f0ee_1_345"/>
          <p:cNvSpPr/>
          <p:nvPr/>
        </p:nvSpPr>
        <p:spPr>
          <a:xfrm>
            <a:off x="6675120" y="731520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8</a:t>
            </a:r>
            <a:endParaRPr b="0" i="0" sz="3200" u="none" cap="none" strike="noStrike">
              <a:solidFill>
                <a:schemeClr val="dk1"/>
              </a:solidFill>
              <a:latin typeface="Calibri"/>
              <a:ea typeface="Calibri"/>
              <a:cs typeface="Calibri"/>
              <a:sym typeface="Calibri"/>
            </a:endParaRPr>
          </a:p>
        </p:txBody>
      </p:sp>
      <p:sp>
        <p:nvSpPr>
          <p:cNvPr id="458" name="Google Shape;458;g3d9e588f0ee_1_345"/>
          <p:cNvSpPr/>
          <p:nvPr/>
        </p:nvSpPr>
        <p:spPr>
          <a:xfrm>
            <a:off x="7589520" y="731520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Route FPC cable; verify no pinch points; close sandal</a:t>
            </a:r>
            <a:endParaRPr b="0" i="0" sz="2600" u="none" cap="none" strike="noStrike">
              <a:solidFill>
                <a:schemeClr val="dk1"/>
              </a:solidFill>
              <a:latin typeface="Calibri"/>
              <a:ea typeface="Calibri"/>
              <a:cs typeface="Calibri"/>
              <a:sym typeface="Calibri"/>
            </a:endParaRPr>
          </a:p>
        </p:txBody>
      </p:sp>
      <p:sp>
        <p:nvSpPr>
          <p:cNvPr id="459" name="Google Shape;459;g3d9e588f0ee_1_345"/>
          <p:cNvSpPr/>
          <p:nvPr/>
        </p:nvSpPr>
        <p:spPr>
          <a:xfrm>
            <a:off x="12252960" y="7132320"/>
            <a:ext cx="5212200" cy="20118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60" name="Google Shape;460;g3d9e588f0ee_1_345"/>
          <p:cNvSpPr/>
          <p:nvPr/>
        </p:nvSpPr>
        <p:spPr>
          <a:xfrm>
            <a:off x="12435840" y="7315200"/>
            <a:ext cx="731400" cy="731400"/>
          </a:xfrm>
          <a:prstGeom prst="ellipse">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61" name="Google Shape;461;g3d9e588f0ee_1_345"/>
          <p:cNvSpPr/>
          <p:nvPr/>
        </p:nvSpPr>
        <p:spPr>
          <a:xfrm>
            <a:off x="12435840" y="7315200"/>
            <a:ext cx="7314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Georgia"/>
              <a:buNone/>
            </a:pPr>
            <a:r>
              <a:rPr b="1" i="0" lang="en-US" sz="3200" u="none" cap="none" strike="noStrike">
                <a:solidFill>
                  <a:srgbClr val="FFFFFF"/>
                </a:solidFill>
                <a:latin typeface="Georgia"/>
                <a:ea typeface="Georgia"/>
                <a:cs typeface="Georgia"/>
                <a:sym typeface="Georgia"/>
              </a:rPr>
              <a:t>9</a:t>
            </a:r>
            <a:endParaRPr b="0" i="0" sz="3200" u="none" cap="none" strike="noStrike">
              <a:solidFill>
                <a:schemeClr val="dk1"/>
              </a:solidFill>
              <a:latin typeface="Calibri"/>
              <a:ea typeface="Calibri"/>
              <a:cs typeface="Calibri"/>
              <a:sym typeface="Calibri"/>
            </a:endParaRPr>
          </a:p>
        </p:txBody>
      </p:sp>
      <p:sp>
        <p:nvSpPr>
          <p:cNvPr id="462" name="Google Shape;462;g3d9e588f0ee_1_345"/>
          <p:cNvSpPr/>
          <p:nvPr/>
        </p:nvSpPr>
        <p:spPr>
          <a:xfrm>
            <a:off x="13350240" y="7315200"/>
            <a:ext cx="3840600" cy="1554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D3F"/>
              </a:buClr>
              <a:buSzPts val="1800"/>
              <a:buFont typeface="Calibri"/>
              <a:buNone/>
            </a:pPr>
            <a:r>
              <a:rPr b="0" i="0" lang="en-US" sz="2600" u="none" cap="none" strike="noStrike">
                <a:solidFill>
                  <a:srgbClr val="1C2D3F"/>
                </a:solidFill>
                <a:latin typeface="Calibri"/>
                <a:ea typeface="Calibri"/>
                <a:cs typeface="Calibri"/>
                <a:sym typeface="Calibri"/>
              </a:rPr>
              <a:t>Full system walk test — confirm no signal degradation</a:t>
            </a:r>
            <a:endParaRPr b="0" i="0" sz="2600" u="none" cap="none" strike="noStrike">
              <a:solidFill>
                <a:schemeClr val="dk1"/>
              </a:solidFill>
              <a:latin typeface="Calibri"/>
              <a:ea typeface="Calibri"/>
              <a:cs typeface="Calibri"/>
              <a:sym typeface="Calibri"/>
            </a:endParaRPr>
          </a:p>
        </p:txBody>
      </p:sp>
      <p:sp>
        <p:nvSpPr>
          <p:cNvPr id="463" name="Google Shape;463;g3d9e588f0ee_1_345"/>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64" name="Google Shape;464;g3d9e588f0ee_1_345"/>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Nwachukwu Anene</a:t>
            </a:r>
            <a:endParaRPr b="0" i="0" sz="1800" u="none" cap="none" strike="noStrike">
              <a:solidFill>
                <a:schemeClr val="dk1"/>
              </a:solidFill>
              <a:latin typeface="Calibri"/>
              <a:ea typeface="Calibri"/>
              <a:cs typeface="Calibri"/>
              <a:sym typeface="Calibri"/>
            </a:endParaRPr>
          </a:p>
        </p:txBody>
      </p:sp>
      <p:sp>
        <p:nvSpPr>
          <p:cNvPr id="465" name="Google Shape;465;g3d9e588f0ee_1_345"/>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470" name="Shape 470"/>
        <p:cNvGrpSpPr/>
        <p:nvPr/>
      </p:nvGrpSpPr>
      <p:grpSpPr>
        <a:xfrm>
          <a:off x="0" y="0"/>
          <a:ext cx="0" cy="0"/>
          <a:chOff x="0" y="0"/>
          <a:chExt cx="0" cy="0"/>
        </a:xfrm>
      </p:grpSpPr>
      <p:sp>
        <p:nvSpPr>
          <p:cNvPr id="471" name="Google Shape;471;g3d9e588f0ee_1_392"/>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72" name="Google Shape;472;g3d9e588f0ee_1_392"/>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73" name="Google Shape;473;g3d9e588f0ee_1_392"/>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Prototype Verification &amp; Testing</a:t>
            </a:r>
            <a:endParaRPr b="0" i="0" sz="4400" u="none" cap="none" strike="noStrike">
              <a:solidFill>
                <a:schemeClr val="dk1"/>
              </a:solidFill>
              <a:latin typeface="Calibri"/>
              <a:ea typeface="Calibri"/>
              <a:cs typeface="Calibri"/>
              <a:sym typeface="Calibri"/>
            </a:endParaRPr>
          </a:p>
        </p:txBody>
      </p:sp>
      <p:sp>
        <p:nvSpPr>
          <p:cNvPr id="474" name="Google Shape;474;g3d9e588f0ee_1_392"/>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1.2e — Assembly images and verification results</a:t>
            </a:r>
            <a:endParaRPr b="0" i="0" sz="2200" u="none" cap="none" strike="noStrike">
              <a:solidFill>
                <a:schemeClr val="dk1"/>
              </a:solidFill>
              <a:latin typeface="Calibri"/>
              <a:ea typeface="Calibri"/>
              <a:cs typeface="Calibri"/>
              <a:sym typeface="Calibri"/>
            </a:endParaRPr>
          </a:p>
        </p:txBody>
      </p:sp>
      <p:sp>
        <p:nvSpPr>
          <p:cNvPr id="475" name="Google Shape;475;g3d9e588f0ee_1_392"/>
          <p:cNvSpPr/>
          <p:nvPr/>
        </p:nvSpPr>
        <p:spPr>
          <a:xfrm>
            <a:off x="731520" y="6217920"/>
            <a:ext cx="16825200" cy="2652000"/>
          </a:xfrm>
          <a:prstGeom prst="rect">
            <a:avLst/>
          </a:prstGeom>
          <a:solidFill>
            <a:srgbClr val="FFFFFF"/>
          </a:solidFill>
          <a:ln cap="flat" cmpd="sng" w="1905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sz="2200"/>
          </a:p>
        </p:txBody>
      </p:sp>
      <p:sp>
        <p:nvSpPr>
          <p:cNvPr id="476" name="Google Shape;476;g3d9e588f0ee_1_392"/>
          <p:cNvSpPr/>
          <p:nvPr/>
        </p:nvSpPr>
        <p:spPr>
          <a:xfrm>
            <a:off x="1097280" y="6400800"/>
            <a:ext cx="54864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D3F"/>
              </a:buClr>
              <a:buSzPts val="2200"/>
              <a:buFont typeface="Georgia"/>
              <a:buNone/>
            </a:pPr>
            <a:r>
              <a:rPr b="1" i="0" lang="en-US" sz="3000" u="none" cap="none" strike="noStrike">
                <a:solidFill>
                  <a:srgbClr val="1C2D3F"/>
                </a:solidFill>
                <a:latin typeface="Georgia"/>
                <a:ea typeface="Georgia"/>
                <a:cs typeface="Georgia"/>
                <a:sym typeface="Georgia"/>
              </a:rPr>
              <a:t>Verification Summary</a:t>
            </a:r>
            <a:endParaRPr b="0" i="0" sz="3000" u="none" cap="none" strike="noStrike">
              <a:solidFill>
                <a:schemeClr val="dk1"/>
              </a:solidFill>
              <a:latin typeface="Calibri"/>
              <a:ea typeface="Calibri"/>
              <a:cs typeface="Calibri"/>
              <a:sym typeface="Calibri"/>
            </a:endParaRPr>
          </a:p>
        </p:txBody>
      </p:sp>
      <p:sp>
        <p:nvSpPr>
          <p:cNvPr id="477" name="Google Shape;477;g3d9e588f0ee_1_392"/>
          <p:cNvSpPr/>
          <p:nvPr/>
        </p:nvSpPr>
        <p:spPr>
          <a:xfrm>
            <a:off x="1097280" y="6949440"/>
            <a:ext cx="16093200" cy="1554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B7B8D"/>
              </a:buClr>
              <a:buSzPts val="1900"/>
              <a:buFont typeface="Calibri"/>
              <a:buNone/>
            </a:pPr>
            <a:r>
              <a:rPr b="0" i="0" lang="en-US" sz="2700" u="none" cap="none" strike="noStrike">
                <a:solidFill>
                  <a:srgbClr val="6B7B8D"/>
                </a:solidFill>
                <a:latin typeface="Calibri"/>
                <a:ea typeface="Calibri"/>
                <a:cs typeface="Calibri"/>
                <a:sym typeface="Calibri"/>
              </a:rPr>
              <a:t>9/10 components passed acceptance testing. BMM150 magnetometer rejected (I2C inaccessible on Rev2). Integration verified in two stages: breadboard validation followed by sandal assembly walk test. All pressure channels, IMU axes, environmental sensors, BLE link, and alert thresholds confirmed operational.</a:t>
            </a:r>
            <a:endParaRPr b="0" i="0" sz="2700" u="none" cap="none" strike="noStrike">
              <a:solidFill>
                <a:schemeClr val="dk1"/>
              </a:solidFill>
              <a:latin typeface="Calibri"/>
              <a:ea typeface="Calibri"/>
              <a:cs typeface="Calibri"/>
              <a:sym typeface="Calibri"/>
            </a:endParaRPr>
          </a:p>
        </p:txBody>
      </p:sp>
      <p:sp>
        <p:nvSpPr>
          <p:cNvPr id="478" name="Google Shape;478;g3d9e588f0ee_1_392"/>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79" name="Google Shape;479;g3d9e588f0ee_1_392"/>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Pouya Behdinan </a:t>
            </a:r>
            <a:endParaRPr b="0" i="0" sz="1800" u="none" cap="none" strike="noStrike">
              <a:solidFill>
                <a:schemeClr val="dk1"/>
              </a:solidFill>
              <a:latin typeface="Calibri"/>
              <a:ea typeface="Calibri"/>
              <a:cs typeface="Calibri"/>
              <a:sym typeface="Calibri"/>
            </a:endParaRPr>
          </a:p>
        </p:txBody>
      </p:sp>
      <p:sp>
        <p:nvSpPr>
          <p:cNvPr id="480" name="Google Shape;480;g3d9e588f0ee_1_392"/>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pic>
        <p:nvPicPr>
          <p:cNvPr id="481" name="Google Shape;481;g3d9e588f0ee_1_392" title="IMG_7841.jpg"/>
          <p:cNvPicPr preferRelativeResize="0"/>
          <p:nvPr/>
        </p:nvPicPr>
        <p:blipFill rotWithShape="1">
          <a:blip r:embed="rId3">
            <a:alphaModFix/>
          </a:blip>
          <a:srcRect b="6305" l="0" r="0" t="12129"/>
          <a:stretch/>
        </p:blipFill>
        <p:spPr>
          <a:xfrm rot="-5400000">
            <a:off x="1313225" y="1903075"/>
            <a:ext cx="3058800" cy="4222200"/>
          </a:xfrm>
          <a:prstGeom prst="roundRect">
            <a:avLst>
              <a:gd fmla="val 16667" name="adj"/>
            </a:avLst>
          </a:prstGeom>
          <a:noFill/>
          <a:ln>
            <a:noFill/>
          </a:ln>
        </p:spPr>
      </p:pic>
      <p:pic>
        <p:nvPicPr>
          <p:cNvPr id="482" name="Google Shape;482;g3d9e588f0ee_1_392" title="IMG_7840.PNG"/>
          <p:cNvPicPr preferRelativeResize="0"/>
          <p:nvPr/>
        </p:nvPicPr>
        <p:blipFill rotWithShape="1">
          <a:blip r:embed="rId4">
            <a:alphaModFix/>
          </a:blip>
          <a:srcRect b="31761" l="0" r="0" t="32685"/>
          <a:stretch/>
        </p:blipFill>
        <p:spPr>
          <a:xfrm>
            <a:off x="6344025" y="2276874"/>
            <a:ext cx="4751700" cy="3657600"/>
          </a:xfrm>
          <a:prstGeom prst="roundRect">
            <a:avLst>
              <a:gd fmla="val 16667" name="adj"/>
            </a:avLst>
          </a:prstGeom>
          <a:noFill/>
          <a:ln>
            <a:noFill/>
          </a:ln>
        </p:spPr>
      </p:pic>
      <p:pic>
        <p:nvPicPr>
          <p:cNvPr id="483" name="Google Shape;483;g3d9e588f0ee_1_392"/>
          <p:cNvPicPr preferRelativeResize="0"/>
          <p:nvPr/>
        </p:nvPicPr>
        <p:blipFill>
          <a:blip r:embed="rId5">
            <a:alphaModFix/>
          </a:blip>
          <a:stretch>
            <a:fillRect/>
          </a:stretch>
        </p:blipFill>
        <p:spPr>
          <a:xfrm rot="-5400000">
            <a:off x="12991372" y="1460634"/>
            <a:ext cx="3291000" cy="5107200"/>
          </a:xfrm>
          <a:prstGeom prst="roundRect">
            <a:avLst>
              <a:gd fmla="val 16667" name="adj"/>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BFC"/>
        </a:solidFill>
      </p:bgPr>
    </p:bg>
    <p:spTree>
      <p:nvGrpSpPr>
        <p:cNvPr id="488" name="Shape 488"/>
        <p:cNvGrpSpPr/>
        <p:nvPr/>
      </p:nvGrpSpPr>
      <p:grpSpPr>
        <a:xfrm>
          <a:off x="0" y="0"/>
          <a:ext cx="0" cy="0"/>
          <a:chOff x="0" y="0"/>
          <a:chExt cx="0" cy="0"/>
        </a:xfrm>
      </p:grpSpPr>
      <p:sp>
        <p:nvSpPr>
          <p:cNvPr id="489" name="Google Shape;489;g3d9e588f0ee_1_412"/>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0" name="Google Shape;490;g3d9e588f0ee_1_412"/>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1" name="Google Shape;491;g3d9e588f0ee_1_412"/>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Identified Failure Modes</a:t>
            </a:r>
            <a:endParaRPr b="0" i="0" sz="4400" u="none" cap="none" strike="noStrike">
              <a:solidFill>
                <a:schemeClr val="dk1"/>
              </a:solidFill>
              <a:latin typeface="Calibri"/>
              <a:ea typeface="Calibri"/>
              <a:cs typeface="Calibri"/>
              <a:sym typeface="Calibri"/>
            </a:endParaRPr>
          </a:p>
        </p:txBody>
      </p:sp>
      <p:sp>
        <p:nvSpPr>
          <p:cNvPr id="492" name="Google Shape;492;g3d9e588f0ee_1_412"/>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2.1 — Six failure modes across five categories</a:t>
            </a:r>
            <a:endParaRPr b="0" i="0" sz="2200" u="none" cap="none" strike="noStrike">
              <a:solidFill>
                <a:schemeClr val="dk1"/>
              </a:solidFill>
              <a:latin typeface="Calibri"/>
              <a:ea typeface="Calibri"/>
              <a:cs typeface="Calibri"/>
              <a:sym typeface="Calibri"/>
            </a:endParaRPr>
          </a:p>
        </p:txBody>
      </p:sp>
      <p:graphicFrame>
        <p:nvGraphicFramePr>
          <p:cNvPr id="493" name="Google Shape;493;g3d9e588f0ee_1_412"/>
          <p:cNvGraphicFramePr/>
          <p:nvPr/>
        </p:nvGraphicFramePr>
        <p:xfrm>
          <a:off x="731520" y="2011680"/>
          <a:ext cx="3000000" cy="3000000"/>
        </p:xfrm>
        <a:graphic>
          <a:graphicData uri="http://schemas.openxmlformats.org/drawingml/2006/table">
            <a:tbl>
              <a:tblPr>
                <a:noFill/>
                <a:tableStyleId>{1D228925-EC50-4E52-8A8C-EF4C7BB9DE8A}</a:tableStyleId>
              </a:tblPr>
              <a:tblGrid>
                <a:gridCol w="4572000"/>
                <a:gridCol w="2743200"/>
                <a:gridCol w="5852150"/>
                <a:gridCol w="3657600"/>
              </a:tblGrid>
              <a:tr h="228600">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Failure Mode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Category</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Clinical Impact</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700" u="none" cap="none" strike="noStrike">
                          <a:solidFill>
                            <a:srgbClr val="FFFFFF"/>
                          </a:solidFill>
                          <a:latin typeface="Calibri"/>
                          <a:ea typeface="Calibri"/>
                          <a:cs typeface="Calibri"/>
                          <a:sym typeface="Calibri"/>
                        </a:rPr>
                        <a:t>Source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FSR adhesive delamination</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Mechanical Wear</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Underreported pressure → missed alerts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6B7B8D"/>
                        </a:buClr>
                        <a:buSzPts val="1800"/>
                        <a:buFont typeface="Calibri"/>
                        <a:buNone/>
                      </a:pPr>
                      <a:r>
                        <a:rPr lang="en-US" sz="2700" u="none" cap="none" strike="noStrike">
                          <a:solidFill>
                            <a:srgbClr val="6B7B8D"/>
                          </a:solidFill>
                          <a:latin typeface="Calibri"/>
                          <a:ea typeface="Calibri"/>
                          <a:cs typeface="Calibri"/>
                          <a:sym typeface="Calibri"/>
                        </a:rPr>
                        <a:t>Anticipated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60 Hz electromagnetic interference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Environmental</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False threshold crossings → alert fatigue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13778E"/>
                        </a:buClr>
                        <a:buSzPts val="1800"/>
                        <a:buFont typeface="Calibri"/>
                        <a:buNone/>
                      </a:pPr>
                      <a:r>
                        <a:rPr b="1" lang="en-US" sz="2700" u="none" cap="none" strike="noStrike">
                          <a:solidFill>
                            <a:srgbClr val="13778E"/>
                          </a:solidFill>
                          <a:latin typeface="Calibri"/>
                          <a:ea typeface="Calibri"/>
                          <a:cs typeface="Calibri"/>
                          <a:sym typeface="Calibri"/>
                        </a:rPr>
                        <a:t>Observed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Moisture ingress / corrosion</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Environmental</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Short circuits, signal degradation</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6B7B8D"/>
                        </a:buClr>
                        <a:buSzPts val="1800"/>
                        <a:buFont typeface="Calibri"/>
                        <a:buNone/>
                      </a:pPr>
                      <a:r>
                        <a:rPr lang="en-US" sz="2700" u="none" cap="none" strike="noStrike">
                          <a:solidFill>
                            <a:srgbClr val="6B7B8D"/>
                          </a:solidFill>
                          <a:latin typeface="Calibri"/>
                          <a:ea typeface="Calibri"/>
                          <a:cs typeface="Calibri"/>
                          <a:sym typeface="Calibri"/>
                        </a:rPr>
                        <a:t>Anticipated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BLE disconnection</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Wireless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No alerts reach patient during overload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6B7B8D"/>
                        </a:buClr>
                        <a:buSzPts val="1800"/>
                        <a:buFont typeface="Calibri"/>
                        <a:buNone/>
                      </a:pPr>
                      <a:r>
                        <a:rPr lang="en-US" sz="2700" u="none" cap="none" strike="noStrike">
                          <a:solidFill>
                            <a:srgbClr val="6B7B8D"/>
                          </a:solidFill>
                          <a:latin typeface="Calibri"/>
                          <a:ea typeface="Calibri"/>
                          <a:cs typeface="Calibri"/>
                          <a:sym typeface="Calibri"/>
                        </a:rPr>
                        <a:t>Anticipated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User forgets to charge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User Error</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Device dies mid-use, all monitoring stops</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6B7B8D"/>
                        </a:buClr>
                        <a:buSzPts val="1800"/>
                        <a:buFont typeface="Calibri"/>
                        <a:buNone/>
                      </a:pPr>
                      <a:r>
                        <a:rPr lang="en-US" sz="2700" u="none" cap="none" strike="noStrike">
                          <a:solidFill>
                            <a:srgbClr val="6B7B8D"/>
                          </a:solidFill>
                          <a:latin typeface="Calibri"/>
                          <a:ea typeface="Calibri"/>
                          <a:cs typeface="Calibri"/>
                          <a:sym typeface="Calibri"/>
                        </a:rPr>
                        <a:t>Anticipated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HS300x cold-boot zero read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Firmware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700" u="none" cap="none" strike="noStrike">
                          <a:solidFill>
                            <a:srgbClr val="000000"/>
                          </a:solidFill>
                          <a:latin typeface="Calibri"/>
                          <a:ea typeface="Calibri"/>
                          <a:cs typeface="Calibri"/>
                          <a:sym typeface="Calibri"/>
                        </a:rPr>
                        <a:t>Erroneous 0.0 values, reduced confidence</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13778E"/>
                        </a:buClr>
                        <a:buSzPts val="1800"/>
                        <a:buFont typeface="Calibri"/>
                        <a:buNone/>
                      </a:pPr>
                      <a:r>
                        <a:rPr b="1" lang="en-US" sz="2700" u="none" cap="none" strike="noStrike">
                          <a:solidFill>
                            <a:srgbClr val="13778E"/>
                          </a:solidFill>
                          <a:latin typeface="Calibri"/>
                          <a:ea typeface="Calibri"/>
                          <a:cs typeface="Calibri"/>
                          <a:sym typeface="Calibri"/>
                        </a:rPr>
                        <a:t>Observed</a:t>
                      </a:r>
                      <a:endParaRPr sz="27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bl>
          </a:graphicData>
        </a:graphic>
      </p:graphicFrame>
      <p:sp>
        <p:nvSpPr>
          <p:cNvPr id="494" name="Google Shape;494;g3d9e588f0ee_1_412"/>
          <p:cNvSpPr/>
          <p:nvPr/>
        </p:nvSpPr>
        <p:spPr>
          <a:xfrm>
            <a:off x="914400" y="7863840"/>
            <a:ext cx="16459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B8D"/>
              </a:buClr>
              <a:buSzPts val="1800"/>
              <a:buFont typeface="Calibri"/>
              <a:buNone/>
            </a:pPr>
            <a:r>
              <a:rPr b="0" i="1" lang="en-US" sz="2700" u="none" cap="none" strike="noStrike">
                <a:solidFill>
                  <a:srgbClr val="6B7B8D"/>
                </a:solidFill>
                <a:latin typeface="Calibri"/>
                <a:ea typeface="Calibri"/>
                <a:cs typeface="Calibri"/>
                <a:sym typeface="Calibri"/>
              </a:rPr>
              <a:t>2 of 6 failure modes were directly observed and resolved during prototype development. The remaining 4 are anticipated based on the device's mechanical and electrical design.</a:t>
            </a:r>
            <a:endParaRPr b="0" i="0" sz="2700" u="none" cap="none" strike="noStrike">
              <a:solidFill>
                <a:schemeClr val="dk1"/>
              </a:solidFill>
              <a:latin typeface="Calibri"/>
              <a:ea typeface="Calibri"/>
              <a:cs typeface="Calibri"/>
              <a:sym typeface="Calibri"/>
            </a:endParaRPr>
          </a:p>
        </p:txBody>
      </p:sp>
      <p:sp>
        <p:nvSpPr>
          <p:cNvPr id="495" name="Google Shape;495;g3d9e588f0ee_1_412"/>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6" name="Google Shape;496;g3d9e588f0ee_1_412"/>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Pouya Behdinan</a:t>
            </a:r>
            <a:endParaRPr b="0" i="0" sz="1800" u="none" cap="none" strike="noStrike">
              <a:solidFill>
                <a:schemeClr val="dk1"/>
              </a:solidFill>
              <a:latin typeface="Calibri"/>
              <a:ea typeface="Calibri"/>
              <a:cs typeface="Calibri"/>
              <a:sym typeface="Calibri"/>
            </a:endParaRPr>
          </a:p>
        </p:txBody>
      </p:sp>
      <p:sp>
        <p:nvSpPr>
          <p:cNvPr id="497" name="Google Shape;497;g3d9e588f0ee_1_412"/>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e6b89f23fc_0_0"/>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e6b89f23fc_0_0"/>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e6b89f23fc_0_0"/>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FMEA Identified Failure Modes</a:t>
            </a:r>
            <a:endParaRPr b="0" i="0" sz="4400" u="none" cap="none" strike="noStrike">
              <a:solidFill>
                <a:srgbClr val="000000"/>
              </a:solidFill>
              <a:latin typeface="Arial"/>
              <a:ea typeface="Arial"/>
              <a:cs typeface="Arial"/>
              <a:sym typeface="Arial"/>
            </a:endParaRPr>
          </a:p>
        </p:txBody>
      </p:sp>
      <p:sp>
        <p:nvSpPr>
          <p:cNvPr id="505" name="Google Shape;505;g3e6b89f23fc_0_0"/>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2.1 — Six failure modes across five categories</a:t>
            </a:r>
            <a:endParaRPr b="0" i="0" sz="2200" u="none" cap="none" strike="noStrike">
              <a:solidFill>
                <a:srgbClr val="000000"/>
              </a:solidFill>
              <a:latin typeface="Arial"/>
              <a:ea typeface="Arial"/>
              <a:cs typeface="Arial"/>
              <a:sym typeface="Arial"/>
            </a:endParaRPr>
          </a:p>
        </p:txBody>
      </p:sp>
      <p:sp>
        <p:nvSpPr>
          <p:cNvPr id="506" name="Google Shape;506;g3e6b89f23fc_0_0"/>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g3e6b89f23fc_0_0"/>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Pouya Behdinan</a:t>
            </a:r>
            <a:endParaRPr b="0" i="0" sz="1800" u="none" cap="none" strike="noStrike">
              <a:solidFill>
                <a:srgbClr val="000000"/>
              </a:solidFill>
              <a:latin typeface="Arial"/>
              <a:ea typeface="Arial"/>
              <a:cs typeface="Arial"/>
              <a:sym typeface="Arial"/>
            </a:endParaRPr>
          </a:p>
        </p:txBody>
      </p:sp>
      <p:sp>
        <p:nvSpPr>
          <p:cNvPr id="508" name="Google Shape;508;g3e6b89f23fc_0_0"/>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sp>
        <p:nvSpPr>
          <p:cNvPr id="509" name="Google Shape;509;g3e6b89f23fc_0_0"/>
          <p:cNvSpPr/>
          <p:nvPr/>
        </p:nvSpPr>
        <p:spPr>
          <a:xfrm>
            <a:off x="731520" y="219456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e6b89f23fc_0_0"/>
          <p:cNvSpPr/>
          <p:nvPr/>
        </p:nvSpPr>
        <p:spPr>
          <a:xfrm>
            <a:off x="731520" y="2194560"/>
            <a:ext cx="5303400" cy="915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e6b89f23fc_0_0"/>
          <p:cNvSpPr/>
          <p:nvPr/>
        </p:nvSpPr>
        <p:spPr>
          <a:xfrm>
            <a:off x="1005840" y="24688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600" u="none" cap="none" strike="noStrike">
                <a:solidFill>
                  <a:srgbClr val="6B7B8D"/>
                </a:solidFill>
                <a:latin typeface="Calibri"/>
                <a:ea typeface="Calibri"/>
                <a:cs typeface="Calibri"/>
                <a:sym typeface="Calibri"/>
              </a:rPr>
              <a:t>FM-01  ·  Mechanical</a:t>
            </a:r>
            <a:endParaRPr b="0" i="0" sz="2600" u="none" cap="none" strike="noStrike">
              <a:solidFill>
                <a:srgbClr val="000000"/>
              </a:solidFill>
              <a:latin typeface="Arial"/>
              <a:ea typeface="Arial"/>
              <a:cs typeface="Arial"/>
              <a:sym typeface="Arial"/>
            </a:endParaRPr>
          </a:p>
        </p:txBody>
      </p:sp>
      <p:sp>
        <p:nvSpPr>
          <p:cNvPr id="512" name="Google Shape;512;g3e6b89f23fc_0_0"/>
          <p:cNvSpPr/>
          <p:nvPr/>
        </p:nvSpPr>
        <p:spPr>
          <a:xfrm>
            <a:off x="1005840" y="2926080"/>
            <a:ext cx="4755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200" u="none" cap="none" strike="noStrike">
                <a:solidFill>
                  <a:srgbClr val="1C2D3F"/>
                </a:solidFill>
                <a:latin typeface="Calibri"/>
                <a:ea typeface="Calibri"/>
                <a:cs typeface="Calibri"/>
                <a:sym typeface="Calibri"/>
              </a:rPr>
              <a:t>FSR adhesive delamination</a:t>
            </a:r>
            <a:endParaRPr b="0" i="0" sz="3200" u="none" cap="none" strike="noStrike">
              <a:solidFill>
                <a:srgbClr val="000000"/>
              </a:solidFill>
              <a:latin typeface="Arial"/>
              <a:ea typeface="Arial"/>
              <a:cs typeface="Arial"/>
              <a:sym typeface="Arial"/>
            </a:endParaRPr>
          </a:p>
        </p:txBody>
      </p:sp>
      <p:sp>
        <p:nvSpPr>
          <p:cNvPr id="513" name="Google Shape;513;g3e6b89f23fc_0_0"/>
          <p:cNvSpPr/>
          <p:nvPr/>
        </p:nvSpPr>
        <p:spPr>
          <a:xfrm>
            <a:off x="1005840" y="3657600"/>
            <a:ext cx="47550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800" u="none" cap="none" strike="noStrike">
                <a:solidFill>
                  <a:srgbClr val="6B7B8D"/>
                </a:solidFill>
                <a:latin typeface="Calibri"/>
                <a:ea typeface="Calibri"/>
                <a:cs typeface="Calibri"/>
                <a:sym typeface="Calibri"/>
              </a:rPr>
              <a:t>Underreported pressure; missed alerts during sustained overload</a:t>
            </a:r>
            <a:endParaRPr b="0" i="0" sz="2800" u="none" cap="none" strike="noStrike">
              <a:solidFill>
                <a:srgbClr val="000000"/>
              </a:solidFill>
              <a:latin typeface="Arial"/>
              <a:ea typeface="Arial"/>
              <a:cs typeface="Arial"/>
              <a:sym typeface="Arial"/>
            </a:endParaRPr>
          </a:p>
        </p:txBody>
      </p:sp>
      <p:sp>
        <p:nvSpPr>
          <p:cNvPr id="514" name="Google Shape;514;g3e6b89f23fc_0_0"/>
          <p:cNvSpPr/>
          <p:nvPr/>
        </p:nvSpPr>
        <p:spPr>
          <a:xfrm>
            <a:off x="1005840" y="47548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1" lang="en-US" sz="2600" u="none" cap="none" strike="noStrike">
                <a:solidFill>
                  <a:srgbClr val="6B7B8D"/>
                </a:solidFill>
                <a:latin typeface="Calibri"/>
                <a:ea typeface="Calibri"/>
                <a:cs typeface="Calibri"/>
                <a:sym typeface="Calibri"/>
              </a:rPr>
              <a:t>Source: Anticipated</a:t>
            </a:r>
            <a:endParaRPr b="0" i="0" sz="2600" u="none" cap="none" strike="noStrike">
              <a:solidFill>
                <a:srgbClr val="000000"/>
              </a:solidFill>
              <a:latin typeface="Arial"/>
              <a:ea typeface="Arial"/>
              <a:cs typeface="Arial"/>
              <a:sym typeface="Arial"/>
            </a:endParaRPr>
          </a:p>
        </p:txBody>
      </p:sp>
      <p:sp>
        <p:nvSpPr>
          <p:cNvPr id="515" name="Google Shape;515;g3e6b89f23fc_0_0"/>
          <p:cNvSpPr/>
          <p:nvPr/>
        </p:nvSpPr>
        <p:spPr>
          <a:xfrm>
            <a:off x="6400800" y="219456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e6b89f23fc_0_0"/>
          <p:cNvSpPr/>
          <p:nvPr/>
        </p:nvSpPr>
        <p:spPr>
          <a:xfrm>
            <a:off x="6400800" y="2194560"/>
            <a:ext cx="5303400" cy="91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e6b89f23fc_0_0"/>
          <p:cNvSpPr/>
          <p:nvPr/>
        </p:nvSpPr>
        <p:spPr>
          <a:xfrm>
            <a:off x="6675120" y="24688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600" u="none" cap="none" strike="noStrike">
                <a:solidFill>
                  <a:srgbClr val="6B7B8D"/>
                </a:solidFill>
                <a:latin typeface="Calibri"/>
                <a:ea typeface="Calibri"/>
                <a:cs typeface="Calibri"/>
                <a:sym typeface="Calibri"/>
              </a:rPr>
              <a:t>FM-02  ·  Environmental</a:t>
            </a:r>
            <a:endParaRPr b="0" i="0" sz="2600" u="none" cap="none" strike="noStrike">
              <a:solidFill>
                <a:srgbClr val="000000"/>
              </a:solidFill>
              <a:latin typeface="Arial"/>
              <a:ea typeface="Arial"/>
              <a:cs typeface="Arial"/>
              <a:sym typeface="Arial"/>
            </a:endParaRPr>
          </a:p>
        </p:txBody>
      </p:sp>
      <p:sp>
        <p:nvSpPr>
          <p:cNvPr id="518" name="Google Shape;518;g3e6b89f23fc_0_0"/>
          <p:cNvSpPr/>
          <p:nvPr/>
        </p:nvSpPr>
        <p:spPr>
          <a:xfrm>
            <a:off x="6675120" y="2926080"/>
            <a:ext cx="4755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200" u="none" cap="none" strike="noStrike">
                <a:solidFill>
                  <a:srgbClr val="1C2D3F"/>
                </a:solidFill>
                <a:latin typeface="Calibri"/>
                <a:ea typeface="Calibri"/>
                <a:cs typeface="Calibri"/>
                <a:sym typeface="Calibri"/>
              </a:rPr>
              <a:t>60 Hz EMI on analog lines</a:t>
            </a:r>
            <a:endParaRPr b="0" i="0" sz="3200" u="none" cap="none" strike="noStrike">
              <a:solidFill>
                <a:srgbClr val="000000"/>
              </a:solidFill>
              <a:latin typeface="Arial"/>
              <a:ea typeface="Arial"/>
              <a:cs typeface="Arial"/>
              <a:sym typeface="Arial"/>
            </a:endParaRPr>
          </a:p>
        </p:txBody>
      </p:sp>
      <p:sp>
        <p:nvSpPr>
          <p:cNvPr id="519" name="Google Shape;519;g3e6b89f23fc_0_0"/>
          <p:cNvSpPr/>
          <p:nvPr/>
        </p:nvSpPr>
        <p:spPr>
          <a:xfrm>
            <a:off x="6675120" y="3657600"/>
            <a:ext cx="47550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800" u="none" cap="none" strike="noStrike">
                <a:solidFill>
                  <a:srgbClr val="6B7B8D"/>
                </a:solidFill>
                <a:latin typeface="Calibri"/>
                <a:ea typeface="Calibri"/>
                <a:cs typeface="Calibri"/>
                <a:sym typeface="Calibri"/>
              </a:rPr>
              <a:t>False alerts from noise; patient ignores legitimate warnings</a:t>
            </a:r>
            <a:endParaRPr b="0" i="0" sz="2800" u="none" cap="none" strike="noStrike">
              <a:solidFill>
                <a:srgbClr val="000000"/>
              </a:solidFill>
              <a:latin typeface="Arial"/>
              <a:ea typeface="Arial"/>
              <a:cs typeface="Arial"/>
              <a:sym typeface="Arial"/>
            </a:endParaRPr>
          </a:p>
        </p:txBody>
      </p:sp>
      <p:sp>
        <p:nvSpPr>
          <p:cNvPr id="520" name="Google Shape;520;g3e6b89f23fc_0_0"/>
          <p:cNvSpPr/>
          <p:nvPr/>
        </p:nvSpPr>
        <p:spPr>
          <a:xfrm>
            <a:off x="6675120" y="4754880"/>
            <a:ext cx="4755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600"/>
              <a:buFont typeface="Arial"/>
              <a:buNone/>
            </a:pPr>
            <a:r>
              <a:rPr i="1" lang="en-US" sz="2600">
                <a:solidFill>
                  <a:srgbClr val="6B7B8D"/>
                </a:solidFill>
                <a:latin typeface="Calibri"/>
                <a:ea typeface="Calibri"/>
                <a:cs typeface="Calibri"/>
                <a:sym typeface="Calibri"/>
              </a:rPr>
              <a:t>Source: Anticipated</a:t>
            </a:r>
            <a:endParaRPr i="1" sz="2600">
              <a:solidFill>
                <a:srgbClr val="1DB7A8"/>
              </a:solidFill>
              <a:latin typeface="Calibri"/>
              <a:ea typeface="Calibri"/>
              <a:cs typeface="Calibri"/>
              <a:sym typeface="Calibri"/>
            </a:endParaRPr>
          </a:p>
        </p:txBody>
      </p:sp>
      <p:sp>
        <p:nvSpPr>
          <p:cNvPr id="521" name="Google Shape;521;g3e6b89f23fc_0_0"/>
          <p:cNvSpPr/>
          <p:nvPr/>
        </p:nvSpPr>
        <p:spPr>
          <a:xfrm>
            <a:off x="12070080" y="219456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g3e6b89f23fc_0_0"/>
          <p:cNvSpPr/>
          <p:nvPr/>
        </p:nvSpPr>
        <p:spPr>
          <a:xfrm>
            <a:off x="12070080" y="2194560"/>
            <a:ext cx="5303400" cy="91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3e6b89f23fc_0_0"/>
          <p:cNvSpPr/>
          <p:nvPr/>
        </p:nvSpPr>
        <p:spPr>
          <a:xfrm>
            <a:off x="12344400" y="24688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600" u="none" cap="none" strike="noStrike">
                <a:solidFill>
                  <a:srgbClr val="6B7B8D"/>
                </a:solidFill>
                <a:latin typeface="Calibri"/>
                <a:ea typeface="Calibri"/>
                <a:cs typeface="Calibri"/>
                <a:sym typeface="Calibri"/>
              </a:rPr>
              <a:t>FM-03  ·  Environmental</a:t>
            </a:r>
            <a:endParaRPr b="0" i="0" sz="2600" u="none" cap="none" strike="noStrike">
              <a:solidFill>
                <a:srgbClr val="000000"/>
              </a:solidFill>
              <a:latin typeface="Arial"/>
              <a:ea typeface="Arial"/>
              <a:cs typeface="Arial"/>
              <a:sym typeface="Arial"/>
            </a:endParaRPr>
          </a:p>
        </p:txBody>
      </p:sp>
      <p:sp>
        <p:nvSpPr>
          <p:cNvPr id="524" name="Google Shape;524;g3e6b89f23fc_0_0"/>
          <p:cNvSpPr/>
          <p:nvPr/>
        </p:nvSpPr>
        <p:spPr>
          <a:xfrm>
            <a:off x="12344400" y="2926080"/>
            <a:ext cx="4755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200" u="none" cap="none" strike="noStrike">
                <a:solidFill>
                  <a:srgbClr val="1C2D3F"/>
                </a:solidFill>
                <a:latin typeface="Calibri"/>
                <a:ea typeface="Calibri"/>
                <a:cs typeface="Calibri"/>
                <a:sym typeface="Calibri"/>
              </a:rPr>
              <a:t>Moisture ingress / corrosion</a:t>
            </a:r>
            <a:endParaRPr b="0" i="0" sz="3200" u="none" cap="none" strike="noStrike">
              <a:solidFill>
                <a:srgbClr val="000000"/>
              </a:solidFill>
              <a:latin typeface="Arial"/>
              <a:ea typeface="Arial"/>
              <a:cs typeface="Arial"/>
              <a:sym typeface="Arial"/>
            </a:endParaRPr>
          </a:p>
        </p:txBody>
      </p:sp>
      <p:sp>
        <p:nvSpPr>
          <p:cNvPr id="525" name="Google Shape;525;g3e6b89f23fc_0_0"/>
          <p:cNvSpPr/>
          <p:nvPr/>
        </p:nvSpPr>
        <p:spPr>
          <a:xfrm>
            <a:off x="12344400" y="3657600"/>
            <a:ext cx="47550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800" u="none" cap="none" strike="noStrike">
                <a:solidFill>
                  <a:srgbClr val="6B7B8D"/>
                </a:solidFill>
                <a:latin typeface="Calibri"/>
                <a:ea typeface="Calibri"/>
                <a:cs typeface="Calibri"/>
                <a:sym typeface="Calibri"/>
              </a:rPr>
              <a:t>Short circuits; silent monitoring loss during wear</a:t>
            </a:r>
            <a:endParaRPr b="0" i="0" sz="2800" u="none" cap="none" strike="noStrike">
              <a:solidFill>
                <a:srgbClr val="000000"/>
              </a:solidFill>
              <a:latin typeface="Arial"/>
              <a:ea typeface="Arial"/>
              <a:cs typeface="Arial"/>
              <a:sym typeface="Arial"/>
            </a:endParaRPr>
          </a:p>
        </p:txBody>
      </p:sp>
      <p:sp>
        <p:nvSpPr>
          <p:cNvPr id="526" name="Google Shape;526;g3e6b89f23fc_0_0"/>
          <p:cNvSpPr/>
          <p:nvPr/>
        </p:nvSpPr>
        <p:spPr>
          <a:xfrm>
            <a:off x="12344400" y="47548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1" lang="en-US" sz="2600" u="none" cap="none" strike="noStrike">
                <a:solidFill>
                  <a:srgbClr val="6B7B8D"/>
                </a:solidFill>
                <a:latin typeface="Calibri"/>
                <a:ea typeface="Calibri"/>
                <a:cs typeface="Calibri"/>
                <a:sym typeface="Calibri"/>
              </a:rPr>
              <a:t>Source: Anticipated</a:t>
            </a:r>
            <a:endParaRPr b="0" i="0" sz="2600" u="none" cap="none" strike="noStrike">
              <a:solidFill>
                <a:srgbClr val="000000"/>
              </a:solidFill>
              <a:latin typeface="Arial"/>
              <a:ea typeface="Arial"/>
              <a:cs typeface="Arial"/>
              <a:sym typeface="Arial"/>
            </a:endParaRPr>
          </a:p>
        </p:txBody>
      </p:sp>
      <p:sp>
        <p:nvSpPr>
          <p:cNvPr id="527" name="Google Shape;527;g3e6b89f23fc_0_0"/>
          <p:cNvSpPr/>
          <p:nvPr/>
        </p:nvSpPr>
        <p:spPr>
          <a:xfrm>
            <a:off x="731520" y="585216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e6b89f23fc_0_0"/>
          <p:cNvSpPr/>
          <p:nvPr/>
        </p:nvSpPr>
        <p:spPr>
          <a:xfrm>
            <a:off x="731520" y="5852160"/>
            <a:ext cx="5303400" cy="91500"/>
          </a:xfrm>
          <a:prstGeom prst="rect">
            <a:avLst/>
          </a:prstGeom>
          <a:solidFill>
            <a:srgbClr val="137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3e6b89f23fc_0_0"/>
          <p:cNvSpPr/>
          <p:nvPr/>
        </p:nvSpPr>
        <p:spPr>
          <a:xfrm>
            <a:off x="1005840" y="61264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600" u="none" cap="none" strike="noStrike">
                <a:solidFill>
                  <a:srgbClr val="6B7B8D"/>
                </a:solidFill>
                <a:latin typeface="Calibri"/>
                <a:ea typeface="Calibri"/>
                <a:cs typeface="Calibri"/>
                <a:sym typeface="Calibri"/>
              </a:rPr>
              <a:t>FM-04  ·  Wireless</a:t>
            </a:r>
            <a:endParaRPr b="0" i="0" sz="2600" u="none" cap="none" strike="noStrike">
              <a:solidFill>
                <a:srgbClr val="000000"/>
              </a:solidFill>
              <a:latin typeface="Arial"/>
              <a:ea typeface="Arial"/>
              <a:cs typeface="Arial"/>
              <a:sym typeface="Arial"/>
            </a:endParaRPr>
          </a:p>
        </p:txBody>
      </p:sp>
      <p:sp>
        <p:nvSpPr>
          <p:cNvPr id="530" name="Google Shape;530;g3e6b89f23fc_0_0"/>
          <p:cNvSpPr/>
          <p:nvPr/>
        </p:nvSpPr>
        <p:spPr>
          <a:xfrm>
            <a:off x="1005840" y="6583680"/>
            <a:ext cx="4755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200" u="none" cap="none" strike="noStrike">
                <a:solidFill>
                  <a:srgbClr val="1C2D3F"/>
                </a:solidFill>
                <a:latin typeface="Calibri"/>
                <a:ea typeface="Calibri"/>
                <a:cs typeface="Calibri"/>
                <a:sym typeface="Calibri"/>
              </a:rPr>
              <a:t>BLE disconnection</a:t>
            </a:r>
            <a:endParaRPr b="0" i="0" sz="3200" u="none" cap="none" strike="noStrike">
              <a:solidFill>
                <a:srgbClr val="000000"/>
              </a:solidFill>
              <a:latin typeface="Arial"/>
              <a:ea typeface="Arial"/>
              <a:cs typeface="Arial"/>
              <a:sym typeface="Arial"/>
            </a:endParaRPr>
          </a:p>
        </p:txBody>
      </p:sp>
      <p:sp>
        <p:nvSpPr>
          <p:cNvPr id="531" name="Google Shape;531;g3e6b89f23fc_0_0"/>
          <p:cNvSpPr/>
          <p:nvPr/>
        </p:nvSpPr>
        <p:spPr>
          <a:xfrm>
            <a:off x="1005840" y="7315200"/>
            <a:ext cx="47550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800" u="none" cap="none" strike="noStrike">
                <a:solidFill>
                  <a:srgbClr val="6B7B8D"/>
                </a:solidFill>
                <a:latin typeface="Calibri"/>
                <a:ea typeface="Calibri"/>
                <a:cs typeface="Calibri"/>
                <a:sym typeface="Calibri"/>
              </a:rPr>
              <a:t>No alerts reach patient during dangerous loading</a:t>
            </a:r>
            <a:endParaRPr b="0" i="0" sz="2800" u="none" cap="none" strike="noStrike">
              <a:solidFill>
                <a:srgbClr val="000000"/>
              </a:solidFill>
              <a:latin typeface="Arial"/>
              <a:ea typeface="Arial"/>
              <a:cs typeface="Arial"/>
              <a:sym typeface="Arial"/>
            </a:endParaRPr>
          </a:p>
        </p:txBody>
      </p:sp>
      <p:sp>
        <p:nvSpPr>
          <p:cNvPr id="532" name="Google Shape;532;g3e6b89f23fc_0_0"/>
          <p:cNvSpPr/>
          <p:nvPr/>
        </p:nvSpPr>
        <p:spPr>
          <a:xfrm>
            <a:off x="1005840" y="8412480"/>
            <a:ext cx="47550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600"/>
              <a:buFont typeface="Arial"/>
              <a:buNone/>
            </a:pPr>
            <a:r>
              <a:rPr i="1" lang="en-US" sz="2600">
                <a:solidFill>
                  <a:srgbClr val="1DB7A8"/>
                </a:solidFill>
                <a:latin typeface="Calibri"/>
                <a:ea typeface="Calibri"/>
                <a:cs typeface="Calibri"/>
                <a:sym typeface="Calibri"/>
              </a:rPr>
              <a:t>Source: Observed</a:t>
            </a:r>
            <a:endParaRPr i="1" sz="2600">
              <a:solidFill>
                <a:srgbClr val="6B7B8D"/>
              </a:solidFill>
              <a:latin typeface="Calibri"/>
              <a:ea typeface="Calibri"/>
              <a:cs typeface="Calibri"/>
              <a:sym typeface="Calibri"/>
            </a:endParaRPr>
          </a:p>
        </p:txBody>
      </p:sp>
      <p:sp>
        <p:nvSpPr>
          <p:cNvPr id="533" name="Google Shape;533;g3e6b89f23fc_0_0"/>
          <p:cNvSpPr/>
          <p:nvPr/>
        </p:nvSpPr>
        <p:spPr>
          <a:xfrm>
            <a:off x="6400800" y="585216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3e6b89f23fc_0_0"/>
          <p:cNvSpPr/>
          <p:nvPr/>
        </p:nvSpPr>
        <p:spPr>
          <a:xfrm>
            <a:off x="6400800" y="5852160"/>
            <a:ext cx="5303400" cy="915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g3e6b89f23fc_0_0"/>
          <p:cNvSpPr/>
          <p:nvPr/>
        </p:nvSpPr>
        <p:spPr>
          <a:xfrm>
            <a:off x="6675120" y="61264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600" u="none" cap="none" strike="noStrike">
                <a:solidFill>
                  <a:srgbClr val="6B7B8D"/>
                </a:solidFill>
                <a:latin typeface="Calibri"/>
                <a:ea typeface="Calibri"/>
                <a:cs typeface="Calibri"/>
                <a:sym typeface="Calibri"/>
              </a:rPr>
              <a:t>FM-05  ·  User Error</a:t>
            </a:r>
            <a:endParaRPr b="0" i="0" sz="2600" u="none" cap="none" strike="noStrike">
              <a:solidFill>
                <a:srgbClr val="000000"/>
              </a:solidFill>
              <a:latin typeface="Arial"/>
              <a:ea typeface="Arial"/>
              <a:cs typeface="Arial"/>
              <a:sym typeface="Arial"/>
            </a:endParaRPr>
          </a:p>
        </p:txBody>
      </p:sp>
      <p:sp>
        <p:nvSpPr>
          <p:cNvPr id="536" name="Google Shape;536;g3e6b89f23fc_0_0"/>
          <p:cNvSpPr/>
          <p:nvPr/>
        </p:nvSpPr>
        <p:spPr>
          <a:xfrm>
            <a:off x="6675120" y="6583680"/>
            <a:ext cx="4755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200" u="none" cap="none" strike="noStrike">
                <a:solidFill>
                  <a:srgbClr val="1C2D3F"/>
                </a:solidFill>
                <a:latin typeface="Calibri"/>
                <a:ea typeface="Calibri"/>
                <a:cs typeface="Calibri"/>
                <a:sym typeface="Calibri"/>
              </a:rPr>
              <a:t>User forgets to charge</a:t>
            </a:r>
            <a:endParaRPr b="0" i="0" sz="3200" u="none" cap="none" strike="noStrike">
              <a:solidFill>
                <a:srgbClr val="000000"/>
              </a:solidFill>
              <a:latin typeface="Arial"/>
              <a:ea typeface="Arial"/>
              <a:cs typeface="Arial"/>
              <a:sym typeface="Arial"/>
            </a:endParaRPr>
          </a:p>
        </p:txBody>
      </p:sp>
      <p:sp>
        <p:nvSpPr>
          <p:cNvPr id="537" name="Google Shape;537;g3e6b89f23fc_0_0"/>
          <p:cNvSpPr/>
          <p:nvPr/>
        </p:nvSpPr>
        <p:spPr>
          <a:xfrm>
            <a:off x="6675120" y="7315200"/>
            <a:ext cx="47550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800" u="none" cap="none" strike="noStrike">
                <a:solidFill>
                  <a:srgbClr val="6B7B8D"/>
                </a:solidFill>
                <a:latin typeface="Calibri"/>
                <a:ea typeface="Calibri"/>
                <a:cs typeface="Calibri"/>
                <a:sym typeface="Calibri"/>
              </a:rPr>
              <a:t>Complete monitoring loss for unknown duration</a:t>
            </a:r>
            <a:endParaRPr b="0" i="0" sz="2800" u="none" cap="none" strike="noStrike">
              <a:solidFill>
                <a:srgbClr val="000000"/>
              </a:solidFill>
              <a:latin typeface="Arial"/>
              <a:ea typeface="Arial"/>
              <a:cs typeface="Arial"/>
              <a:sym typeface="Arial"/>
            </a:endParaRPr>
          </a:p>
        </p:txBody>
      </p:sp>
      <p:sp>
        <p:nvSpPr>
          <p:cNvPr id="538" name="Google Shape;538;g3e6b89f23fc_0_0"/>
          <p:cNvSpPr/>
          <p:nvPr/>
        </p:nvSpPr>
        <p:spPr>
          <a:xfrm>
            <a:off x="6675120" y="84124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1" lang="en-US" sz="2600" u="none" cap="none" strike="noStrike">
                <a:solidFill>
                  <a:srgbClr val="6B7B8D"/>
                </a:solidFill>
                <a:latin typeface="Calibri"/>
                <a:ea typeface="Calibri"/>
                <a:cs typeface="Calibri"/>
                <a:sym typeface="Calibri"/>
              </a:rPr>
              <a:t>Source: Anticipated</a:t>
            </a:r>
            <a:endParaRPr b="0" i="0" sz="2600" u="none" cap="none" strike="noStrike">
              <a:solidFill>
                <a:srgbClr val="000000"/>
              </a:solidFill>
              <a:latin typeface="Arial"/>
              <a:ea typeface="Arial"/>
              <a:cs typeface="Arial"/>
              <a:sym typeface="Arial"/>
            </a:endParaRPr>
          </a:p>
        </p:txBody>
      </p:sp>
      <p:sp>
        <p:nvSpPr>
          <p:cNvPr id="539" name="Google Shape;539;g3e6b89f23fc_0_0"/>
          <p:cNvSpPr/>
          <p:nvPr/>
        </p:nvSpPr>
        <p:spPr>
          <a:xfrm>
            <a:off x="12070080" y="585216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3e6b89f23fc_0_0"/>
          <p:cNvSpPr/>
          <p:nvPr/>
        </p:nvSpPr>
        <p:spPr>
          <a:xfrm>
            <a:off x="12070080" y="5852160"/>
            <a:ext cx="5303400" cy="91500"/>
          </a:xfrm>
          <a:prstGeom prst="rect">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g3e6b89f23fc_0_0"/>
          <p:cNvSpPr/>
          <p:nvPr/>
        </p:nvSpPr>
        <p:spPr>
          <a:xfrm>
            <a:off x="12344400" y="61264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600" u="none" cap="none" strike="noStrike">
                <a:solidFill>
                  <a:srgbClr val="6B7B8D"/>
                </a:solidFill>
                <a:latin typeface="Calibri"/>
                <a:ea typeface="Calibri"/>
                <a:cs typeface="Calibri"/>
                <a:sym typeface="Calibri"/>
              </a:rPr>
              <a:t>FM-06  ·  Firmware</a:t>
            </a:r>
            <a:endParaRPr b="0" i="0" sz="2600" u="none" cap="none" strike="noStrike">
              <a:solidFill>
                <a:srgbClr val="000000"/>
              </a:solidFill>
              <a:latin typeface="Arial"/>
              <a:ea typeface="Arial"/>
              <a:cs typeface="Arial"/>
              <a:sym typeface="Arial"/>
            </a:endParaRPr>
          </a:p>
        </p:txBody>
      </p:sp>
      <p:sp>
        <p:nvSpPr>
          <p:cNvPr id="542" name="Google Shape;542;g3e6b89f23fc_0_0"/>
          <p:cNvSpPr/>
          <p:nvPr/>
        </p:nvSpPr>
        <p:spPr>
          <a:xfrm>
            <a:off x="12344400" y="6583680"/>
            <a:ext cx="4755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200" u="none" cap="none" strike="noStrike">
                <a:solidFill>
                  <a:srgbClr val="1C2D3F"/>
                </a:solidFill>
                <a:latin typeface="Calibri"/>
                <a:ea typeface="Calibri"/>
                <a:cs typeface="Calibri"/>
                <a:sym typeface="Calibri"/>
              </a:rPr>
              <a:t>HS300x cold-boot zero read</a:t>
            </a:r>
            <a:endParaRPr b="0" i="0" sz="3200" u="none" cap="none" strike="noStrike">
              <a:solidFill>
                <a:srgbClr val="000000"/>
              </a:solidFill>
              <a:latin typeface="Arial"/>
              <a:ea typeface="Arial"/>
              <a:cs typeface="Arial"/>
              <a:sym typeface="Arial"/>
            </a:endParaRPr>
          </a:p>
        </p:txBody>
      </p:sp>
      <p:sp>
        <p:nvSpPr>
          <p:cNvPr id="543" name="Google Shape;543;g3e6b89f23fc_0_0"/>
          <p:cNvSpPr/>
          <p:nvPr/>
        </p:nvSpPr>
        <p:spPr>
          <a:xfrm>
            <a:off x="12344400" y="7315200"/>
            <a:ext cx="47550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800" u="none" cap="none" strike="noStrike">
                <a:solidFill>
                  <a:srgbClr val="6B7B8D"/>
                </a:solidFill>
                <a:latin typeface="Calibri"/>
                <a:ea typeface="Calibri"/>
                <a:cs typeface="Calibri"/>
                <a:sym typeface="Calibri"/>
              </a:rPr>
              <a:t>Erroneous 0.0 values on first read; no alert impact</a:t>
            </a:r>
            <a:endParaRPr b="0" i="0" sz="2800" u="none" cap="none" strike="noStrike">
              <a:solidFill>
                <a:srgbClr val="000000"/>
              </a:solidFill>
              <a:latin typeface="Arial"/>
              <a:ea typeface="Arial"/>
              <a:cs typeface="Arial"/>
              <a:sym typeface="Arial"/>
            </a:endParaRPr>
          </a:p>
        </p:txBody>
      </p:sp>
      <p:sp>
        <p:nvSpPr>
          <p:cNvPr id="544" name="Google Shape;544;g3e6b89f23fc_0_0"/>
          <p:cNvSpPr/>
          <p:nvPr/>
        </p:nvSpPr>
        <p:spPr>
          <a:xfrm>
            <a:off x="12344400" y="841248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1" lang="en-US" sz="2600" u="none" cap="none" strike="noStrike">
                <a:solidFill>
                  <a:srgbClr val="1DB7A8"/>
                </a:solidFill>
                <a:latin typeface="Calibri"/>
                <a:ea typeface="Calibri"/>
                <a:cs typeface="Calibri"/>
                <a:sym typeface="Calibri"/>
              </a:rPr>
              <a:t>Source: Observed</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3e6b89f23fc_0_46"/>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3e6b89f23fc_0_46"/>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g3e6b89f23fc_0_46"/>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Risk Analysis — Severity Scale (S)</a:t>
            </a:r>
            <a:endParaRPr b="0" i="0" sz="4400" u="none" cap="none" strike="noStrike">
              <a:solidFill>
                <a:srgbClr val="000000"/>
              </a:solidFill>
              <a:latin typeface="Arial"/>
              <a:ea typeface="Arial"/>
              <a:cs typeface="Arial"/>
              <a:sym typeface="Arial"/>
            </a:endParaRPr>
          </a:p>
        </p:txBody>
      </p:sp>
      <p:sp>
        <p:nvSpPr>
          <p:cNvPr id="552" name="Google Shape;552;g3e6b89f23fc_0_46"/>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2.2a — Worst-case consequence if failure reaches patient undetected</a:t>
            </a:r>
            <a:endParaRPr b="0" i="0" sz="2200" u="none" cap="none" strike="noStrike">
              <a:solidFill>
                <a:srgbClr val="000000"/>
              </a:solidFill>
              <a:latin typeface="Arial"/>
              <a:ea typeface="Arial"/>
              <a:cs typeface="Arial"/>
              <a:sym typeface="Arial"/>
            </a:endParaRPr>
          </a:p>
        </p:txBody>
      </p:sp>
      <p:sp>
        <p:nvSpPr>
          <p:cNvPr id="553" name="Google Shape;553;g3e6b89f23fc_0_46"/>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g3e6b89f23fc_0_46"/>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rgbClr val="000000"/>
              </a:solidFill>
              <a:latin typeface="Arial"/>
              <a:ea typeface="Arial"/>
              <a:cs typeface="Arial"/>
              <a:sym typeface="Arial"/>
            </a:endParaRPr>
          </a:p>
        </p:txBody>
      </p:sp>
      <p:sp>
        <p:nvSpPr>
          <p:cNvPr id="555" name="Google Shape;555;g3e6b89f23fc_0_46"/>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graphicFrame>
        <p:nvGraphicFramePr>
          <p:cNvPr id="556" name="Google Shape;556;g3e6b89f23fc_0_46"/>
          <p:cNvGraphicFramePr/>
          <p:nvPr/>
        </p:nvGraphicFramePr>
        <p:xfrm>
          <a:off x="914400" y="2194560"/>
          <a:ext cx="3000000" cy="3000000"/>
        </p:xfrm>
        <a:graphic>
          <a:graphicData uri="http://schemas.openxmlformats.org/drawingml/2006/table">
            <a:tbl>
              <a:tblPr>
                <a:noFill/>
                <a:tableStyleId>{1D228925-EC50-4E52-8A8C-EF4C7BB9DE8A}</a:tableStyleId>
              </a:tblPr>
              <a:tblGrid>
                <a:gridCol w="1828800"/>
                <a:gridCol w="2377450"/>
                <a:gridCol w="12252950"/>
              </a:tblGrid>
              <a:tr h="254000">
                <a:tc>
                  <a:txBody>
                    <a:bodyPr/>
                    <a:lstStyle/>
                    <a:p>
                      <a:pPr indent="0" lvl="0" marL="0" marR="0" rtl="0" algn="l">
                        <a:lnSpc>
                          <a:spcPct val="100000"/>
                        </a:lnSpc>
                        <a:spcBef>
                          <a:spcPts val="0"/>
                        </a:spcBef>
                        <a:spcAft>
                          <a:spcPts val="0"/>
                        </a:spcAft>
                        <a:buClr>
                          <a:srgbClr val="000000"/>
                        </a:buClr>
                        <a:buSzPts val="2000"/>
                        <a:buFont typeface="Arial"/>
                        <a:buNone/>
                      </a:pPr>
                      <a:r>
                        <a:rPr b="1" lang="en-US" sz="3300" u="none" cap="none" strike="noStrike">
                          <a:solidFill>
                            <a:srgbClr val="FFFFFF"/>
                          </a:solidFill>
                          <a:latin typeface="Calibri"/>
                          <a:ea typeface="Calibri"/>
                          <a:cs typeface="Calibri"/>
                          <a:sym typeface="Calibri"/>
                        </a:rPr>
                        <a:t>Score</a:t>
                      </a:r>
                      <a:endParaRPr sz="33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3300" u="none" cap="none" strike="noStrike">
                          <a:solidFill>
                            <a:srgbClr val="FFFFFF"/>
                          </a:solidFill>
                          <a:latin typeface="Calibri"/>
                          <a:ea typeface="Calibri"/>
                          <a:cs typeface="Calibri"/>
                          <a:sym typeface="Calibri"/>
                        </a:rPr>
                        <a:t>Level</a:t>
                      </a:r>
                      <a:endParaRPr sz="33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3300" u="none" cap="none" strike="noStrike">
                          <a:solidFill>
                            <a:srgbClr val="FFFFFF"/>
                          </a:solidFill>
                          <a:latin typeface="Calibri"/>
                          <a:ea typeface="Calibri"/>
                          <a:cs typeface="Calibri"/>
                          <a:sym typeface="Calibri"/>
                        </a:rPr>
                        <a:t>Clinical Context</a:t>
                      </a:r>
                      <a:endParaRPr sz="33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1–3</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Minor</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Function slightly degraded; patient self-corrects; no safety impact</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4–6</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Moderate</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Accuracy reduced or alert frequency affected; no direct tissue injury</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7–8</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Serious</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Core monitoring fails; patient exposed to sustained overload without warning</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9–10</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Critical</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100" u="none" cap="none" strike="noStrike">
                          <a:solidFill>
                            <a:srgbClr val="1C2D3F"/>
                          </a:solidFill>
                          <a:latin typeface="Calibri"/>
                          <a:ea typeface="Calibri"/>
                          <a:cs typeface="Calibri"/>
                          <a:sym typeface="Calibri"/>
                        </a:rPr>
                        <a:t>Direct physical injury or complete silent failure; patient believes device works</a:t>
                      </a:r>
                      <a:endParaRPr sz="31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bl>
          </a:graphicData>
        </a:graphic>
      </p:graphicFrame>
      <p:sp>
        <p:nvSpPr>
          <p:cNvPr id="557" name="Google Shape;557;g3e6b89f23fc_0_46"/>
          <p:cNvSpPr/>
          <p:nvPr/>
        </p:nvSpPr>
        <p:spPr>
          <a:xfrm>
            <a:off x="914400" y="6662612"/>
            <a:ext cx="16459200" cy="23775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558" name="Google Shape;558;g3e6b89f23fc_0_46"/>
          <p:cNvSpPr/>
          <p:nvPr/>
        </p:nvSpPr>
        <p:spPr>
          <a:xfrm>
            <a:off x="914400" y="6568440"/>
            <a:ext cx="16459200" cy="91500"/>
          </a:xfrm>
          <a:prstGeom prst="rect">
            <a:avLst/>
          </a:prstGeom>
          <a:solidFill>
            <a:srgbClr val="137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559" name="Google Shape;559;g3e6b89f23fc_0_46"/>
          <p:cNvSpPr/>
          <p:nvPr/>
        </p:nvSpPr>
        <p:spPr>
          <a:xfrm>
            <a:off x="1280160" y="6845492"/>
            <a:ext cx="5486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500" u="none" cap="none" strike="noStrike">
                <a:solidFill>
                  <a:srgbClr val="1C2D3F"/>
                </a:solidFill>
                <a:latin typeface="Calibri"/>
                <a:ea typeface="Calibri"/>
                <a:cs typeface="Calibri"/>
                <a:sym typeface="Calibri"/>
              </a:rPr>
              <a:t>Scoring Rationale</a:t>
            </a:r>
            <a:endParaRPr b="0" i="0" sz="3500" u="none" cap="none" strike="noStrike">
              <a:solidFill>
                <a:srgbClr val="000000"/>
              </a:solidFill>
              <a:latin typeface="Arial"/>
              <a:ea typeface="Arial"/>
              <a:cs typeface="Arial"/>
              <a:sym typeface="Arial"/>
            </a:endParaRPr>
          </a:p>
        </p:txBody>
      </p:sp>
      <p:sp>
        <p:nvSpPr>
          <p:cNvPr id="560" name="Google Shape;560;g3e6b89f23fc_0_46"/>
          <p:cNvSpPr/>
          <p:nvPr/>
        </p:nvSpPr>
        <p:spPr>
          <a:xfrm>
            <a:off x="1280160" y="7485572"/>
            <a:ext cx="155448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3100" u="none" cap="none" strike="noStrike">
                <a:solidFill>
                  <a:srgbClr val="6B7B8D"/>
                </a:solidFill>
                <a:latin typeface="Calibri"/>
                <a:ea typeface="Calibri"/>
                <a:cs typeface="Calibri"/>
                <a:sym typeface="Calibri"/>
              </a:rPr>
              <a:t>Scores reflect consequences for the NeuroFoot intended use population: adults with diabetic peripheral neuropathy and loss of protective sensation (LOPS). A score of 7+ means the patient cannot independently detect the failure.</a:t>
            </a:r>
            <a:endParaRPr b="0" i="0" sz="31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e6b89f23fc_0_61"/>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g3e6b89f23fc_0_61"/>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g3e6b89f23fc_0_61"/>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Risk Analysis — Occurrence Scale (O)</a:t>
            </a:r>
            <a:endParaRPr b="0" i="0" sz="4400" u="none" cap="none" strike="noStrike">
              <a:solidFill>
                <a:srgbClr val="000000"/>
              </a:solidFill>
              <a:latin typeface="Arial"/>
              <a:ea typeface="Arial"/>
              <a:cs typeface="Arial"/>
              <a:sym typeface="Arial"/>
            </a:endParaRPr>
          </a:p>
        </p:txBody>
      </p:sp>
      <p:sp>
        <p:nvSpPr>
          <p:cNvPr id="568" name="Google Shape;568;g3e6b89f23fc_0_61"/>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2.2a — Estimated probability of failure during expected device lifetime</a:t>
            </a:r>
            <a:endParaRPr b="0" i="0" sz="2200" u="none" cap="none" strike="noStrike">
              <a:solidFill>
                <a:srgbClr val="000000"/>
              </a:solidFill>
              <a:latin typeface="Arial"/>
              <a:ea typeface="Arial"/>
              <a:cs typeface="Arial"/>
              <a:sym typeface="Arial"/>
            </a:endParaRPr>
          </a:p>
        </p:txBody>
      </p:sp>
      <p:sp>
        <p:nvSpPr>
          <p:cNvPr id="569" name="Google Shape;569;g3e6b89f23fc_0_61"/>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g3e6b89f23fc_0_61"/>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rgbClr val="000000"/>
              </a:solidFill>
              <a:latin typeface="Arial"/>
              <a:ea typeface="Arial"/>
              <a:cs typeface="Arial"/>
              <a:sym typeface="Arial"/>
            </a:endParaRPr>
          </a:p>
        </p:txBody>
      </p:sp>
      <p:sp>
        <p:nvSpPr>
          <p:cNvPr id="571" name="Google Shape;571;g3e6b89f23fc_0_61"/>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graphicFrame>
        <p:nvGraphicFramePr>
          <p:cNvPr id="572" name="Google Shape;572;g3e6b89f23fc_0_61"/>
          <p:cNvGraphicFramePr/>
          <p:nvPr/>
        </p:nvGraphicFramePr>
        <p:xfrm>
          <a:off x="914400" y="2194560"/>
          <a:ext cx="3000000" cy="3000000"/>
        </p:xfrm>
        <a:graphic>
          <a:graphicData uri="http://schemas.openxmlformats.org/drawingml/2006/table">
            <a:tbl>
              <a:tblPr>
                <a:noFill/>
                <a:tableStyleId>{1D228925-EC50-4E52-8A8C-EF4C7BB9DE8A}</a:tableStyleId>
              </a:tblPr>
              <a:tblGrid>
                <a:gridCol w="1828800"/>
                <a:gridCol w="4023350"/>
                <a:gridCol w="10607050"/>
              </a:tblGrid>
              <a:tr h="254000">
                <a:tc>
                  <a:txBody>
                    <a:bodyPr/>
                    <a:lstStyle/>
                    <a:p>
                      <a:pPr indent="0" lvl="0" marL="0" marR="0" rtl="0" algn="l">
                        <a:lnSpc>
                          <a:spcPct val="100000"/>
                        </a:lnSpc>
                        <a:spcBef>
                          <a:spcPts val="0"/>
                        </a:spcBef>
                        <a:spcAft>
                          <a:spcPts val="0"/>
                        </a:spcAft>
                        <a:buClr>
                          <a:srgbClr val="000000"/>
                        </a:buClr>
                        <a:buSzPts val="2000"/>
                        <a:buFont typeface="Arial"/>
                        <a:buNone/>
                      </a:pPr>
                      <a:r>
                        <a:rPr b="1" lang="en-US" sz="3400" u="none" cap="none" strike="noStrike">
                          <a:solidFill>
                            <a:srgbClr val="FFFFFF"/>
                          </a:solidFill>
                          <a:latin typeface="Calibri"/>
                          <a:ea typeface="Calibri"/>
                          <a:cs typeface="Calibri"/>
                          <a:sym typeface="Calibri"/>
                        </a:rPr>
                        <a:t>Score</a:t>
                      </a:r>
                      <a:endParaRPr sz="34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3400" u="none" cap="none" strike="noStrike">
                          <a:solidFill>
                            <a:srgbClr val="FFFFFF"/>
                          </a:solidFill>
                          <a:latin typeface="Calibri"/>
                          <a:ea typeface="Calibri"/>
                          <a:cs typeface="Calibri"/>
                          <a:sym typeface="Calibri"/>
                        </a:rPr>
                        <a:t>Frequency</a:t>
                      </a:r>
                      <a:endParaRPr sz="34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3400" u="none" cap="none" strike="noStrike">
                          <a:solidFill>
                            <a:srgbClr val="FFFFFF"/>
                          </a:solidFill>
                          <a:latin typeface="Calibri"/>
                          <a:ea typeface="Calibri"/>
                          <a:cs typeface="Calibri"/>
                          <a:sym typeface="Calibri"/>
                        </a:rPr>
                        <a:t>Basis</a:t>
                      </a:r>
                      <a:endParaRPr sz="34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1–2</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Remote (&lt;1 in 10,000)</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Component spec provides very high reliability assurance</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3–4</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Low (~1 in 1,000)</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Component meets spec; failure possible but infrequent</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5–6</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Moderate (~1 in 100)</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Known failure mechanism in literature; design partially mitigates</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7–8</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High (~1 in 10)</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Failure mechanism dominant; current design does not address</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9–10</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Very High (&gt;1 in 2)</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200" u="none" cap="none" strike="noStrike">
                          <a:solidFill>
                            <a:srgbClr val="1C2D3F"/>
                          </a:solidFill>
                          <a:latin typeface="Calibri"/>
                          <a:ea typeface="Calibri"/>
                          <a:cs typeface="Calibri"/>
                          <a:sym typeface="Calibri"/>
                        </a:rPr>
                        <a:t>Failure expected under normal use without corrective action</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bl>
          </a:graphicData>
        </a:graphic>
      </p:graphicFrame>
      <p:sp>
        <p:nvSpPr>
          <p:cNvPr id="573" name="Google Shape;573;g3e6b89f23fc_0_61"/>
          <p:cNvSpPr/>
          <p:nvPr/>
        </p:nvSpPr>
        <p:spPr>
          <a:xfrm>
            <a:off x="914400" y="7345680"/>
            <a:ext cx="16459200" cy="16458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574" name="Google Shape;574;g3e6b89f23fc_0_61"/>
          <p:cNvSpPr/>
          <p:nvPr/>
        </p:nvSpPr>
        <p:spPr>
          <a:xfrm>
            <a:off x="914400" y="7345680"/>
            <a:ext cx="16459200" cy="91500"/>
          </a:xfrm>
          <a:prstGeom prst="rect">
            <a:avLst/>
          </a:prstGeom>
          <a:solidFill>
            <a:srgbClr val="137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575" name="Google Shape;575;g3e6b89f23fc_0_61"/>
          <p:cNvSpPr/>
          <p:nvPr/>
        </p:nvSpPr>
        <p:spPr>
          <a:xfrm>
            <a:off x="1280160" y="762000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3200" u="none" cap="none" strike="noStrike">
                <a:solidFill>
                  <a:srgbClr val="6B7B8D"/>
                </a:solidFill>
                <a:latin typeface="Calibri"/>
                <a:ea typeface="Calibri"/>
                <a:cs typeface="Calibri"/>
                <a:sym typeface="Calibri"/>
              </a:rPr>
              <a:t>Estimates based on available evidence at PDR stage: datasheet specs, published literature, and prototype test observations.</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e6b89f23fc_0_75"/>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g3e6b89f23fc_0_75"/>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g3e6b89f23fc_0_75"/>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Risk Analysis — Detection Scale (D)</a:t>
            </a:r>
            <a:endParaRPr b="0" i="0" sz="4400" u="none" cap="none" strike="noStrike">
              <a:solidFill>
                <a:srgbClr val="000000"/>
              </a:solidFill>
              <a:latin typeface="Arial"/>
              <a:ea typeface="Arial"/>
              <a:cs typeface="Arial"/>
              <a:sym typeface="Arial"/>
            </a:endParaRPr>
          </a:p>
        </p:txBody>
      </p:sp>
      <p:sp>
        <p:nvSpPr>
          <p:cNvPr id="583" name="Google Shape;583;g3e6b89f23fc_0_75"/>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2.2a — Ability of design controls to identify failure before patient impact</a:t>
            </a:r>
            <a:endParaRPr b="0" i="0" sz="2200" u="none" cap="none" strike="noStrike">
              <a:solidFill>
                <a:srgbClr val="000000"/>
              </a:solidFill>
              <a:latin typeface="Arial"/>
              <a:ea typeface="Arial"/>
              <a:cs typeface="Arial"/>
              <a:sym typeface="Arial"/>
            </a:endParaRPr>
          </a:p>
        </p:txBody>
      </p:sp>
      <p:sp>
        <p:nvSpPr>
          <p:cNvPr id="584" name="Google Shape;584;g3e6b89f23fc_0_75"/>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g3e6b89f23fc_0_75"/>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rgbClr val="000000"/>
              </a:solidFill>
              <a:latin typeface="Arial"/>
              <a:ea typeface="Arial"/>
              <a:cs typeface="Arial"/>
              <a:sym typeface="Arial"/>
            </a:endParaRPr>
          </a:p>
        </p:txBody>
      </p:sp>
      <p:sp>
        <p:nvSpPr>
          <p:cNvPr id="586" name="Google Shape;586;g3e6b89f23fc_0_75"/>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graphicFrame>
        <p:nvGraphicFramePr>
          <p:cNvPr id="587" name="Google Shape;587;g3e6b89f23fc_0_75"/>
          <p:cNvGraphicFramePr/>
          <p:nvPr/>
        </p:nvGraphicFramePr>
        <p:xfrm>
          <a:off x="914400" y="2194560"/>
          <a:ext cx="3000000" cy="3000000"/>
        </p:xfrm>
        <a:graphic>
          <a:graphicData uri="http://schemas.openxmlformats.org/drawingml/2006/table">
            <a:tbl>
              <a:tblPr>
                <a:noFill/>
                <a:tableStyleId>{1D228925-EC50-4E52-8A8C-EF4C7BB9DE8A}</a:tableStyleId>
              </a:tblPr>
              <a:tblGrid>
                <a:gridCol w="1828800"/>
                <a:gridCol w="3291850"/>
                <a:gridCol w="11338550"/>
              </a:tblGrid>
              <a:tr h="254000">
                <a:tc>
                  <a:txBody>
                    <a:bodyPr/>
                    <a:lstStyle/>
                    <a:p>
                      <a:pPr indent="0" lvl="0" marL="0" marR="0" rtl="0" algn="l">
                        <a:lnSpc>
                          <a:spcPct val="100000"/>
                        </a:lnSpc>
                        <a:spcBef>
                          <a:spcPts val="0"/>
                        </a:spcBef>
                        <a:spcAft>
                          <a:spcPts val="0"/>
                        </a:spcAft>
                        <a:buClr>
                          <a:srgbClr val="000000"/>
                        </a:buClr>
                        <a:buSzPts val="2000"/>
                        <a:buFont typeface="Arial"/>
                        <a:buNone/>
                      </a:pPr>
                      <a:r>
                        <a:rPr b="1" lang="en-US" sz="3200" u="none" cap="none" strike="noStrike">
                          <a:solidFill>
                            <a:srgbClr val="FFFFFF"/>
                          </a:solidFill>
                          <a:latin typeface="Calibri"/>
                          <a:ea typeface="Calibri"/>
                          <a:cs typeface="Calibri"/>
                          <a:sym typeface="Calibri"/>
                        </a:rPr>
                        <a:t>Score</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3200" u="none" cap="none" strike="noStrike">
                          <a:solidFill>
                            <a:srgbClr val="FFFFFF"/>
                          </a:solidFill>
                          <a:latin typeface="Calibri"/>
                          <a:ea typeface="Calibri"/>
                          <a:cs typeface="Calibri"/>
                          <a:sym typeface="Calibri"/>
                        </a:rPr>
                        <a:t>Detectability</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3200" u="none" cap="none" strike="noStrike">
                          <a:solidFill>
                            <a:srgbClr val="FFFFFF"/>
                          </a:solidFill>
                          <a:latin typeface="Calibri"/>
                          <a:ea typeface="Calibri"/>
                          <a:cs typeface="Calibri"/>
                          <a:sym typeface="Calibri"/>
                        </a:rPr>
                        <a:t>Mechanism</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1–2</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Almost Certain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Firmware/hardware auto-detects; visible alert before patient impact</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3–4</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High</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Patient would likely notice anomalous behavior within one session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5–6</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Moderate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Requires active inspection or app review; not self-evident during use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7–8</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Low</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Gradual or latent failure; patient unlikely to notice without monitoring</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9–10</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Remote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3000" u="none" cap="none" strike="noStrike">
                          <a:solidFill>
                            <a:srgbClr val="1C2D3F"/>
                          </a:solidFill>
                          <a:latin typeface="Calibri"/>
                          <a:ea typeface="Calibri"/>
                          <a:cs typeface="Calibri"/>
                          <a:sym typeface="Calibri"/>
                        </a:rPr>
                        <a:t>Silent failure; device gives no indication of malfunction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bl>
          </a:graphicData>
        </a:graphic>
      </p:graphicFrame>
      <p:sp>
        <p:nvSpPr>
          <p:cNvPr id="588" name="Google Shape;588;g3e6b89f23fc_0_75"/>
          <p:cNvSpPr/>
          <p:nvPr/>
        </p:nvSpPr>
        <p:spPr>
          <a:xfrm>
            <a:off x="914400" y="6659880"/>
            <a:ext cx="16459200" cy="16458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600"/>
          </a:p>
        </p:txBody>
      </p:sp>
      <p:sp>
        <p:nvSpPr>
          <p:cNvPr id="589" name="Google Shape;589;g3e6b89f23fc_0_75"/>
          <p:cNvSpPr/>
          <p:nvPr/>
        </p:nvSpPr>
        <p:spPr>
          <a:xfrm>
            <a:off x="914400" y="6659880"/>
            <a:ext cx="16459200" cy="91500"/>
          </a:xfrm>
          <a:prstGeom prst="rect">
            <a:avLst/>
          </a:prstGeom>
          <a:solidFill>
            <a:srgbClr val="137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600"/>
          </a:p>
        </p:txBody>
      </p:sp>
      <p:sp>
        <p:nvSpPr>
          <p:cNvPr id="590" name="Google Shape;590;g3e6b89f23fc_0_75"/>
          <p:cNvSpPr/>
          <p:nvPr/>
        </p:nvSpPr>
        <p:spPr>
          <a:xfrm>
            <a:off x="1280160" y="693420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3000" u="none" cap="none" strike="noStrike">
                <a:solidFill>
                  <a:srgbClr val="6B7B8D"/>
                </a:solidFill>
                <a:latin typeface="Calibri"/>
                <a:ea typeface="Calibri"/>
                <a:cs typeface="Calibri"/>
                <a:sym typeface="Calibri"/>
              </a:rPr>
              <a:t>Higher score = lower probability of detection. A score of 10 means the device gives no indication of failure — the patient cannot distinguish operational from non-operational.</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e6b89f23fc_0_89"/>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g3e6b89f23fc_0_89"/>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g3e6b89f23fc_0_89"/>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Risk Acceptance Criteria</a:t>
            </a:r>
            <a:endParaRPr b="0" i="0" sz="4400" u="none" cap="none" strike="noStrike">
              <a:solidFill>
                <a:srgbClr val="000000"/>
              </a:solidFill>
              <a:latin typeface="Arial"/>
              <a:ea typeface="Arial"/>
              <a:cs typeface="Arial"/>
              <a:sym typeface="Arial"/>
            </a:endParaRPr>
          </a:p>
        </p:txBody>
      </p:sp>
      <p:sp>
        <p:nvSpPr>
          <p:cNvPr id="598" name="Google Shape;598;g3e6b89f23fc_0_89"/>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2.2a — RPN-based classification and required actions</a:t>
            </a:r>
            <a:endParaRPr b="0" i="0" sz="2200" u="none" cap="none" strike="noStrike">
              <a:solidFill>
                <a:srgbClr val="000000"/>
              </a:solidFill>
              <a:latin typeface="Arial"/>
              <a:ea typeface="Arial"/>
              <a:cs typeface="Arial"/>
              <a:sym typeface="Arial"/>
            </a:endParaRPr>
          </a:p>
        </p:txBody>
      </p:sp>
      <p:sp>
        <p:nvSpPr>
          <p:cNvPr id="599" name="Google Shape;599;g3e6b89f23fc_0_89"/>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3e6b89f23fc_0_89"/>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rgbClr val="000000"/>
              </a:solidFill>
              <a:latin typeface="Arial"/>
              <a:ea typeface="Arial"/>
              <a:cs typeface="Arial"/>
              <a:sym typeface="Arial"/>
            </a:endParaRPr>
          </a:p>
        </p:txBody>
      </p:sp>
      <p:sp>
        <p:nvSpPr>
          <p:cNvPr id="601" name="Google Shape;601;g3e6b89f23fc_0_89"/>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sp>
        <p:nvSpPr>
          <p:cNvPr id="602" name="Google Shape;602;g3e6b89f23fc_0_89"/>
          <p:cNvSpPr/>
          <p:nvPr/>
        </p:nvSpPr>
        <p:spPr>
          <a:xfrm>
            <a:off x="914400" y="2377440"/>
            <a:ext cx="16459200" cy="18288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3100"/>
          </a:p>
        </p:txBody>
      </p:sp>
      <p:sp>
        <p:nvSpPr>
          <p:cNvPr id="603" name="Google Shape;603;g3e6b89f23fc_0_89"/>
          <p:cNvSpPr/>
          <p:nvPr/>
        </p:nvSpPr>
        <p:spPr>
          <a:xfrm>
            <a:off x="914400" y="2377440"/>
            <a:ext cx="16459200" cy="915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100"/>
          </a:p>
        </p:txBody>
      </p:sp>
      <p:sp>
        <p:nvSpPr>
          <p:cNvPr id="604" name="Google Shape;604;g3e6b89f23fc_0_89"/>
          <p:cNvSpPr/>
          <p:nvPr/>
        </p:nvSpPr>
        <p:spPr>
          <a:xfrm>
            <a:off x="1280160" y="2651760"/>
            <a:ext cx="2743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4000" u="none" cap="none" strike="noStrike">
                <a:solidFill>
                  <a:srgbClr val="EF4444"/>
                </a:solidFill>
                <a:latin typeface="Georgia"/>
                <a:ea typeface="Georgia"/>
                <a:cs typeface="Georgia"/>
                <a:sym typeface="Georgia"/>
              </a:rPr>
              <a:t>200–1000</a:t>
            </a:r>
            <a:endParaRPr b="0" i="0" sz="4000" u="none" cap="none" strike="noStrike">
              <a:solidFill>
                <a:srgbClr val="000000"/>
              </a:solidFill>
              <a:latin typeface="Arial"/>
              <a:ea typeface="Arial"/>
              <a:cs typeface="Arial"/>
              <a:sym typeface="Arial"/>
            </a:endParaRPr>
          </a:p>
        </p:txBody>
      </p:sp>
      <p:sp>
        <p:nvSpPr>
          <p:cNvPr id="605" name="Google Shape;605;g3e6b89f23fc_0_89"/>
          <p:cNvSpPr/>
          <p:nvPr/>
        </p:nvSpPr>
        <p:spPr>
          <a:xfrm>
            <a:off x="1280160" y="3383280"/>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400" u="none" cap="none" strike="noStrike">
                <a:solidFill>
                  <a:srgbClr val="6B7B8D"/>
                </a:solidFill>
                <a:latin typeface="Calibri"/>
                <a:ea typeface="Calibri"/>
                <a:cs typeface="Calibri"/>
                <a:sym typeface="Calibri"/>
              </a:rPr>
              <a:t>HIGH</a:t>
            </a:r>
            <a:endParaRPr b="0" i="0" sz="2400" u="none" cap="none" strike="noStrike">
              <a:solidFill>
                <a:srgbClr val="000000"/>
              </a:solidFill>
              <a:latin typeface="Arial"/>
              <a:ea typeface="Arial"/>
              <a:cs typeface="Arial"/>
              <a:sym typeface="Arial"/>
            </a:endParaRPr>
          </a:p>
        </p:txBody>
      </p:sp>
      <p:sp>
        <p:nvSpPr>
          <p:cNvPr id="606" name="Google Shape;606;g3e6b89f23fc_0_89"/>
          <p:cNvSpPr/>
          <p:nvPr/>
        </p:nvSpPr>
        <p:spPr>
          <a:xfrm>
            <a:off x="4389120" y="2651760"/>
            <a:ext cx="124359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4300" u="none" cap="none" strike="noStrike">
                <a:solidFill>
                  <a:srgbClr val="1C2D3F"/>
                </a:solidFill>
                <a:latin typeface="Calibri"/>
                <a:ea typeface="Calibri"/>
                <a:cs typeface="Calibri"/>
                <a:sym typeface="Calibri"/>
              </a:rPr>
              <a:t>Corrective action required before Design Verification</a:t>
            </a:r>
            <a:endParaRPr b="0" i="0" sz="4300" u="none" cap="none" strike="noStrike">
              <a:solidFill>
                <a:srgbClr val="000000"/>
              </a:solidFill>
              <a:latin typeface="Arial"/>
              <a:ea typeface="Arial"/>
              <a:cs typeface="Arial"/>
              <a:sym typeface="Arial"/>
            </a:endParaRPr>
          </a:p>
        </p:txBody>
      </p:sp>
      <p:sp>
        <p:nvSpPr>
          <p:cNvPr id="607" name="Google Shape;607;g3e6b89f23fc_0_89"/>
          <p:cNvSpPr/>
          <p:nvPr/>
        </p:nvSpPr>
        <p:spPr>
          <a:xfrm>
            <a:off x="4389120" y="3383280"/>
            <a:ext cx="124359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3500" u="none" cap="none" strike="noStrike">
                <a:solidFill>
                  <a:srgbClr val="6B7B8D"/>
                </a:solidFill>
                <a:latin typeface="Calibri"/>
                <a:ea typeface="Calibri"/>
                <a:cs typeface="Calibri"/>
                <a:sym typeface="Calibri"/>
              </a:rPr>
              <a:t>Revised RPN must fall below 200 after controls implemented</a:t>
            </a:r>
            <a:endParaRPr b="0" i="0" sz="3500" u="none" cap="none" strike="noStrike">
              <a:solidFill>
                <a:srgbClr val="000000"/>
              </a:solidFill>
              <a:latin typeface="Arial"/>
              <a:ea typeface="Arial"/>
              <a:cs typeface="Arial"/>
              <a:sym typeface="Arial"/>
            </a:endParaRPr>
          </a:p>
        </p:txBody>
      </p:sp>
      <p:sp>
        <p:nvSpPr>
          <p:cNvPr id="608" name="Google Shape;608;g3e6b89f23fc_0_89"/>
          <p:cNvSpPr/>
          <p:nvPr/>
        </p:nvSpPr>
        <p:spPr>
          <a:xfrm>
            <a:off x="914400" y="4572000"/>
            <a:ext cx="16459200" cy="18288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3100"/>
          </a:p>
        </p:txBody>
      </p:sp>
      <p:sp>
        <p:nvSpPr>
          <p:cNvPr id="609" name="Google Shape;609;g3e6b89f23fc_0_89"/>
          <p:cNvSpPr/>
          <p:nvPr/>
        </p:nvSpPr>
        <p:spPr>
          <a:xfrm>
            <a:off x="914400" y="4572000"/>
            <a:ext cx="16459200" cy="91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100"/>
          </a:p>
        </p:txBody>
      </p:sp>
      <p:sp>
        <p:nvSpPr>
          <p:cNvPr id="610" name="Google Shape;610;g3e6b89f23fc_0_89"/>
          <p:cNvSpPr/>
          <p:nvPr/>
        </p:nvSpPr>
        <p:spPr>
          <a:xfrm>
            <a:off x="1280160" y="4846320"/>
            <a:ext cx="2743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4000" u="none" cap="none" strike="noStrike">
                <a:solidFill>
                  <a:srgbClr val="F59E0B"/>
                </a:solidFill>
                <a:latin typeface="Georgia"/>
                <a:ea typeface="Georgia"/>
                <a:cs typeface="Georgia"/>
                <a:sym typeface="Georgia"/>
              </a:rPr>
              <a:t>100–199</a:t>
            </a:r>
            <a:endParaRPr b="0" i="0" sz="4000" u="none" cap="none" strike="noStrike">
              <a:solidFill>
                <a:srgbClr val="000000"/>
              </a:solidFill>
              <a:latin typeface="Arial"/>
              <a:ea typeface="Arial"/>
              <a:cs typeface="Arial"/>
              <a:sym typeface="Arial"/>
            </a:endParaRPr>
          </a:p>
        </p:txBody>
      </p:sp>
      <p:sp>
        <p:nvSpPr>
          <p:cNvPr id="611" name="Google Shape;611;g3e6b89f23fc_0_89"/>
          <p:cNvSpPr/>
          <p:nvPr/>
        </p:nvSpPr>
        <p:spPr>
          <a:xfrm>
            <a:off x="1280160" y="5577840"/>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400" u="none" cap="none" strike="noStrike">
                <a:solidFill>
                  <a:srgbClr val="6B7B8D"/>
                </a:solidFill>
                <a:latin typeface="Calibri"/>
                <a:ea typeface="Calibri"/>
                <a:cs typeface="Calibri"/>
                <a:sym typeface="Calibri"/>
              </a:rPr>
              <a:t>MEDIUM</a:t>
            </a:r>
            <a:endParaRPr b="0" i="0" sz="2400" u="none" cap="none" strike="noStrike">
              <a:solidFill>
                <a:srgbClr val="000000"/>
              </a:solidFill>
              <a:latin typeface="Arial"/>
              <a:ea typeface="Arial"/>
              <a:cs typeface="Arial"/>
              <a:sym typeface="Arial"/>
            </a:endParaRPr>
          </a:p>
        </p:txBody>
      </p:sp>
      <p:sp>
        <p:nvSpPr>
          <p:cNvPr id="612" name="Google Shape;612;g3e6b89f23fc_0_89"/>
          <p:cNvSpPr/>
          <p:nvPr/>
        </p:nvSpPr>
        <p:spPr>
          <a:xfrm>
            <a:off x="4389120" y="4846320"/>
            <a:ext cx="124359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4300" u="none" cap="none" strike="noStrike">
                <a:solidFill>
                  <a:srgbClr val="1C2D3F"/>
                </a:solidFill>
                <a:latin typeface="Calibri"/>
                <a:ea typeface="Calibri"/>
                <a:cs typeface="Calibri"/>
                <a:sym typeface="Calibri"/>
              </a:rPr>
              <a:t>Risk reduction recommended</a:t>
            </a:r>
            <a:endParaRPr b="0" i="0" sz="4300" u="none" cap="none" strike="noStrike">
              <a:solidFill>
                <a:srgbClr val="000000"/>
              </a:solidFill>
              <a:latin typeface="Arial"/>
              <a:ea typeface="Arial"/>
              <a:cs typeface="Arial"/>
              <a:sym typeface="Arial"/>
            </a:endParaRPr>
          </a:p>
        </p:txBody>
      </p:sp>
      <p:sp>
        <p:nvSpPr>
          <p:cNvPr id="613" name="Google Shape;613;g3e6b89f23fc_0_89"/>
          <p:cNvSpPr/>
          <p:nvPr/>
        </p:nvSpPr>
        <p:spPr>
          <a:xfrm>
            <a:off x="4389120" y="5577840"/>
            <a:ext cx="124359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3500" u="none" cap="none" strike="noStrike">
                <a:solidFill>
                  <a:srgbClr val="6B7B8D"/>
                </a:solidFill>
                <a:latin typeface="Calibri"/>
                <a:ea typeface="Calibri"/>
                <a:cs typeface="Calibri"/>
                <a:sym typeface="Calibri"/>
              </a:rPr>
              <a:t>Actions documented and addressed in Design Verification plan</a:t>
            </a:r>
            <a:endParaRPr b="0" i="0" sz="3500" u="none" cap="none" strike="noStrike">
              <a:solidFill>
                <a:srgbClr val="000000"/>
              </a:solidFill>
              <a:latin typeface="Arial"/>
              <a:ea typeface="Arial"/>
              <a:cs typeface="Arial"/>
              <a:sym typeface="Arial"/>
            </a:endParaRPr>
          </a:p>
        </p:txBody>
      </p:sp>
      <p:sp>
        <p:nvSpPr>
          <p:cNvPr id="614" name="Google Shape;614;g3e6b89f23fc_0_89"/>
          <p:cNvSpPr/>
          <p:nvPr/>
        </p:nvSpPr>
        <p:spPr>
          <a:xfrm>
            <a:off x="914400" y="6766560"/>
            <a:ext cx="16459200" cy="18288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3100"/>
          </a:p>
        </p:txBody>
      </p:sp>
      <p:sp>
        <p:nvSpPr>
          <p:cNvPr id="615" name="Google Shape;615;g3e6b89f23fc_0_89"/>
          <p:cNvSpPr/>
          <p:nvPr/>
        </p:nvSpPr>
        <p:spPr>
          <a:xfrm>
            <a:off x="914400" y="6766560"/>
            <a:ext cx="16459200" cy="91500"/>
          </a:xfrm>
          <a:prstGeom prst="rect">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100"/>
          </a:p>
        </p:txBody>
      </p:sp>
      <p:sp>
        <p:nvSpPr>
          <p:cNvPr id="616" name="Google Shape;616;g3e6b89f23fc_0_89"/>
          <p:cNvSpPr/>
          <p:nvPr/>
        </p:nvSpPr>
        <p:spPr>
          <a:xfrm>
            <a:off x="1280160" y="7040880"/>
            <a:ext cx="2743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1" i="0" lang="en-US" sz="4000" u="none" cap="none" strike="noStrike">
                <a:solidFill>
                  <a:srgbClr val="22C55E"/>
                </a:solidFill>
                <a:latin typeface="Georgia"/>
                <a:ea typeface="Georgia"/>
                <a:cs typeface="Georgia"/>
                <a:sym typeface="Georgia"/>
              </a:rPr>
              <a:t>1–99</a:t>
            </a:r>
            <a:endParaRPr b="0" i="0" sz="4000" u="none" cap="none" strike="noStrike">
              <a:solidFill>
                <a:srgbClr val="000000"/>
              </a:solidFill>
              <a:latin typeface="Arial"/>
              <a:ea typeface="Arial"/>
              <a:cs typeface="Arial"/>
              <a:sym typeface="Arial"/>
            </a:endParaRPr>
          </a:p>
        </p:txBody>
      </p:sp>
      <p:sp>
        <p:nvSpPr>
          <p:cNvPr id="617" name="Google Shape;617;g3e6b89f23fc_0_89"/>
          <p:cNvSpPr/>
          <p:nvPr/>
        </p:nvSpPr>
        <p:spPr>
          <a:xfrm>
            <a:off x="1280160" y="7772400"/>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400" u="none" cap="none" strike="noStrike">
                <a:solidFill>
                  <a:srgbClr val="6B7B8D"/>
                </a:solidFill>
                <a:latin typeface="Calibri"/>
                <a:ea typeface="Calibri"/>
                <a:cs typeface="Calibri"/>
                <a:sym typeface="Calibri"/>
              </a:rPr>
              <a:t>LOW</a:t>
            </a:r>
            <a:endParaRPr b="0" i="0" sz="2400" u="none" cap="none" strike="noStrike">
              <a:solidFill>
                <a:srgbClr val="000000"/>
              </a:solidFill>
              <a:latin typeface="Arial"/>
              <a:ea typeface="Arial"/>
              <a:cs typeface="Arial"/>
              <a:sym typeface="Arial"/>
            </a:endParaRPr>
          </a:p>
        </p:txBody>
      </p:sp>
      <p:sp>
        <p:nvSpPr>
          <p:cNvPr id="618" name="Google Shape;618;g3e6b89f23fc_0_89"/>
          <p:cNvSpPr/>
          <p:nvPr/>
        </p:nvSpPr>
        <p:spPr>
          <a:xfrm>
            <a:off x="4389120" y="7040880"/>
            <a:ext cx="124359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4300" u="none" cap="none" strike="noStrike">
                <a:solidFill>
                  <a:srgbClr val="1C2D3F"/>
                </a:solidFill>
                <a:latin typeface="Calibri"/>
                <a:ea typeface="Calibri"/>
                <a:cs typeface="Calibri"/>
                <a:sym typeface="Calibri"/>
              </a:rPr>
              <a:t>Acceptable with existing controls</a:t>
            </a:r>
            <a:endParaRPr b="0" i="0" sz="4300" u="none" cap="none" strike="noStrike">
              <a:solidFill>
                <a:srgbClr val="000000"/>
              </a:solidFill>
              <a:latin typeface="Arial"/>
              <a:ea typeface="Arial"/>
              <a:cs typeface="Arial"/>
              <a:sym typeface="Arial"/>
            </a:endParaRPr>
          </a:p>
        </p:txBody>
      </p:sp>
      <p:sp>
        <p:nvSpPr>
          <p:cNvPr id="619" name="Google Shape;619;g3e6b89f23fc_0_89"/>
          <p:cNvSpPr/>
          <p:nvPr/>
        </p:nvSpPr>
        <p:spPr>
          <a:xfrm>
            <a:off x="4389120" y="7772400"/>
            <a:ext cx="124359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3500" u="none" cap="none" strike="noStrike">
                <a:solidFill>
                  <a:srgbClr val="6B7B8D"/>
                </a:solidFill>
                <a:latin typeface="Calibri"/>
                <a:ea typeface="Calibri"/>
                <a:cs typeface="Calibri"/>
                <a:sym typeface="Calibri"/>
              </a:rPr>
              <a:t>Monitor and reassess if design changes are made</a:t>
            </a:r>
            <a:endParaRPr b="0" i="0" sz="35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e6b89f23fc_0_117"/>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3e6b89f23fc_0_117"/>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e6b89f23fc_0_117"/>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Risk Analysis — RPN Scoring</a:t>
            </a:r>
            <a:endParaRPr b="0" i="0" sz="4400" u="none" cap="none" strike="noStrike">
              <a:solidFill>
                <a:srgbClr val="000000"/>
              </a:solidFill>
              <a:latin typeface="Arial"/>
              <a:ea typeface="Arial"/>
              <a:cs typeface="Arial"/>
              <a:sym typeface="Arial"/>
            </a:endParaRPr>
          </a:p>
        </p:txBody>
      </p:sp>
      <p:sp>
        <p:nvSpPr>
          <p:cNvPr id="627" name="Google Shape;627;g3e6b89f23fc_0_117"/>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2.2 — Severity x Occurrence x Detection</a:t>
            </a:r>
            <a:endParaRPr b="0" i="0" sz="2200" u="none" cap="none" strike="noStrike">
              <a:solidFill>
                <a:srgbClr val="000000"/>
              </a:solidFill>
              <a:latin typeface="Arial"/>
              <a:ea typeface="Arial"/>
              <a:cs typeface="Arial"/>
              <a:sym typeface="Arial"/>
            </a:endParaRPr>
          </a:p>
        </p:txBody>
      </p:sp>
      <p:sp>
        <p:nvSpPr>
          <p:cNvPr id="628" name="Google Shape;628;g3e6b89f23fc_0_117"/>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g3e6b89f23fc_0_117"/>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Lily Wu</a:t>
            </a:r>
            <a:endParaRPr b="0" i="0" sz="1800" u="none" cap="none" strike="noStrike">
              <a:solidFill>
                <a:srgbClr val="000000"/>
              </a:solidFill>
              <a:latin typeface="Arial"/>
              <a:ea typeface="Arial"/>
              <a:cs typeface="Arial"/>
              <a:sym typeface="Arial"/>
            </a:endParaRPr>
          </a:p>
        </p:txBody>
      </p:sp>
      <p:sp>
        <p:nvSpPr>
          <p:cNvPr id="630" name="Google Shape;630;g3e6b89f23fc_0_117"/>
          <p:cNvSpPr/>
          <p:nvPr/>
        </p:nvSpPr>
        <p:spPr>
          <a:xfrm>
            <a:off x="9144000" y="932687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sp>
        <p:nvSpPr>
          <p:cNvPr id="631" name="Google Shape;631;g3e6b89f23fc_0_117"/>
          <p:cNvSpPr/>
          <p:nvPr/>
        </p:nvSpPr>
        <p:spPr>
          <a:xfrm>
            <a:off x="914400" y="2011680"/>
            <a:ext cx="16459200" cy="640200"/>
          </a:xfrm>
          <a:prstGeom prst="rect">
            <a:avLst/>
          </a:prstGeom>
          <a:solidFill>
            <a:srgbClr val="E8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sp>
        <p:nvSpPr>
          <p:cNvPr id="632" name="Google Shape;632;g3e6b89f23fc_0_117"/>
          <p:cNvSpPr/>
          <p:nvPr/>
        </p:nvSpPr>
        <p:spPr>
          <a:xfrm>
            <a:off x="1280160" y="2066544"/>
            <a:ext cx="15544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600" u="none" cap="none" strike="noStrike">
                <a:solidFill>
                  <a:srgbClr val="13778E"/>
                </a:solidFill>
                <a:latin typeface="Calibri"/>
                <a:ea typeface="Calibri"/>
                <a:cs typeface="Calibri"/>
                <a:sym typeface="Calibri"/>
              </a:rPr>
              <a:t>S (Severity)          O (Occurrence)          D (Detection)          RPN = S x O x D</a:t>
            </a:r>
            <a:endParaRPr b="0" i="0" sz="2600" u="none" cap="none" strike="noStrike">
              <a:solidFill>
                <a:srgbClr val="000000"/>
              </a:solidFill>
              <a:latin typeface="Arial"/>
              <a:ea typeface="Arial"/>
              <a:cs typeface="Arial"/>
              <a:sym typeface="Arial"/>
            </a:endParaRPr>
          </a:p>
        </p:txBody>
      </p:sp>
      <p:graphicFrame>
        <p:nvGraphicFramePr>
          <p:cNvPr id="633" name="Google Shape;633;g3e6b89f23fc_0_117"/>
          <p:cNvGraphicFramePr/>
          <p:nvPr/>
        </p:nvGraphicFramePr>
        <p:xfrm>
          <a:off x="914400" y="2834640"/>
          <a:ext cx="3000000" cy="3000000"/>
        </p:xfrm>
        <a:graphic>
          <a:graphicData uri="http://schemas.openxmlformats.org/drawingml/2006/table">
            <a:tbl>
              <a:tblPr>
                <a:noFill/>
                <a:tableStyleId>{1D228925-EC50-4E52-8A8C-EF4C7BB9DE8A}</a:tableStyleId>
              </a:tblPr>
              <a:tblGrid>
                <a:gridCol w="1280150"/>
                <a:gridCol w="5120650"/>
                <a:gridCol w="914400"/>
                <a:gridCol w="914400"/>
                <a:gridCol w="914400"/>
                <a:gridCol w="3250825"/>
                <a:gridCol w="3858625"/>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ID</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Failure Mode</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S</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O</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D</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RPN</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FFFFF"/>
                          </a:solidFill>
                          <a:latin typeface="Calibri"/>
                          <a:ea typeface="Calibri"/>
                          <a:cs typeface="Calibri"/>
                          <a:sym typeface="Calibri"/>
                        </a:rPr>
                        <a:t>Risk</a:t>
                      </a:r>
                      <a:endParaRPr sz="26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FM-01</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FSR adhesive delamination</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9</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7</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1C2D3F"/>
                          </a:solidFill>
                          <a:latin typeface="Calibri"/>
                          <a:ea typeface="Calibri"/>
                          <a:cs typeface="Calibri"/>
                          <a:sym typeface="Calibri"/>
                        </a:rPr>
                        <a:t>315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EF4444"/>
                          </a:solidFill>
                          <a:latin typeface="Calibri"/>
                          <a:ea typeface="Calibri"/>
                          <a:cs typeface="Calibri"/>
                          <a:sym typeface="Calibri"/>
                        </a:rPr>
                        <a:t>HIGH</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FM-02</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60 Hz EMI false alerts</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4</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6</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1C2D3F"/>
                          </a:solidFill>
                          <a:latin typeface="Calibri"/>
                          <a:ea typeface="Calibri"/>
                          <a:cs typeface="Calibri"/>
                          <a:sym typeface="Calibri"/>
                        </a:rPr>
                        <a:t>120</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59E0B"/>
                          </a:solidFill>
                          <a:latin typeface="Calibri"/>
                          <a:ea typeface="Calibri"/>
                          <a:cs typeface="Calibri"/>
                          <a:sym typeface="Calibri"/>
                        </a:rPr>
                        <a:t>MEDIUM</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FM-03</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Moisture ingress / short circuit</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7</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7</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1C2D3F"/>
                          </a:solidFill>
                          <a:latin typeface="Calibri"/>
                          <a:ea typeface="Calibri"/>
                          <a:cs typeface="Calibri"/>
                          <a:sym typeface="Calibri"/>
                        </a:rPr>
                        <a:t>245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EF4444"/>
                          </a:solidFill>
                          <a:latin typeface="Calibri"/>
                          <a:ea typeface="Calibri"/>
                          <a:cs typeface="Calibri"/>
                          <a:sym typeface="Calibri"/>
                        </a:rPr>
                        <a:t>HIGH</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FM-04</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BLE disconnection</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7</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4</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6</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1C2D3F"/>
                          </a:solidFill>
                          <a:latin typeface="Calibri"/>
                          <a:ea typeface="Calibri"/>
                          <a:cs typeface="Calibri"/>
                          <a:sym typeface="Calibri"/>
                        </a:rPr>
                        <a:t>168</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59E0B"/>
                          </a:solidFill>
                          <a:latin typeface="Calibri"/>
                          <a:ea typeface="Calibri"/>
                          <a:cs typeface="Calibri"/>
                          <a:sym typeface="Calibri"/>
                        </a:rPr>
                        <a:t>MEDIUM</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FM-05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Battery depletion / user failure</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7</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1C2D3F"/>
                          </a:solidFill>
                          <a:latin typeface="Calibri"/>
                          <a:ea typeface="Calibri"/>
                          <a:cs typeface="Calibri"/>
                          <a:sym typeface="Calibri"/>
                        </a:rPr>
                        <a:t>175</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F59E0B"/>
                          </a:solidFill>
                          <a:latin typeface="Calibri"/>
                          <a:ea typeface="Calibri"/>
                          <a:cs typeface="Calibri"/>
                          <a:sym typeface="Calibri"/>
                        </a:rPr>
                        <a:t>MEDIUM</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FM-06</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HS300x cold-boot init failure</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2</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4</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600" u="none" cap="none" strike="noStrike">
                          <a:solidFill>
                            <a:srgbClr val="1C2D3F"/>
                          </a:solidFill>
                          <a:latin typeface="Calibri"/>
                          <a:ea typeface="Calibri"/>
                          <a:cs typeface="Calibri"/>
                          <a:sym typeface="Calibri"/>
                        </a:rPr>
                        <a:t>3</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1C2D3F"/>
                          </a:solidFill>
                          <a:latin typeface="Calibri"/>
                          <a:ea typeface="Calibri"/>
                          <a:cs typeface="Calibri"/>
                          <a:sym typeface="Calibri"/>
                        </a:rPr>
                        <a:t>24</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2600" u="none" cap="none" strike="noStrike">
                          <a:solidFill>
                            <a:srgbClr val="22C55E"/>
                          </a:solidFill>
                          <a:latin typeface="Calibri"/>
                          <a:ea typeface="Calibri"/>
                          <a:cs typeface="Calibri"/>
                          <a:sym typeface="Calibri"/>
                        </a:rPr>
                        <a:t>LOW</a:t>
                      </a:r>
                      <a:endParaRPr sz="2600" u="none" cap="none" strike="noStrike">
                        <a:latin typeface="Calibri"/>
                        <a:ea typeface="Calibri"/>
                        <a:cs typeface="Calibri"/>
                        <a:sym typeface="Calibri"/>
                      </a:endParaRPr>
                    </a:p>
                  </a:txBody>
                  <a:tcPr marT="76200" marB="76200" marR="101600" marL="1016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bl>
          </a:graphicData>
        </a:graphic>
      </p:graphicFrame>
      <p:sp>
        <p:nvSpPr>
          <p:cNvPr id="634" name="Google Shape;634;g3e6b89f23fc_0_117"/>
          <p:cNvSpPr/>
          <p:nvPr/>
        </p:nvSpPr>
        <p:spPr>
          <a:xfrm>
            <a:off x="914400" y="6766560"/>
            <a:ext cx="16459200" cy="21945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sp>
        <p:nvSpPr>
          <p:cNvPr id="635" name="Google Shape;635;g3e6b89f23fc_0_117"/>
          <p:cNvSpPr/>
          <p:nvPr/>
        </p:nvSpPr>
        <p:spPr>
          <a:xfrm>
            <a:off x="914400" y="6766560"/>
            <a:ext cx="16459200" cy="91500"/>
          </a:xfrm>
          <a:prstGeom prst="rect">
            <a:avLst/>
          </a:prstGeom>
          <a:solidFill>
            <a:srgbClr val="137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sp>
        <p:nvSpPr>
          <p:cNvPr id="636" name="Google Shape;636;g3e6b89f23fc_0_117"/>
          <p:cNvSpPr/>
          <p:nvPr/>
        </p:nvSpPr>
        <p:spPr>
          <a:xfrm>
            <a:off x="1280160" y="6949440"/>
            <a:ext cx="15544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000" u="none" cap="none" strike="noStrike">
                <a:solidFill>
                  <a:srgbClr val="1C2D3F"/>
                </a:solidFill>
                <a:latin typeface="Calibri"/>
                <a:ea typeface="Calibri"/>
                <a:cs typeface="Calibri"/>
                <a:sym typeface="Calibri"/>
              </a:rPr>
              <a:t>FDA &amp; ISO Risk Management Alignment</a:t>
            </a:r>
            <a:endParaRPr b="0" i="0" sz="3000" u="none" cap="none" strike="noStrike">
              <a:solidFill>
                <a:srgbClr val="000000"/>
              </a:solidFill>
              <a:latin typeface="Arial"/>
              <a:ea typeface="Arial"/>
              <a:cs typeface="Arial"/>
              <a:sym typeface="Arial"/>
            </a:endParaRPr>
          </a:p>
        </p:txBody>
      </p:sp>
      <p:sp>
        <p:nvSpPr>
          <p:cNvPr id="637" name="Google Shape;637;g3e6b89f23fc_0_117"/>
          <p:cNvSpPr/>
          <p:nvPr/>
        </p:nvSpPr>
        <p:spPr>
          <a:xfrm>
            <a:off x="1280160" y="7589520"/>
            <a:ext cx="155448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600" u="none" cap="none" strike="noStrike">
                <a:solidFill>
                  <a:srgbClr val="1C2D3F"/>
                </a:solidFill>
                <a:latin typeface="Calibri"/>
                <a:ea typeface="Calibri"/>
                <a:cs typeface="Calibri"/>
                <a:sym typeface="Calibri"/>
              </a:rPr>
              <a:t>ISO 14971: </a:t>
            </a:r>
            <a:r>
              <a:rPr b="0" i="0" lang="en-US" sz="2600" u="none" cap="none" strike="noStrike">
                <a:solidFill>
                  <a:srgbClr val="6B7B8D"/>
                </a:solidFill>
                <a:latin typeface="Calibri"/>
                <a:ea typeface="Calibri"/>
                <a:cs typeface="Calibri"/>
                <a:sym typeface="Calibri"/>
              </a:rPr>
              <a:t>RPN &gt;=200 (FM-01, FM-03) require mandatory design controls.  </a:t>
            </a:r>
            <a:r>
              <a:rPr b="1" i="0" lang="en-US" sz="2600" u="none" cap="none" strike="noStrike">
                <a:solidFill>
                  <a:srgbClr val="1C2D3F"/>
                </a:solidFill>
                <a:latin typeface="Calibri"/>
                <a:ea typeface="Calibri"/>
                <a:cs typeface="Calibri"/>
                <a:sym typeface="Calibri"/>
              </a:rPr>
              <a:t>ISO 13485 7.1: </a:t>
            </a:r>
            <a:r>
              <a:rPr b="0" i="0" lang="en-US" sz="2600" u="none" cap="none" strike="noStrike">
                <a:solidFill>
                  <a:srgbClr val="6B7B8D"/>
                </a:solidFill>
                <a:latin typeface="Calibri"/>
                <a:ea typeface="Calibri"/>
                <a:cs typeface="Calibri"/>
                <a:sym typeface="Calibri"/>
              </a:rPr>
              <a:t>All risk controls documented and verified.  </a:t>
            </a:r>
            <a:r>
              <a:rPr b="1" i="0" lang="en-US" sz="2600" u="none" cap="none" strike="noStrike">
                <a:solidFill>
                  <a:srgbClr val="1C2D3F"/>
                </a:solidFill>
                <a:latin typeface="Calibri"/>
                <a:ea typeface="Calibri"/>
                <a:cs typeface="Calibri"/>
                <a:sym typeface="Calibri"/>
              </a:rPr>
              <a:t>FDA 21 CFR 820.30(g): </a:t>
            </a:r>
            <a:r>
              <a:rPr b="0" i="0" lang="en-US" sz="2600" u="none" cap="none" strike="noStrike">
                <a:solidFill>
                  <a:srgbClr val="6B7B8D"/>
                </a:solidFill>
                <a:latin typeface="Calibri"/>
                <a:ea typeface="Calibri"/>
                <a:cs typeface="Calibri"/>
                <a:sym typeface="Calibri"/>
              </a:rPr>
              <a:t>Design validation must address identified risk scenarios.</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e6b89f23fc_0_134"/>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e6b89f23fc_0_134"/>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e6b89f23fc_0_134"/>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Risk Mitigation &amp; Design Controls</a:t>
            </a:r>
            <a:endParaRPr b="0" i="0" sz="4400" u="none" cap="none" strike="noStrike">
              <a:solidFill>
                <a:srgbClr val="000000"/>
              </a:solidFill>
              <a:latin typeface="Arial"/>
              <a:ea typeface="Arial"/>
              <a:cs typeface="Arial"/>
              <a:sym typeface="Arial"/>
            </a:endParaRPr>
          </a:p>
        </p:txBody>
      </p:sp>
      <p:sp>
        <p:nvSpPr>
          <p:cNvPr id="645" name="Google Shape;645;g3e6b89f23fc_0_134"/>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2.3 — Risk reduction strategies and residual RPN</a:t>
            </a:r>
            <a:endParaRPr b="0" i="0" sz="2200" u="none" cap="none" strike="noStrike">
              <a:solidFill>
                <a:srgbClr val="000000"/>
              </a:solidFill>
              <a:latin typeface="Arial"/>
              <a:ea typeface="Arial"/>
              <a:cs typeface="Arial"/>
              <a:sym typeface="Arial"/>
            </a:endParaRPr>
          </a:p>
        </p:txBody>
      </p:sp>
      <p:sp>
        <p:nvSpPr>
          <p:cNvPr id="646" name="Google Shape;646;g3e6b89f23fc_0_134"/>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g3e6b89f23fc_0_134"/>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Nwachukwu Anene</a:t>
            </a:r>
            <a:endParaRPr b="0" i="0" sz="1800" u="none" cap="none" strike="noStrike">
              <a:solidFill>
                <a:srgbClr val="000000"/>
              </a:solidFill>
              <a:latin typeface="Arial"/>
              <a:ea typeface="Arial"/>
              <a:cs typeface="Arial"/>
              <a:sym typeface="Arial"/>
            </a:endParaRPr>
          </a:p>
        </p:txBody>
      </p:sp>
      <p:sp>
        <p:nvSpPr>
          <p:cNvPr id="648" name="Google Shape;648;g3e6b89f23fc_0_134"/>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sp>
        <p:nvSpPr>
          <p:cNvPr id="649" name="Google Shape;649;g3e6b89f23fc_0_134"/>
          <p:cNvSpPr/>
          <p:nvPr/>
        </p:nvSpPr>
        <p:spPr>
          <a:xfrm>
            <a:off x="731520" y="210312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50" name="Google Shape;650;g3e6b89f23fc_0_134"/>
          <p:cNvSpPr/>
          <p:nvPr/>
        </p:nvSpPr>
        <p:spPr>
          <a:xfrm>
            <a:off x="731520" y="2103120"/>
            <a:ext cx="5303400" cy="915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51" name="Google Shape;651;g3e6b89f23fc_0_134"/>
          <p:cNvSpPr/>
          <p:nvPr/>
        </p:nvSpPr>
        <p:spPr>
          <a:xfrm>
            <a:off x="1005840" y="237744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rgbClr val="6B7B8D"/>
                </a:solidFill>
                <a:latin typeface="Calibri"/>
                <a:ea typeface="Calibri"/>
                <a:cs typeface="Calibri"/>
                <a:sym typeface="Calibri"/>
              </a:rPr>
              <a:t>FM-01  ·  Adhesive Delamination</a:t>
            </a:r>
            <a:endParaRPr b="0" i="0" sz="2700" u="none" cap="none" strike="noStrike">
              <a:solidFill>
                <a:srgbClr val="000000"/>
              </a:solidFill>
              <a:latin typeface="Arial"/>
              <a:ea typeface="Arial"/>
              <a:cs typeface="Arial"/>
              <a:sym typeface="Arial"/>
            </a:endParaRPr>
          </a:p>
        </p:txBody>
      </p:sp>
      <p:sp>
        <p:nvSpPr>
          <p:cNvPr id="652" name="Google Shape;652;g3e6b89f23fc_0_134"/>
          <p:cNvSpPr/>
          <p:nvPr/>
        </p:nvSpPr>
        <p:spPr>
          <a:xfrm>
            <a:off x="1005840" y="2871216"/>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100" u="none" cap="none" strike="noStrike">
                <a:solidFill>
                  <a:srgbClr val="EF4444"/>
                </a:solidFill>
                <a:latin typeface="Georgia"/>
                <a:ea typeface="Georgia"/>
                <a:cs typeface="Georgia"/>
                <a:sym typeface="Georgia"/>
              </a:rPr>
              <a:t>RPN: 315 -&gt; 54</a:t>
            </a:r>
            <a:endParaRPr b="0" i="0" sz="3100" u="none" cap="none" strike="noStrike">
              <a:solidFill>
                <a:srgbClr val="000000"/>
              </a:solidFill>
              <a:latin typeface="Arial"/>
              <a:ea typeface="Arial"/>
              <a:cs typeface="Arial"/>
              <a:sym typeface="Arial"/>
            </a:endParaRPr>
          </a:p>
        </p:txBody>
      </p:sp>
      <p:sp>
        <p:nvSpPr>
          <p:cNvPr id="653" name="Google Shape;653;g3e6b89f23fc_0_134"/>
          <p:cNvSpPr/>
          <p:nvPr/>
        </p:nvSpPr>
        <p:spPr>
          <a:xfrm>
            <a:off x="1005840" y="3474720"/>
            <a:ext cx="47550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700" u="none" cap="none" strike="noStrike">
                <a:solidFill>
                  <a:srgbClr val="1C2D3F"/>
                </a:solidFill>
                <a:latin typeface="Calibri"/>
                <a:ea typeface="Calibri"/>
                <a:cs typeface="Calibri"/>
                <a:sym typeface="Calibri"/>
              </a:rPr>
              <a:t>Medical-grade adhesive + recessed midsole channel + firmware self-test</a:t>
            </a:r>
            <a:endParaRPr b="0" i="0" sz="2700" u="none" cap="none" strike="noStrike">
              <a:solidFill>
                <a:srgbClr val="000000"/>
              </a:solidFill>
              <a:latin typeface="Arial"/>
              <a:ea typeface="Arial"/>
              <a:cs typeface="Arial"/>
              <a:sym typeface="Arial"/>
            </a:endParaRPr>
          </a:p>
        </p:txBody>
      </p:sp>
      <p:sp>
        <p:nvSpPr>
          <p:cNvPr id="654" name="Google Shape;654;g3e6b89f23fc_0_134"/>
          <p:cNvSpPr/>
          <p:nvPr/>
        </p:nvSpPr>
        <p:spPr>
          <a:xfrm>
            <a:off x="6400800" y="210312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55" name="Google Shape;655;g3e6b89f23fc_0_134"/>
          <p:cNvSpPr/>
          <p:nvPr/>
        </p:nvSpPr>
        <p:spPr>
          <a:xfrm>
            <a:off x="6400800" y="2103120"/>
            <a:ext cx="5303400" cy="91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56" name="Google Shape;656;g3e6b89f23fc_0_134"/>
          <p:cNvSpPr/>
          <p:nvPr/>
        </p:nvSpPr>
        <p:spPr>
          <a:xfrm>
            <a:off x="6675120" y="237744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rgbClr val="6B7B8D"/>
                </a:solidFill>
                <a:latin typeface="Calibri"/>
                <a:ea typeface="Calibri"/>
                <a:cs typeface="Calibri"/>
                <a:sym typeface="Calibri"/>
              </a:rPr>
              <a:t>FM-02  ·  60 Hz EMI</a:t>
            </a:r>
            <a:endParaRPr b="0" i="0" sz="2700" u="none" cap="none" strike="noStrike">
              <a:solidFill>
                <a:srgbClr val="000000"/>
              </a:solidFill>
              <a:latin typeface="Arial"/>
              <a:ea typeface="Arial"/>
              <a:cs typeface="Arial"/>
              <a:sym typeface="Arial"/>
            </a:endParaRPr>
          </a:p>
        </p:txBody>
      </p:sp>
      <p:sp>
        <p:nvSpPr>
          <p:cNvPr id="657" name="Google Shape;657;g3e6b89f23fc_0_134"/>
          <p:cNvSpPr/>
          <p:nvPr/>
        </p:nvSpPr>
        <p:spPr>
          <a:xfrm>
            <a:off x="6675120" y="2871216"/>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100" u="none" cap="none" strike="noStrike">
                <a:solidFill>
                  <a:srgbClr val="F59E0B"/>
                </a:solidFill>
                <a:latin typeface="Georgia"/>
                <a:ea typeface="Georgia"/>
                <a:cs typeface="Georgia"/>
                <a:sym typeface="Georgia"/>
              </a:rPr>
              <a:t>RPN: 120 -&gt; 20</a:t>
            </a:r>
            <a:endParaRPr b="0" i="0" sz="3100" u="none" cap="none" strike="noStrike">
              <a:solidFill>
                <a:srgbClr val="000000"/>
              </a:solidFill>
              <a:latin typeface="Arial"/>
              <a:ea typeface="Arial"/>
              <a:cs typeface="Arial"/>
              <a:sym typeface="Arial"/>
            </a:endParaRPr>
          </a:p>
        </p:txBody>
      </p:sp>
      <p:sp>
        <p:nvSpPr>
          <p:cNvPr id="658" name="Google Shape;658;g3e6b89f23fc_0_134"/>
          <p:cNvSpPr/>
          <p:nvPr/>
        </p:nvSpPr>
        <p:spPr>
          <a:xfrm>
            <a:off x="6675120" y="3474720"/>
            <a:ext cx="47550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700" u="none" cap="none" strike="noStrike">
                <a:solidFill>
                  <a:srgbClr val="1C2D3F"/>
                </a:solidFill>
                <a:latin typeface="Calibri"/>
                <a:ea typeface="Calibri"/>
                <a:cs typeface="Calibri"/>
                <a:sym typeface="Calibri"/>
              </a:rPr>
              <a:t>10k pull-downs (confirmed) + PCB ground plane + 3-sample debounce</a:t>
            </a:r>
            <a:endParaRPr b="0" i="0" sz="2700" u="none" cap="none" strike="noStrike">
              <a:solidFill>
                <a:srgbClr val="000000"/>
              </a:solidFill>
              <a:latin typeface="Arial"/>
              <a:ea typeface="Arial"/>
              <a:cs typeface="Arial"/>
              <a:sym typeface="Arial"/>
            </a:endParaRPr>
          </a:p>
        </p:txBody>
      </p:sp>
      <p:sp>
        <p:nvSpPr>
          <p:cNvPr id="659" name="Google Shape;659;g3e6b89f23fc_0_134"/>
          <p:cNvSpPr/>
          <p:nvPr/>
        </p:nvSpPr>
        <p:spPr>
          <a:xfrm>
            <a:off x="12070080" y="210312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60" name="Google Shape;660;g3e6b89f23fc_0_134"/>
          <p:cNvSpPr/>
          <p:nvPr/>
        </p:nvSpPr>
        <p:spPr>
          <a:xfrm>
            <a:off x="12070080" y="2103120"/>
            <a:ext cx="5303400" cy="915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61" name="Google Shape;661;g3e6b89f23fc_0_134"/>
          <p:cNvSpPr/>
          <p:nvPr/>
        </p:nvSpPr>
        <p:spPr>
          <a:xfrm>
            <a:off x="12344400" y="237744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rgbClr val="6B7B8D"/>
                </a:solidFill>
                <a:latin typeface="Calibri"/>
                <a:ea typeface="Calibri"/>
                <a:cs typeface="Calibri"/>
                <a:sym typeface="Calibri"/>
              </a:rPr>
              <a:t>FM-03  ·  Moisture Ingress</a:t>
            </a:r>
            <a:endParaRPr b="0" i="0" sz="2700" u="none" cap="none" strike="noStrike">
              <a:solidFill>
                <a:srgbClr val="000000"/>
              </a:solidFill>
              <a:latin typeface="Arial"/>
              <a:ea typeface="Arial"/>
              <a:cs typeface="Arial"/>
              <a:sym typeface="Arial"/>
            </a:endParaRPr>
          </a:p>
        </p:txBody>
      </p:sp>
      <p:sp>
        <p:nvSpPr>
          <p:cNvPr id="662" name="Google Shape;662;g3e6b89f23fc_0_134"/>
          <p:cNvSpPr/>
          <p:nvPr/>
        </p:nvSpPr>
        <p:spPr>
          <a:xfrm>
            <a:off x="12344400" y="2871216"/>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100" u="none" cap="none" strike="noStrike">
                <a:solidFill>
                  <a:srgbClr val="F59E0B"/>
                </a:solidFill>
                <a:latin typeface="Georgia"/>
                <a:ea typeface="Georgia"/>
                <a:cs typeface="Georgia"/>
                <a:sym typeface="Georgia"/>
              </a:rPr>
              <a:t>RPN: 245 -&gt; 42</a:t>
            </a:r>
            <a:endParaRPr b="0" i="0" sz="3100" u="none" cap="none" strike="noStrike">
              <a:solidFill>
                <a:srgbClr val="000000"/>
              </a:solidFill>
              <a:latin typeface="Arial"/>
              <a:ea typeface="Arial"/>
              <a:cs typeface="Arial"/>
              <a:sym typeface="Arial"/>
            </a:endParaRPr>
          </a:p>
        </p:txBody>
      </p:sp>
      <p:sp>
        <p:nvSpPr>
          <p:cNvPr id="663" name="Google Shape;663;g3e6b89f23fc_0_134"/>
          <p:cNvSpPr/>
          <p:nvPr/>
        </p:nvSpPr>
        <p:spPr>
          <a:xfrm>
            <a:off x="12344400" y="3474720"/>
            <a:ext cx="47550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700" u="none" cap="none" strike="noStrike">
                <a:solidFill>
                  <a:srgbClr val="1C2D3F"/>
                </a:solidFill>
                <a:latin typeface="Calibri"/>
                <a:ea typeface="Calibri"/>
                <a:cs typeface="Calibri"/>
                <a:sym typeface="Calibri"/>
              </a:rPr>
              <a:t>Conformal coating + IP44 enclosure + sealed FPC connector</a:t>
            </a:r>
            <a:endParaRPr b="0" i="0" sz="2700" u="none" cap="none" strike="noStrike">
              <a:solidFill>
                <a:srgbClr val="000000"/>
              </a:solidFill>
              <a:latin typeface="Arial"/>
              <a:ea typeface="Arial"/>
              <a:cs typeface="Arial"/>
              <a:sym typeface="Arial"/>
            </a:endParaRPr>
          </a:p>
        </p:txBody>
      </p:sp>
      <p:sp>
        <p:nvSpPr>
          <p:cNvPr id="664" name="Google Shape;664;g3e6b89f23fc_0_134"/>
          <p:cNvSpPr/>
          <p:nvPr/>
        </p:nvSpPr>
        <p:spPr>
          <a:xfrm>
            <a:off x="731520" y="576072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65" name="Google Shape;665;g3e6b89f23fc_0_134"/>
          <p:cNvSpPr/>
          <p:nvPr/>
        </p:nvSpPr>
        <p:spPr>
          <a:xfrm>
            <a:off x="731520" y="5760720"/>
            <a:ext cx="5303400" cy="91500"/>
          </a:xfrm>
          <a:prstGeom prst="rect">
            <a:avLst/>
          </a:prstGeom>
          <a:solidFill>
            <a:srgbClr val="1377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66" name="Google Shape;666;g3e6b89f23fc_0_134"/>
          <p:cNvSpPr/>
          <p:nvPr/>
        </p:nvSpPr>
        <p:spPr>
          <a:xfrm>
            <a:off x="1005840" y="603504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rgbClr val="6B7B8D"/>
                </a:solidFill>
                <a:latin typeface="Calibri"/>
                <a:ea typeface="Calibri"/>
                <a:cs typeface="Calibri"/>
                <a:sym typeface="Calibri"/>
              </a:rPr>
              <a:t>FM-04  ·  BLE Disconnection</a:t>
            </a:r>
            <a:endParaRPr b="0" i="0" sz="2700" u="none" cap="none" strike="noStrike">
              <a:solidFill>
                <a:srgbClr val="000000"/>
              </a:solidFill>
              <a:latin typeface="Arial"/>
              <a:ea typeface="Arial"/>
              <a:cs typeface="Arial"/>
              <a:sym typeface="Arial"/>
            </a:endParaRPr>
          </a:p>
        </p:txBody>
      </p:sp>
      <p:sp>
        <p:nvSpPr>
          <p:cNvPr id="667" name="Google Shape;667;g3e6b89f23fc_0_134"/>
          <p:cNvSpPr/>
          <p:nvPr/>
        </p:nvSpPr>
        <p:spPr>
          <a:xfrm>
            <a:off x="1005840" y="6528816"/>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100" u="none" cap="none" strike="noStrike">
                <a:solidFill>
                  <a:srgbClr val="13778E"/>
                </a:solidFill>
                <a:latin typeface="Georgia"/>
                <a:ea typeface="Georgia"/>
                <a:cs typeface="Georgia"/>
                <a:sym typeface="Georgia"/>
              </a:rPr>
              <a:t>RPN: 168 -&gt; 24</a:t>
            </a:r>
            <a:endParaRPr b="0" i="0" sz="3100" u="none" cap="none" strike="noStrike">
              <a:solidFill>
                <a:srgbClr val="000000"/>
              </a:solidFill>
              <a:latin typeface="Arial"/>
              <a:ea typeface="Arial"/>
              <a:cs typeface="Arial"/>
              <a:sym typeface="Arial"/>
            </a:endParaRPr>
          </a:p>
        </p:txBody>
      </p:sp>
      <p:sp>
        <p:nvSpPr>
          <p:cNvPr id="668" name="Google Shape;668;g3e6b89f23fc_0_134"/>
          <p:cNvSpPr/>
          <p:nvPr/>
        </p:nvSpPr>
        <p:spPr>
          <a:xfrm>
            <a:off x="1005840" y="7132320"/>
            <a:ext cx="47550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700" u="none" cap="none" strike="noStrike">
                <a:solidFill>
                  <a:srgbClr val="1C2D3F"/>
                </a:solidFill>
                <a:latin typeface="Calibri"/>
                <a:ea typeface="Calibri"/>
                <a:cs typeface="Calibri"/>
                <a:sym typeface="Calibri"/>
              </a:rPr>
              <a:t>Onboard buzzer for CRITICAL + auto-reconnect every 5s + visible LED</a:t>
            </a:r>
            <a:endParaRPr b="0" i="0" sz="2700" u="none" cap="none" strike="noStrike">
              <a:solidFill>
                <a:srgbClr val="000000"/>
              </a:solidFill>
              <a:latin typeface="Arial"/>
              <a:ea typeface="Arial"/>
              <a:cs typeface="Arial"/>
              <a:sym typeface="Arial"/>
            </a:endParaRPr>
          </a:p>
        </p:txBody>
      </p:sp>
      <p:sp>
        <p:nvSpPr>
          <p:cNvPr id="669" name="Google Shape;669;g3e6b89f23fc_0_134"/>
          <p:cNvSpPr/>
          <p:nvPr/>
        </p:nvSpPr>
        <p:spPr>
          <a:xfrm>
            <a:off x="6400800" y="576072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70" name="Google Shape;670;g3e6b89f23fc_0_134"/>
          <p:cNvSpPr/>
          <p:nvPr/>
        </p:nvSpPr>
        <p:spPr>
          <a:xfrm>
            <a:off x="6400800" y="5760720"/>
            <a:ext cx="5303400" cy="915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71" name="Google Shape;671;g3e6b89f23fc_0_134"/>
          <p:cNvSpPr/>
          <p:nvPr/>
        </p:nvSpPr>
        <p:spPr>
          <a:xfrm>
            <a:off x="6675120" y="603504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rgbClr val="6B7B8D"/>
                </a:solidFill>
                <a:latin typeface="Calibri"/>
                <a:ea typeface="Calibri"/>
                <a:cs typeface="Calibri"/>
                <a:sym typeface="Calibri"/>
              </a:rPr>
              <a:t>FM-05  ·  Battery Depletion</a:t>
            </a:r>
            <a:endParaRPr b="0" i="0" sz="2700" u="none" cap="none" strike="noStrike">
              <a:solidFill>
                <a:srgbClr val="000000"/>
              </a:solidFill>
              <a:latin typeface="Arial"/>
              <a:ea typeface="Arial"/>
              <a:cs typeface="Arial"/>
              <a:sym typeface="Arial"/>
            </a:endParaRPr>
          </a:p>
        </p:txBody>
      </p:sp>
      <p:sp>
        <p:nvSpPr>
          <p:cNvPr id="672" name="Google Shape;672;g3e6b89f23fc_0_134"/>
          <p:cNvSpPr/>
          <p:nvPr/>
        </p:nvSpPr>
        <p:spPr>
          <a:xfrm>
            <a:off x="6675120" y="6528816"/>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100" u="none" cap="none" strike="noStrike">
                <a:solidFill>
                  <a:srgbClr val="F4A261"/>
                </a:solidFill>
                <a:latin typeface="Georgia"/>
                <a:ea typeface="Georgia"/>
                <a:cs typeface="Georgia"/>
                <a:sym typeface="Georgia"/>
              </a:rPr>
              <a:t>RPN: 175 -&gt; 42</a:t>
            </a:r>
            <a:endParaRPr b="0" i="0" sz="3100" u="none" cap="none" strike="noStrike">
              <a:solidFill>
                <a:srgbClr val="000000"/>
              </a:solidFill>
              <a:latin typeface="Arial"/>
              <a:ea typeface="Arial"/>
              <a:cs typeface="Arial"/>
              <a:sym typeface="Arial"/>
            </a:endParaRPr>
          </a:p>
        </p:txBody>
      </p:sp>
      <p:sp>
        <p:nvSpPr>
          <p:cNvPr id="673" name="Google Shape;673;g3e6b89f23fc_0_134"/>
          <p:cNvSpPr/>
          <p:nvPr/>
        </p:nvSpPr>
        <p:spPr>
          <a:xfrm>
            <a:off x="6675120" y="7132320"/>
            <a:ext cx="47550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700" u="none" cap="none" strike="noStrike">
                <a:solidFill>
                  <a:srgbClr val="1C2D3F"/>
                </a:solidFill>
                <a:latin typeface="Calibri"/>
                <a:ea typeface="Calibri"/>
                <a:cs typeface="Calibri"/>
                <a:sym typeface="Calibri"/>
              </a:rPr>
              <a:t>Audible low-battery alarm + caregiver push notification + wireless charging</a:t>
            </a:r>
            <a:endParaRPr b="0" i="0" sz="2700" u="none" cap="none" strike="noStrike">
              <a:solidFill>
                <a:srgbClr val="000000"/>
              </a:solidFill>
              <a:latin typeface="Arial"/>
              <a:ea typeface="Arial"/>
              <a:cs typeface="Arial"/>
              <a:sym typeface="Arial"/>
            </a:endParaRPr>
          </a:p>
        </p:txBody>
      </p:sp>
      <p:sp>
        <p:nvSpPr>
          <p:cNvPr id="674" name="Google Shape;674;g3e6b89f23fc_0_134"/>
          <p:cNvSpPr/>
          <p:nvPr/>
        </p:nvSpPr>
        <p:spPr>
          <a:xfrm>
            <a:off x="12070080" y="5760720"/>
            <a:ext cx="5303400" cy="3291900"/>
          </a:xfrm>
          <a:prstGeom prst="rect">
            <a:avLst/>
          </a:prstGeom>
          <a:solidFill>
            <a:srgbClr val="FFFFFF"/>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75" name="Google Shape;675;g3e6b89f23fc_0_134"/>
          <p:cNvSpPr/>
          <p:nvPr/>
        </p:nvSpPr>
        <p:spPr>
          <a:xfrm>
            <a:off x="12070080" y="5760720"/>
            <a:ext cx="5303400" cy="91500"/>
          </a:xfrm>
          <a:prstGeom prst="rect">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676" name="Google Shape;676;g3e6b89f23fc_0_134"/>
          <p:cNvSpPr/>
          <p:nvPr/>
        </p:nvSpPr>
        <p:spPr>
          <a:xfrm>
            <a:off x="12344400" y="6035040"/>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rgbClr val="6B7B8D"/>
                </a:solidFill>
                <a:latin typeface="Calibri"/>
                <a:ea typeface="Calibri"/>
                <a:cs typeface="Calibri"/>
                <a:sym typeface="Calibri"/>
              </a:rPr>
              <a:t>FM-06  ·  HS300x Init Failure</a:t>
            </a:r>
            <a:endParaRPr b="0" i="0" sz="2700" u="none" cap="none" strike="noStrike">
              <a:solidFill>
                <a:srgbClr val="000000"/>
              </a:solidFill>
              <a:latin typeface="Arial"/>
              <a:ea typeface="Arial"/>
              <a:cs typeface="Arial"/>
              <a:sym typeface="Arial"/>
            </a:endParaRPr>
          </a:p>
        </p:txBody>
      </p:sp>
      <p:sp>
        <p:nvSpPr>
          <p:cNvPr id="677" name="Google Shape;677;g3e6b89f23fc_0_134"/>
          <p:cNvSpPr/>
          <p:nvPr/>
        </p:nvSpPr>
        <p:spPr>
          <a:xfrm>
            <a:off x="12344400" y="6528816"/>
            <a:ext cx="4755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3100" u="none" cap="none" strike="noStrike">
                <a:solidFill>
                  <a:srgbClr val="22C55E"/>
                </a:solidFill>
                <a:latin typeface="Georgia"/>
                <a:ea typeface="Georgia"/>
                <a:cs typeface="Georgia"/>
                <a:sym typeface="Georgia"/>
              </a:rPr>
              <a:t>RPN: 24 -&gt; 8</a:t>
            </a:r>
            <a:endParaRPr b="0" i="0" sz="3100" u="none" cap="none" strike="noStrike">
              <a:solidFill>
                <a:srgbClr val="000000"/>
              </a:solidFill>
              <a:latin typeface="Arial"/>
              <a:ea typeface="Arial"/>
              <a:cs typeface="Arial"/>
              <a:sym typeface="Arial"/>
            </a:endParaRPr>
          </a:p>
        </p:txBody>
      </p:sp>
      <p:sp>
        <p:nvSpPr>
          <p:cNvPr id="678" name="Google Shape;678;g3e6b89f23fc_0_134"/>
          <p:cNvSpPr/>
          <p:nvPr/>
        </p:nvSpPr>
        <p:spPr>
          <a:xfrm>
            <a:off x="12344400" y="7132320"/>
            <a:ext cx="47550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2700" u="none" cap="none" strike="noStrike">
                <a:solidFill>
                  <a:srgbClr val="1C2D3F"/>
                </a:solidFill>
                <a:latin typeface="Calibri"/>
                <a:ea typeface="Calibri"/>
                <a:cs typeface="Calibri"/>
                <a:sym typeface="Calibri"/>
              </a:rPr>
              <a:t>Firmware retry loop (3x, 500ms delay) — already deployed in prototype</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6b89f23fc_0_174"/>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e6b89f23fc_0_174"/>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g3e6b89f23fc_0_174"/>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Mitigations &amp; Design Controls</a:t>
            </a:r>
            <a:endParaRPr b="0" i="0" sz="4400" u="none" cap="none" strike="noStrike">
              <a:solidFill>
                <a:srgbClr val="000000"/>
              </a:solidFill>
              <a:latin typeface="Arial"/>
              <a:ea typeface="Arial"/>
              <a:cs typeface="Arial"/>
              <a:sym typeface="Arial"/>
            </a:endParaRPr>
          </a:p>
        </p:txBody>
      </p:sp>
      <p:sp>
        <p:nvSpPr>
          <p:cNvPr id="686" name="Google Shape;686;g3e6b89f23fc_0_174"/>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Section 2.3 — Risk reduction strategies per failure mode</a:t>
            </a:r>
            <a:endParaRPr b="0" i="0" sz="2200" u="none" cap="none" strike="noStrike">
              <a:solidFill>
                <a:srgbClr val="000000"/>
              </a:solidFill>
              <a:latin typeface="Arial"/>
              <a:ea typeface="Arial"/>
              <a:cs typeface="Arial"/>
              <a:sym typeface="Arial"/>
            </a:endParaRPr>
          </a:p>
        </p:txBody>
      </p:sp>
      <p:sp>
        <p:nvSpPr>
          <p:cNvPr id="687" name="Google Shape;687;g3e6b89f23fc_0_174"/>
          <p:cNvSpPr/>
          <p:nvPr/>
        </p:nvSpPr>
        <p:spPr>
          <a:xfrm>
            <a:off x="0" y="9326880"/>
            <a:ext cx="18288000" cy="960000"/>
          </a:xfrm>
          <a:prstGeom prst="rect">
            <a:avLst/>
          </a:prstGeom>
          <a:solidFill>
            <a:srgbClr val="0B2545"/>
          </a:solidFill>
          <a:ln>
            <a:noFill/>
          </a:ln>
          <a:effectLst>
            <a:outerShdw blurRad="101600" rotWithShape="0" algn="bl" dir="16200000" dist="50800">
              <a:srgbClr val="000000">
                <a:alpha val="1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3e6b89f23fc_0_174"/>
          <p:cNvSpPr/>
          <p:nvPr/>
        </p:nvSpPr>
        <p:spPr>
          <a:xfrm>
            <a:off x="914400" y="9418320"/>
            <a:ext cx="73152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Calibri"/>
                <a:ea typeface="Calibri"/>
                <a:cs typeface="Calibri"/>
                <a:sym typeface="Calibri"/>
              </a:rPr>
              <a:t>Ava Rathenberg</a:t>
            </a:r>
            <a:endParaRPr b="0" i="0" sz="1800" u="none" cap="none" strike="noStrike">
              <a:solidFill>
                <a:srgbClr val="000000"/>
              </a:solidFill>
              <a:latin typeface="Arial"/>
              <a:ea typeface="Arial"/>
              <a:cs typeface="Arial"/>
              <a:sym typeface="Arial"/>
            </a:endParaRPr>
          </a:p>
        </p:txBody>
      </p:sp>
      <p:sp>
        <p:nvSpPr>
          <p:cNvPr id="689" name="Google Shape;689;g3e6b89f23fc_0_174"/>
          <p:cNvSpPr/>
          <p:nvPr/>
        </p:nvSpPr>
        <p:spPr>
          <a:xfrm>
            <a:off x="9144000" y="9418320"/>
            <a:ext cx="8229600" cy="731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rgbClr val="000000"/>
              </a:solidFill>
              <a:latin typeface="Arial"/>
              <a:ea typeface="Arial"/>
              <a:cs typeface="Arial"/>
              <a:sym typeface="Arial"/>
            </a:endParaRPr>
          </a:p>
        </p:txBody>
      </p:sp>
      <p:graphicFrame>
        <p:nvGraphicFramePr>
          <p:cNvPr id="690" name="Google Shape;690;g3e6b89f23fc_0_174"/>
          <p:cNvGraphicFramePr/>
          <p:nvPr/>
        </p:nvGraphicFramePr>
        <p:xfrm>
          <a:off x="914400" y="2194560"/>
          <a:ext cx="3000000" cy="3000000"/>
        </p:xfrm>
        <a:graphic>
          <a:graphicData uri="http://schemas.openxmlformats.org/drawingml/2006/table">
            <a:tbl>
              <a:tblPr>
                <a:noFill/>
                <a:tableStyleId>{1D228925-EC50-4E52-8A8C-EF4C7BB9DE8A}</a:tableStyleId>
              </a:tblPr>
              <a:tblGrid>
                <a:gridCol w="4023350"/>
                <a:gridCol w="9509750"/>
                <a:gridCol w="2926075"/>
              </a:tblGrid>
              <a:tr h="731525">
                <a:tc>
                  <a:txBody>
                    <a:bodyPr/>
                    <a:lstStyle/>
                    <a:p>
                      <a:pPr indent="0" lvl="0" marL="0" marR="0" rtl="0" algn="l">
                        <a:lnSpc>
                          <a:spcPct val="100000"/>
                        </a:lnSpc>
                        <a:spcBef>
                          <a:spcPts val="0"/>
                        </a:spcBef>
                        <a:spcAft>
                          <a:spcPts val="0"/>
                        </a:spcAft>
                        <a:buClr>
                          <a:srgbClr val="000000"/>
                        </a:buClr>
                        <a:buSzPts val="2200"/>
                        <a:buFont typeface="Arial"/>
                        <a:buNone/>
                      </a:pPr>
                      <a:r>
                        <a:rPr b="1" lang="en-US" sz="3200" u="none" cap="none" strike="noStrike">
                          <a:solidFill>
                            <a:srgbClr val="FFFFFF"/>
                          </a:solidFill>
                          <a:latin typeface="Calibri"/>
                          <a:ea typeface="Calibri"/>
                          <a:cs typeface="Calibri"/>
                          <a:sym typeface="Calibri"/>
                        </a:rPr>
                        <a:t>Failure Mode</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3200" u="none" cap="none" strike="noStrike">
                          <a:solidFill>
                            <a:srgbClr val="FFFFFF"/>
                          </a:solidFill>
                          <a:latin typeface="Calibri"/>
                          <a:ea typeface="Calibri"/>
                          <a:cs typeface="Calibri"/>
                          <a:sym typeface="Calibri"/>
                        </a:rPr>
                        <a:t>Risk Control Measure</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3200" u="none" cap="none" strike="noStrike">
                          <a:solidFill>
                            <a:srgbClr val="FFFFFF"/>
                          </a:solidFill>
                          <a:latin typeface="Calibri"/>
                          <a:ea typeface="Calibri"/>
                          <a:cs typeface="Calibri"/>
                          <a:sym typeface="Calibri"/>
                        </a:rPr>
                        <a:t>Type</a:t>
                      </a:r>
                      <a:endParaRPr sz="32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solidFill>
                      <a:srgbClr val="13778E"/>
                    </a:solidFill>
                  </a:tcPr>
                </a:tc>
              </a:tr>
              <a:tr h="914400">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Adhesive delamination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Snap-fit insole mount; medical-grade adhesive; peel-strength test</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Design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60 Hz EMI</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10k pull-downs; 100nF bypass caps; shielded PCB traces</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Design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Moisture ingress</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Conformal coating; sealed FPC connector; hydrophobic liner</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Design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BLE disconnection</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Onboard buzzer + LED; app auto-reconnect; BLE loss alert</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Firmware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User charging failure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Audible low-battery alarm; app notification; USB-C quick charge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Design + UX</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r h="914400">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HS300x cold-boot</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Firmware retry loop (3x, 100ms delay)</a:t>
                      </a:r>
                      <a:r>
                        <a:rPr lang="en-US" sz="3000" u="none" cap="none" strike="noStrike">
                          <a:solidFill>
                            <a:srgbClr val="1C2D3F"/>
                          </a:solidFill>
                          <a:latin typeface="Calibri"/>
                          <a:ea typeface="Calibri"/>
                          <a:cs typeface="Calibri"/>
                          <a:sym typeface="Calibri"/>
                        </a:rPr>
                        <a:t>; validated in prototype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3000" u="none" cap="none" strike="noStrike">
                          <a:solidFill>
                            <a:srgbClr val="1C2D3F"/>
                          </a:solidFill>
                          <a:latin typeface="Calibri"/>
                          <a:ea typeface="Calibri"/>
                          <a:cs typeface="Calibri"/>
                          <a:sym typeface="Calibri"/>
                        </a:rPr>
                        <a:t>Firmware</a:t>
                      </a:r>
                      <a:endParaRPr sz="3000" u="none" cap="none" strike="noStrike">
                        <a:latin typeface="Calibri"/>
                        <a:ea typeface="Calibri"/>
                        <a:cs typeface="Calibri"/>
                        <a:sym typeface="Calibri"/>
                      </a:endParaRPr>
                    </a:p>
                  </a:txBody>
                  <a:tcPr marT="76200" marB="76200" marR="127000" marL="127000" anchor="ctr">
                    <a:lnL cap="flat" cmpd="sng" w="12700">
                      <a:solidFill>
                        <a:srgbClr val="DEE2E6"/>
                      </a:solidFill>
                      <a:prstDash val="solid"/>
                      <a:round/>
                      <a:headEnd len="sm" w="sm" type="none"/>
                      <a:tailEnd len="sm" w="sm" type="none"/>
                    </a:lnL>
                    <a:lnR cap="flat" cmpd="sng" w="12700">
                      <a:solidFill>
                        <a:srgbClr val="DEE2E6"/>
                      </a:solidFill>
                      <a:prstDash val="solid"/>
                      <a:round/>
                      <a:headEnd len="sm" w="sm" type="none"/>
                      <a:tailEnd len="sm" w="sm" type="none"/>
                    </a:lnR>
                    <a:lnT cap="flat" cmpd="sng" w="12700">
                      <a:solidFill>
                        <a:srgbClr val="DEE2E6"/>
                      </a:solidFill>
                      <a:prstDash val="solid"/>
                      <a:round/>
                      <a:headEnd len="sm" w="sm" type="none"/>
                      <a:tailEnd len="sm" w="sm" type="none"/>
                    </a:lnT>
                    <a:lnB cap="flat" cmpd="sng" w="12700">
                      <a:solidFill>
                        <a:srgbClr val="DEE2E6"/>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3e6b89f23fc_0_185"/>
          <p:cNvSpPr/>
          <p:nvPr/>
        </p:nvSpPr>
        <p:spPr>
          <a:xfrm>
            <a:off x="0" y="0"/>
            <a:ext cx="18288000" cy="1737300"/>
          </a:xfrm>
          <a:prstGeom prst="rect">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g3e6b89f23fc_0_185"/>
          <p:cNvSpPr/>
          <p:nvPr/>
        </p:nvSpPr>
        <p:spPr>
          <a:xfrm>
            <a:off x="0" y="1737360"/>
            <a:ext cx="18288000" cy="732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g3e6b89f23fc_0_185"/>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Georgia"/>
                <a:ea typeface="Georgia"/>
                <a:cs typeface="Georgia"/>
                <a:sym typeface="Georgia"/>
              </a:rPr>
              <a:t>Summary &amp; Fall 2026 Handoff</a:t>
            </a:r>
            <a:endParaRPr b="0" i="0" sz="4400" u="none" cap="none" strike="noStrike">
              <a:solidFill>
                <a:srgbClr val="000000"/>
              </a:solidFill>
              <a:latin typeface="Arial"/>
              <a:ea typeface="Arial"/>
              <a:cs typeface="Arial"/>
              <a:sym typeface="Arial"/>
            </a:endParaRPr>
          </a:p>
        </p:txBody>
      </p:sp>
      <p:sp>
        <p:nvSpPr>
          <p:cNvPr id="698" name="Google Shape;698;g3e6b89f23fc_0_185"/>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DB7A8"/>
                </a:solidFill>
                <a:latin typeface="Calibri"/>
                <a:ea typeface="Calibri"/>
                <a:cs typeface="Calibri"/>
                <a:sym typeface="Calibri"/>
              </a:rPr>
              <a:t>Team Cardinal  ·  NeuroFoot System  ·  April 27, 2026</a:t>
            </a:r>
            <a:endParaRPr b="0" i="0" sz="2200" u="none" cap="none" strike="noStrike">
              <a:solidFill>
                <a:srgbClr val="000000"/>
              </a:solidFill>
              <a:latin typeface="Arial"/>
              <a:ea typeface="Arial"/>
              <a:cs typeface="Arial"/>
              <a:sym typeface="Arial"/>
            </a:endParaRPr>
          </a:p>
        </p:txBody>
      </p:sp>
      <p:sp>
        <p:nvSpPr>
          <p:cNvPr id="699" name="Google Shape;699;g3e6b89f23fc_0_185"/>
          <p:cNvSpPr/>
          <p:nvPr/>
        </p:nvSpPr>
        <p:spPr>
          <a:xfrm>
            <a:off x="731520" y="2103120"/>
            <a:ext cx="7863900" cy="6766500"/>
          </a:xfrm>
          <a:prstGeom prst="rect">
            <a:avLst/>
          </a:prstGeom>
          <a:solidFill>
            <a:srgbClr val="0F2F50"/>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endParaRPr>
          </a:p>
        </p:txBody>
      </p:sp>
      <p:sp>
        <p:nvSpPr>
          <p:cNvPr id="700" name="Google Shape;700;g3e6b89f23fc_0_185"/>
          <p:cNvSpPr/>
          <p:nvPr/>
        </p:nvSpPr>
        <p:spPr>
          <a:xfrm>
            <a:off x="731520" y="2103120"/>
            <a:ext cx="7863900" cy="91500"/>
          </a:xfrm>
          <a:prstGeom prst="rect">
            <a:avLst/>
          </a:prstGeom>
          <a:solidFill>
            <a:srgbClr val="1DB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endParaRPr>
          </a:p>
        </p:txBody>
      </p:sp>
      <p:sp>
        <p:nvSpPr>
          <p:cNvPr id="701" name="Google Shape;701;g3e6b89f23fc_0_185"/>
          <p:cNvSpPr/>
          <p:nvPr/>
        </p:nvSpPr>
        <p:spPr>
          <a:xfrm>
            <a:off x="1097280" y="2377440"/>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500" u="none" cap="none" strike="noStrike">
                <a:solidFill>
                  <a:schemeClr val="lt1"/>
                </a:solidFill>
                <a:latin typeface="Calibri"/>
                <a:ea typeface="Calibri"/>
                <a:cs typeface="Calibri"/>
                <a:sym typeface="Calibri"/>
              </a:rPr>
              <a:t>WHAT WAS BUILT &amp; VERIFIED</a:t>
            </a:r>
            <a:endParaRPr b="1" i="0" sz="2500" u="none" cap="none" strike="noStrike">
              <a:solidFill>
                <a:schemeClr val="lt1"/>
              </a:solidFill>
            </a:endParaRPr>
          </a:p>
        </p:txBody>
      </p:sp>
      <p:sp>
        <p:nvSpPr>
          <p:cNvPr id="702" name="Google Shape;702;g3e6b89f23fc_0_185"/>
          <p:cNvSpPr/>
          <p:nvPr/>
        </p:nvSpPr>
        <p:spPr>
          <a:xfrm>
            <a:off x="1097280" y="3017520"/>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16-zone FSR insole + CD74HC4067 mux — all channels verified</a:t>
            </a:r>
            <a:endParaRPr b="1" i="0" sz="2300" u="none" cap="none" strike="noStrike">
              <a:solidFill>
                <a:schemeClr val="lt1"/>
              </a:solidFill>
            </a:endParaRPr>
          </a:p>
        </p:txBody>
      </p:sp>
      <p:sp>
        <p:nvSpPr>
          <p:cNvPr id="703" name="Google Shape;703;g3e6b89f23fc_0_185"/>
          <p:cNvSpPr/>
          <p:nvPr/>
        </p:nvSpPr>
        <p:spPr>
          <a:xfrm>
            <a:off x="1097280" y="3712464"/>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BLE 5.0: pressure (50 Hz), IMU (50 Hz), environmental (0.5 Hz)</a:t>
            </a:r>
            <a:endParaRPr b="1" i="0" sz="2300" u="none" cap="none" strike="noStrike">
              <a:solidFill>
                <a:schemeClr val="lt1"/>
              </a:solidFill>
            </a:endParaRPr>
          </a:p>
        </p:txBody>
      </p:sp>
      <p:sp>
        <p:nvSpPr>
          <p:cNvPr id="704" name="Google Shape;704;g3e6b89f23fc_0_185"/>
          <p:cNvSpPr/>
          <p:nvPr/>
        </p:nvSpPr>
        <p:spPr>
          <a:xfrm>
            <a:off x="1097280" y="4407408"/>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Graded alerts (OK/WARN/CRITICAL) — &lt;200 ms latency</a:t>
            </a:r>
            <a:endParaRPr b="1" i="0" sz="2300" u="none" cap="none" strike="noStrike">
              <a:solidFill>
                <a:schemeClr val="lt1"/>
              </a:solidFill>
            </a:endParaRPr>
          </a:p>
        </p:txBody>
      </p:sp>
      <p:sp>
        <p:nvSpPr>
          <p:cNvPr id="705" name="Google Shape;705;g3e6b89f23fc_0_185"/>
          <p:cNvSpPr/>
          <p:nvPr/>
        </p:nvSpPr>
        <p:spPr>
          <a:xfrm>
            <a:off x="1097280" y="5102352"/>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HS300x temp (+-0.5C) and humidity (+-5% RH) verified</a:t>
            </a:r>
            <a:endParaRPr b="1" i="0" sz="2300" u="none" cap="none" strike="noStrike">
              <a:solidFill>
                <a:schemeClr val="lt1"/>
              </a:solidFill>
            </a:endParaRPr>
          </a:p>
        </p:txBody>
      </p:sp>
      <p:sp>
        <p:nvSpPr>
          <p:cNvPr id="706" name="Google Shape;706;g3e6b89f23fc_0_185"/>
          <p:cNvSpPr/>
          <p:nvPr/>
        </p:nvSpPr>
        <p:spPr>
          <a:xfrm>
            <a:off x="1097280" y="5797296"/>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IMU 6-position accel cal and gyro zero-rate bias confirmed</a:t>
            </a:r>
            <a:endParaRPr b="1" i="0" sz="2300" u="none" cap="none" strike="noStrike">
              <a:solidFill>
                <a:schemeClr val="lt1"/>
              </a:solidFill>
            </a:endParaRPr>
          </a:p>
        </p:txBody>
      </p:sp>
      <p:sp>
        <p:nvSpPr>
          <p:cNvPr id="707" name="Google Shape;707;g3e6b89f23fc_0_185"/>
          <p:cNvSpPr/>
          <p:nvPr/>
        </p:nvSpPr>
        <p:spPr>
          <a:xfrm>
            <a:off x="1097280" y="6492240"/>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Sandal assembly — 2-min walk test, no BLE dropouts</a:t>
            </a:r>
            <a:endParaRPr b="1" i="0" sz="2300" u="none" cap="none" strike="noStrike">
              <a:solidFill>
                <a:schemeClr val="lt1"/>
              </a:solidFill>
            </a:endParaRPr>
          </a:p>
        </p:txBody>
      </p:sp>
      <p:sp>
        <p:nvSpPr>
          <p:cNvPr id="708" name="Google Shape;708;g3e6b89f23fc_0_185"/>
          <p:cNvSpPr/>
          <p:nvPr/>
        </p:nvSpPr>
        <p:spPr>
          <a:xfrm>
            <a:off x="1097280" y="7187184"/>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Predicate: SmartStep (K060150) — SE documented</a:t>
            </a:r>
            <a:endParaRPr b="1" i="0" sz="2300" u="none" cap="none" strike="noStrike">
              <a:solidFill>
                <a:schemeClr val="lt1"/>
              </a:solidFill>
            </a:endParaRPr>
          </a:p>
        </p:txBody>
      </p:sp>
      <p:sp>
        <p:nvSpPr>
          <p:cNvPr id="709" name="Google Shape;709;g3e6b89f23fc_0_185"/>
          <p:cNvSpPr/>
          <p:nvPr/>
        </p:nvSpPr>
        <p:spPr>
          <a:xfrm>
            <a:off x="1097280" y="7882128"/>
            <a:ext cx="71322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ISO 13485-compliant DFM documentation</a:t>
            </a:r>
            <a:endParaRPr b="1" i="0" sz="2300" u="none" cap="none" strike="noStrike">
              <a:solidFill>
                <a:schemeClr val="lt1"/>
              </a:solidFill>
            </a:endParaRPr>
          </a:p>
        </p:txBody>
      </p:sp>
      <p:sp>
        <p:nvSpPr>
          <p:cNvPr id="710" name="Google Shape;710;g3e6b89f23fc_0_185"/>
          <p:cNvSpPr/>
          <p:nvPr/>
        </p:nvSpPr>
        <p:spPr>
          <a:xfrm>
            <a:off x="9692640" y="2103120"/>
            <a:ext cx="7863900" cy="6766500"/>
          </a:xfrm>
          <a:prstGeom prst="rect">
            <a:avLst/>
          </a:prstGeom>
          <a:solidFill>
            <a:srgbClr val="0F2F50"/>
          </a:solidFill>
          <a:ln cap="flat" cmpd="sng" w="12700">
            <a:solidFill>
              <a:srgbClr val="E2E8F0"/>
            </a:solidFill>
            <a:prstDash val="solid"/>
            <a:round/>
            <a:headEnd len="sm" w="sm" type="none"/>
            <a:tailEnd len="sm" w="sm" type="none"/>
          </a:ln>
          <a:effectLst>
            <a:outerShdw blurRad="152400" rotWithShape="0" algn="bl" dir="8100000" dist="508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endParaRPr>
          </a:p>
        </p:txBody>
      </p:sp>
      <p:sp>
        <p:nvSpPr>
          <p:cNvPr id="711" name="Google Shape;711;g3e6b89f23fc_0_185"/>
          <p:cNvSpPr/>
          <p:nvPr/>
        </p:nvSpPr>
        <p:spPr>
          <a:xfrm>
            <a:off x="9692640" y="2103120"/>
            <a:ext cx="7863900" cy="915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lt1"/>
              </a:solidFill>
            </a:endParaRPr>
          </a:p>
        </p:txBody>
      </p:sp>
      <p:sp>
        <p:nvSpPr>
          <p:cNvPr id="712" name="Google Shape;712;g3e6b89f23fc_0_185"/>
          <p:cNvSpPr/>
          <p:nvPr/>
        </p:nvSpPr>
        <p:spPr>
          <a:xfrm>
            <a:off x="10058400" y="2377440"/>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500" u="none" cap="none" strike="noStrike">
                <a:solidFill>
                  <a:schemeClr val="lt1"/>
                </a:solidFill>
                <a:latin typeface="Calibri"/>
                <a:ea typeface="Calibri"/>
                <a:cs typeface="Calibri"/>
                <a:sym typeface="Calibri"/>
              </a:rPr>
              <a:t>FALL 2026 — NEXT TEAM CHECKLIST</a:t>
            </a:r>
            <a:endParaRPr b="1" i="0" sz="2500" u="none" cap="none" strike="noStrike">
              <a:solidFill>
                <a:schemeClr val="lt1"/>
              </a:solidFill>
            </a:endParaRPr>
          </a:p>
        </p:txBody>
      </p:sp>
      <p:sp>
        <p:nvSpPr>
          <p:cNvPr id="713" name="Google Shape;713;g3e6b89f23fc_0_185"/>
          <p:cNvSpPr/>
          <p:nvPr/>
        </p:nvSpPr>
        <p:spPr>
          <a:xfrm>
            <a:off x="10058400" y="3017520"/>
            <a:ext cx="7132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100" u="none" cap="none" strike="noStrike">
                <a:solidFill>
                  <a:schemeClr val="lt1"/>
                </a:solidFill>
                <a:latin typeface="Calibri"/>
                <a:ea typeface="Calibri"/>
                <a:cs typeface="Calibri"/>
                <a:sym typeface="Calibri"/>
              </a:rPr>
              <a:t>IMMEDIATE</a:t>
            </a:r>
            <a:endParaRPr b="1" i="0" sz="2100" u="none" cap="none" strike="noStrike">
              <a:solidFill>
                <a:schemeClr val="lt1"/>
              </a:solidFill>
            </a:endParaRPr>
          </a:p>
        </p:txBody>
      </p:sp>
      <p:sp>
        <p:nvSpPr>
          <p:cNvPr id="714" name="Google Shape;714;g3e6b89f23fc_0_185"/>
          <p:cNvSpPr/>
          <p:nvPr/>
        </p:nvSpPr>
        <p:spPr>
          <a:xfrm>
            <a:off x="10058400" y="3419856"/>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Implement FMEA mitigations</a:t>
            </a:r>
            <a:endParaRPr b="1" i="0" sz="2300" u="none" cap="none" strike="noStrike">
              <a:solidFill>
                <a:schemeClr val="lt1"/>
              </a:solidFill>
            </a:endParaRPr>
          </a:p>
        </p:txBody>
      </p:sp>
      <p:sp>
        <p:nvSpPr>
          <p:cNvPr id="715" name="Google Shape;715;g3e6b89f23fc_0_185"/>
          <p:cNvSpPr/>
          <p:nvPr/>
        </p:nvSpPr>
        <p:spPr>
          <a:xfrm>
            <a:off x="10058400" y="4078224"/>
            <a:ext cx="7132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100" u="none" cap="none" strike="noStrike">
                <a:solidFill>
                  <a:schemeClr val="lt1"/>
                </a:solidFill>
                <a:latin typeface="Calibri"/>
                <a:ea typeface="Calibri"/>
                <a:cs typeface="Calibri"/>
                <a:sym typeface="Calibri"/>
              </a:rPr>
              <a:t>PCB DESIGN</a:t>
            </a:r>
            <a:endParaRPr b="1" i="0" sz="2100" u="none" cap="none" strike="noStrike">
              <a:solidFill>
                <a:schemeClr val="lt1"/>
              </a:solidFill>
            </a:endParaRPr>
          </a:p>
        </p:txBody>
      </p:sp>
      <p:sp>
        <p:nvSpPr>
          <p:cNvPr id="716" name="Google Shape;716;g3e6b89f23fc_0_185"/>
          <p:cNvSpPr/>
          <p:nvPr/>
        </p:nvSpPr>
        <p:spPr>
          <a:xfrm>
            <a:off x="10058400" y="4480560"/>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Translate to Altium (see traceability)</a:t>
            </a:r>
            <a:endParaRPr b="1" i="0" sz="2300" u="none" cap="none" strike="noStrike">
              <a:solidFill>
                <a:schemeClr val="lt1"/>
              </a:solidFill>
            </a:endParaRPr>
          </a:p>
        </p:txBody>
      </p:sp>
      <p:sp>
        <p:nvSpPr>
          <p:cNvPr id="717" name="Google Shape;717;g3e6b89f23fc_0_185"/>
          <p:cNvSpPr/>
          <p:nvPr/>
        </p:nvSpPr>
        <p:spPr>
          <a:xfrm>
            <a:off x="10058400" y="4992624"/>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No 100k pull-downs. No Wire.begin(). No BMM150.</a:t>
            </a:r>
            <a:endParaRPr b="1" i="0" sz="2300" u="none" cap="none" strike="noStrike">
              <a:solidFill>
                <a:schemeClr val="lt1"/>
              </a:solidFill>
            </a:endParaRPr>
          </a:p>
        </p:txBody>
      </p:sp>
      <p:sp>
        <p:nvSpPr>
          <p:cNvPr id="718" name="Google Shape;718;g3e6b89f23fc_0_185"/>
          <p:cNvSpPr/>
          <p:nvPr/>
        </p:nvSpPr>
        <p:spPr>
          <a:xfrm>
            <a:off x="10058400" y="5650992"/>
            <a:ext cx="7132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100" u="none" cap="none" strike="noStrike">
                <a:solidFill>
                  <a:schemeClr val="lt1"/>
                </a:solidFill>
                <a:latin typeface="Calibri"/>
                <a:ea typeface="Calibri"/>
                <a:cs typeface="Calibri"/>
                <a:sym typeface="Calibri"/>
              </a:rPr>
              <a:t>VALIDATION</a:t>
            </a:r>
            <a:endParaRPr b="1" i="0" sz="2100" u="none" cap="none" strike="noStrike">
              <a:solidFill>
                <a:schemeClr val="lt1"/>
              </a:solidFill>
            </a:endParaRPr>
          </a:p>
        </p:txBody>
      </p:sp>
      <p:sp>
        <p:nvSpPr>
          <p:cNvPr id="719" name="Google Shape;719;g3e6b89f23fc_0_185"/>
          <p:cNvSpPr/>
          <p:nvPr/>
        </p:nvSpPr>
        <p:spPr>
          <a:xfrm>
            <a:off x="10058400" y="6053328"/>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Dynamic force cal with reference plate</a:t>
            </a:r>
            <a:endParaRPr b="1" i="0" sz="2300" u="none" cap="none" strike="noStrike">
              <a:solidFill>
                <a:schemeClr val="lt1"/>
              </a:solidFill>
            </a:endParaRPr>
          </a:p>
        </p:txBody>
      </p:sp>
      <p:sp>
        <p:nvSpPr>
          <p:cNvPr id="720" name="Google Shape;720;g3e6b89f23fc_0_185"/>
          <p:cNvSpPr/>
          <p:nvPr/>
        </p:nvSpPr>
        <p:spPr>
          <a:xfrm>
            <a:off x="10058400" y="6565392"/>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IEC 60601-1-2 EMC testing</a:t>
            </a:r>
            <a:endParaRPr b="1" i="0" sz="2300" u="none" cap="none" strike="noStrike">
              <a:solidFill>
                <a:schemeClr val="lt1"/>
              </a:solidFill>
            </a:endParaRPr>
          </a:p>
        </p:txBody>
      </p:sp>
      <p:sp>
        <p:nvSpPr>
          <p:cNvPr id="721" name="Google Shape;721;g3e6b89f23fc_0_185"/>
          <p:cNvSpPr/>
          <p:nvPr/>
        </p:nvSpPr>
        <p:spPr>
          <a:xfrm>
            <a:off x="10058400" y="7077456"/>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Human walking trials (5-30 subjects)</a:t>
            </a:r>
            <a:endParaRPr b="1" i="0" sz="2300" u="none" cap="none" strike="noStrike">
              <a:solidFill>
                <a:schemeClr val="lt1"/>
              </a:solidFill>
            </a:endParaRPr>
          </a:p>
        </p:txBody>
      </p:sp>
      <p:sp>
        <p:nvSpPr>
          <p:cNvPr id="722" name="Google Shape;722;g3e6b89f23fc_0_185"/>
          <p:cNvSpPr/>
          <p:nvPr/>
        </p:nvSpPr>
        <p:spPr>
          <a:xfrm>
            <a:off x="10058400" y="7735824"/>
            <a:ext cx="7132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2100" u="none" cap="none" strike="noStrike">
                <a:solidFill>
                  <a:schemeClr val="lt1"/>
                </a:solidFill>
                <a:latin typeface="Calibri"/>
                <a:ea typeface="Calibri"/>
                <a:cs typeface="Calibri"/>
                <a:sym typeface="Calibri"/>
              </a:rPr>
              <a:t>REGULATORY</a:t>
            </a:r>
            <a:endParaRPr b="1" i="0" sz="2100" u="none" cap="none" strike="noStrike">
              <a:solidFill>
                <a:schemeClr val="lt1"/>
              </a:solidFill>
            </a:endParaRPr>
          </a:p>
        </p:txBody>
      </p:sp>
      <p:sp>
        <p:nvSpPr>
          <p:cNvPr id="723" name="Google Shape;723;g3e6b89f23fc_0_185"/>
          <p:cNvSpPr/>
          <p:nvPr/>
        </p:nvSpPr>
        <p:spPr>
          <a:xfrm>
            <a:off x="10058400" y="8138160"/>
            <a:ext cx="7132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2300" u="none" cap="none" strike="noStrike">
                <a:solidFill>
                  <a:schemeClr val="lt1"/>
                </a:solidFill>
                <a:latin typeface="Calibri"/>
                <a:ea typeface="Calibri"/>
                <a:cs typeface="Calibri"/>
                <a:sym typeface="Calibri"/>
              </a:rPr>
              <a:t>→ File 510(k) with K060150 predicate</a:t>
            </a:r>
            <a:endParaRPr b="1" i="0" sz="2300" u="none" cap="none" strike="noStrike">
              <a:solidFill>
                <a:schemeClr val="lt1"/>
              </a:solidFill>
            </a:endParaRPr>
          </a:p>
        </p:txBody>
      </p:sp>
      <p:sp>
        <p:nvSpPr>
          <p:cNvPr id="724" name="Google Shape;724;g3e6b89f23fc_0_185"/>
          <p:cNvSpPr/>
          <p:nvPr/>
        </p:nvSpPr>
        <p:spPr>
          <a:xfrm>
            <a:off x="914400" y="9418320"/>
            <a:ext cx="91440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DB7A8"/>
                </a:solidFill>
                <a:latin typeface="Calibri"/>
                <a:ea typeface="Calibri"/>
                <a:cs typeface="Calibri"/>
                <a:sym typeface="Calibri"/>
              </a:rPr>
              <a:t>Pouya Behdinan </a:t>
            </a:r>
            <a:endParaRPr b="0" i="0" sz="1600" u="none" cap="none" strike="noStrike">
              <a:solidFill>
                <a:srgbClr val="000000"/>
              </a:solidFill>
              <a:latin typeface="Arial"/>
              <a:ea typeface="Arial"/>
              <a:cs typeface="Arial"/>
              <a:sym typeface="Arial"/>
            </a:endParaRPr>
          </a:p>
        </p:txBody>
      </p:sp>
      <p:sp>
        <p:nvSpPr>
          <p:cNvPr id="725" name="Google Shape;725;g3e6b89f23fc_0_185"/>
          <p:cNvSpPr/>
          <p:nvPr/>
        </p:nvSpPr>
        <p:spPr>
          <a:xfrm>
            <a:off x="9144000" y="9418320"/>
            <a:ext cx="8229600" cy="640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5A7A95"/>
                </a:solidFill>
                <a:latin typeface="Calibri"/>
                <a:ea typeface="Calibri"/>
                <a:cs typeface="Calibri"/>
                <a:sym typeface="Calibri"/>
              </a:rPr>
              <a:t>Team Cardinal  ·  BME 555A Spring 2026</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730" name="Shape 730"/>
        <p:cNvGrpSpPr/>
        <p:nvPr/>
      </p:nvGrpSpPr>
      <p:grpSpPr>
        <a:xfrm>
          <a:off x="0" y="0"/>
          <a:ext cx="0" cy="0"/>
          <a:chOff x="0" y="0"/>
          <a:chExt cx="0" cy="0"/>
        </a:xfrm>
      </p:grpSpPr>
      <p:sp>
        <p:nvSpPr>
          <p:cNvPr id="731" name="Google Shape;731;g3e6b89f23fc_0_306"/>
          <p:cNvSpPr/>
          <p:nvPr/>
        </p:nvSpPr>
        <p:spPr>
          <a:xfrm>
            <a:off x="0" y="0"/>
            <a:ext cx="219600" cy="102870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descr="preencoded.png" id="732" name="Google Shape;732;g3e6b89f23fc_0_306"/>
          <p:cNvPicPr preferRelativeResize="0"/>
          <p:nvPr/>
        </p:nvPicPr>
        <p:blipFill rotWithShape="1">
          <a:blip r:embed="rId3">
            <a:alphaModFix/>
          </a:blip>
          <a:srcRect b="0" l="0" r="0" t="0"/>
          <a:stretch/>
        </p:blipFill>
        <p:spPr>
          <a:xfrm>
            <a:off x="1940080" y="3428990"/>
            <a:ext cx="1280160" cy="1280160"/>
          </a:xfrm>
          <a:prstGeom prst="rect">
            <a:avLst/>
          </a:prstGeom>
          <a:noFill/>
          <a:ln>
            <a:noFill/>
          </a:ln>
        </p:spPr>
      </p:pic>
      <p:sp>
        <p:nvSpPr>
          <p:cNvPr id="733" name="Google Shape;733;g3e6b89f23fc_0_306"/>
          <p:cNvSpPr/>
          <p:nvPr/>
        </p:nvSpPr>
        <p:spPr>
          <a:xfrm>
            <a:off x="2743200" y="1892700"/>
            <a:ext cx="12801600" cy="650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800"/>
              <a:buFont typeface="Georgia"/>
              <a:buNone/>
            </a:pPr>
            <a:r>
              <a:rPr b="1" lang="en-US" sz="15500">
                <a:solidFill>
                  <a:srgbClr val="FFFFFF"/>
                </a:solidFill>
                <a:latin typeface="Georgia"/>
                <a:ea typeface="Georgia"/>
                <a:cs typeface="Georgia"/>
                <a:sym typeface="Georgia"/>
              </a:rPr>
              <a:t>Thank You</a:t>
            </a:r>
            <a:endParaRPr b="1" sz="15500">
              <a:solidFill>
                <a:srgbClr val="FFFFFF"/>
              </a:solidFill>
              <a:latin typeface="Georgia"/>
              <a:ea typeface="Georgia"/>
              <a:cs typeface="Georgia"/>
              <a:sym typeface="Georgia"/>
            </a:endParaRPr>
          </a:p>
          <a:p>
            <a:pPr indent="0" lvl="0" marL="0" marR="0" rtl="0" algn="ctr">
              <a:spcBef>
                <a:spcPts val="0"/>
              </a:spcBef>
              <a:spcAft>
                <a:spcPts val="0"/>
              </a:spcAft>
              <a:buClr>
                <a:srgbClr val="FFFFFF"/>
              </a:buClr>
              <a:buSzPts val="8800"/>
              <a:buFont typeface="Georgia"/>
              <a:buNone/>
            </a:pPr>
            <a:r>
              <a:rPr b="1" lang="en-US" sz="15500">
                <a:solidFill>
                  <a:srgbClr val="FFFFFF"/>
                </a:solidFill>
                <a:latin typeface="Georgia"/>
                <a:ea typeface="Georgia"/>
                <a:cs typeface="Georgia"/>
                <a:sym typeface="Georgia"/>
              </a:rPr>
              <a:t>Questions?</a:t>
            </a:r>
            <a:endParaRPr b="1" sz="15500">
              <a:solidFill>
                <a:srgbClr val="FFFFFF"/>
              </a:solidFill>
              <a:latin typeface="Georgia"/>
              <a:ea typeface="Georgia"/>
              <a:cs typeface="Georgia"/>
              <a:sym typeface="Georg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738" name="Shape 738"/>
        <p:cNvGrpSpPr/>
        <p:nvPr/>
      </p:nvGrpSpPr>
      <p:grpSpPr>
        <a:xfrm>
          <a:off x="0" y="0"/>
          <a:ext cx="0" cy="0"/>
          <a:chOff x="0" y="0"/>
          <a:chExt cx="0" cy="0"/>
        </a:xfrm>
      </p:grpSpPr>
      <p:sp>
        <p:nvSpPr>
          <p:cNvPr id="739" name="Google Shape;739;g3e68d5c5d8c_3_2"/>
          <p:cNvSpPr/>
          <p:nvPr/>
        </p:nvSpPr>
        <p:spPr>
          <a:xfrm>
            <a:off x="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40" name="Google Shape;740;g3e68d5c5d8c_3_2"/>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i="0" lang="en-US" sz="5200" u="none" cap="none" strike="noStrike">
                <a:solidFill>
                  <a:srgbClr val="12243A"/>
                </a:solidFill>
                <a:latin typeface="Calibri"/>
                <a:ea typeface="Calibri"/>
                <a:cs typeface="Calibri"/>
                <a:sym typeface="Calibri"/>
              </a:rPr>
              <a:t>FMEA — Identified Failure Modes (≥5)</a:t>
            </a:r>
            <a:endParaRPr b="0" i="0" sz="5200" u="none" cap="none" strike="noStrike">
              <a:solidFill>
                <a:schemeClr val="dk1"/>
              </a:solidFill>
              <a:latin typeface="Calibri"/>
              <a:ea typeface="Calibri"/>
              <a:cs typeface="Calibri"/>
              <a:sym typeface="Calibri"/>
            </a:endParaRPr>
          </a:p>
        </p:txBody>
      </p:sp>
      <p:sp>
        <p:nvSpPr>
          <p:cNvPr id="741" name="Google Shape;741;g3e68d5c5d8c_3_2"/>
          <p:cNvSpPr/>
          <p:nvPr/>
        </p:nvSpPr>
        <p:spPr>
          <a:xfrm>
            <a:off x="640080" y="1426464"/>
            <a:ext cx="170079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E8C"/>
              </a:buClr>
              <a:buSzPts val="2400"/>
              <a:buFont typeface="Calibri"/>
              <a:buNone/>
            </a:pPr>
            <a:r>
              <a:rPr b="0" i="1" lang="en-US" sz="2400" u="none" cap="none" strike="noStrike">
                <a:solidFill>
                  <a:srgbClr val="0A7E8C"/>
                </a:solidFill>
                <a:latin typeface="Calibri"/>
                <a:ea typeface="Calibri"/>
                <a:cs typeface="Calibri"/>
                <a:sym typeface="Calibri"/>
              </a:rPr>
              <a:t>Section 3.1  ·  Presenter: Pouya Behdinan</a:t>
            </a:r>
            <a:endParaRPr b="0" i="0" sz="2400" u="none" cap="none" strike="noStrike">
              <a:solidFill>
                <a:schemeClr val="dk1"/>
              </a:solidFill>
              <a:latin typeface="Calibri"/>
              <a:ea typeface="Calibri"/>
              <a:cs typeface="Calibri"/>
              <a:sym typeface="Calibri"/>
            </a:endParaRPr>
          </a:p>
        </p:txBody>
      </p:sp>
      <p:cxnSp>
        <p:nvCxnSpPr>
          <p:cNvPr id="742" name="Google Shape;742;g3e68d5c5d8c_3_2"/>
          <p:cNvCxnSpPr/>
          <p:nvPr/>
        </p:nvCxnSpPr>
        <p:spPr>
          <a:xfrm>
            <a:off x="640080" y="1975104"/>
            <a:ext cx="17007900" cy="0"/>
          </a:xfrm>
          <a:prstGeom prst="straightConnector1">
            <a:avLst/>
          </a:prstGeom>
          <a:noFill/>
          <a:ln cap="flat" cmpd="sng" w="12700">
            <a:solidFill>
              <a:srgbClr val="E8F4F8"/>
            </a:solidFill>
            <a:prstDash val="solid"/>
            <a:round/>
            <a:headEnd len="sm" w="sm" type="none"/>
            <a:tailEnd len="sm" w="sm" type="none"/>
          </a:ln>
        </p:spPr>
      </p:cxnSp>
      <p:sp>
        <p:nvSpPr>
          <p:cNvPr id="743" name="Google Shape;743;g3e68d5c5d8c_3_2"/>
          <p:cNvSpPr/>
          <p:nvPr/>
        </p:nvSpPr>
        <p:spPr>
          <a:xfrm>
            <a:off x="512064" y="215798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44" name="Google Shape;744;g3e68d5c5d8c_3_2"/>
          <p:cNvSpPr/>
          <p:nvPr/>
        </p:nvSpPr>
        <p:spPr>
          <a:xfrm>
            <a:off x="512064" y="2157984"/>
            <a:ext cx="219600" cy="2432400"/>
          </a:xfrm>
          <a:prstGeom prst="rect">
            <a:avLst/>
          </a:prstGeom>
          <a:solidFill>
            <a:srgbClr val="D64045"/>
          </a:solidFill>
          <a:ln cap="flat" cmpd="sng" w="12700">
            <a:solidFill>
              <a:srgbClr val="D6404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45" name="Google Shape;745;g3e68d5c5d8c_3_2"/>
          <p:cNvSpPr/>
          <p:nvPr/>
        </p:nvSpPr>
        <p:spPr>
          <a:xfrm>
            <a:off x="731520" y="2157984"/>
            <a:ext cx="8376000" cy="5121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46" name="Google Shape;746;g3e68d5c5d8c_3_2"/>
          <p:cNvSpPr/>
          <p:nvPr/>
        </p:nvSpPr>
        <p:spPr>
          <a:xfrm>
            <a:off x="877824" y="2157984"/>
            <a:ext cx="8046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045"/>
              </a:buClr>
              <a:buSzPts val="1700"/>
              <a:buFont typeface="Calibri"/>
              <a:buNone/>
            </a:pPr>
            <a:r>
              <a:rPr b="1" i="0" lang="en-US" sz="1700" u="none" cap="none" strike="noStrike">
                <a:solidFill>
                  <a:srgbClr val="D64045"/>
                </a:solidFill>
                <a:latin typeface="Calibri"/>
                <a:ea typeface="Calibri"/>
                <a:cs typeface="Calibri"/>
                <a:sym typeface="Calibri"/>
              </a:rPr>
              <a:t>FM-01  ·  Mechanical Wear  ·  Pressure Sensing</a:t>
            </a:r>
            <a:endParaRPr b="0" i="0" sz="1700" u="none" cap="none" strike="noStrike">
              <a:solidFill>
                <a:schemeClr val="dk1"/>
              </a:solidFill>
              <a:latin typeface="Calibri"/>
              <a:ea typeface="Calibri"/>
              <a:cs typeface="Calibri"/>
              <a:sym typeface="Calibri"/>
            </a:endParaRPr>
          </a:p>
        </p:txBody>
      </p:sp>
      <p:sp>
        <p:nvSpPr>
          <p:cNvPr id="747" name="Google Shape;747;g3e68d5c5d8c_3_2"/>
          <p:cNvSpPr/>
          <p:nvPr/>
        </p:nvSpPr>
        <p:spPr>
          <a:xfrm>
            <a:off x="877824" y="2706624"/>
            <a:ext cx="8046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2000"/>
              <a:buFont typeface="Calibri"/>
              <a:buNone/>
            </a:pPr>
            <a:r>
              <a:rPr b="1" i="0" lang="en-US" sz="2000" u="none" cap="none" strike="noStrike">
                <a:solidFill>
                  <a:srgbClr val="12243A"/>
                </a:solidFill>
                <a:latin typeface="Calibri"/>
                <a:ea typeface="Calibri"/>
                <a:cs typeface="Calibri"/>
                <a:sym typeface="Calibri"/>
              </a:rPr>
              <a:t>FSR signal degradation from adhesive delamination</a:t>
            </a:r>
            <a:endParaRPr b="0" i="0" sz="2000" u="none" cap="none" strike="noStrike">
              <a:solidFill>
                <a:schemeClr val="dk1"/>
              </a:solidFill>
              <a:latin typeface="Calibri"/>
              <a:ea typeface="Calibri"/>
              <a:cs typeface="Calibri"/>
              <a:sym typeface="Calibri"/>
            </a:endParaRPr>
          </a:p>
        </p:txBody>
      </p:sp>
      <p:sp>
        <p:nvSpPr>
          <p:cNvPr id="748" name="Google Shape;748;g3e68d5c5d8c_3_2"/>
          <p:cNvSpPr/>
          <p:nvPr/>
        </p:nvSpPr>
        <p:spPr>
          <a:xfrm>
            <a:off x="877824" y="3145536"/>
            <a:ext cx="8046600" cy="7680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3A4A"/>
              </a:buClr>
              <a:buSzPts val="1700"/>
              <a:buFont typeface="Calibri"/>
              <a:buNone/>
            </a:pPr>
            <a:r>
              <a:rPr b="0" i="0" lang="en-US" sz="1700" u="none" cap="none" strike="noStrike">
                <a:solidFill>
                  <a:srgbClr val="2D3A4A"/>
                </a:solidFill>
                <a:latin typeface="Calibri"/>
                <a:ea typeface="Calibri"/>
                <a:cs typeface="Calibri"/>
                <a:sym typeface="Calibri"/>
              </a:rPr>
              <a:t>System underreports actual plantar loading. Patient with LOPS cannot independently verify accuracy. Missed alerts during sustained overload — highest risk failure.</a:t>
            </a:r>
            <a:endParaRPr b="0" i="0" sz="1700" u="none" cap="none" strike="noStrike">
              <a:solidFill>
                <a:schemeClr val="dk1"/>
              </a:solidFill>
              <a:latin typeface="Calibri"/>
              <a:ea typeface="Calibri"/>
              <a:cs typeface="Calibri"/>
              <a:sym typeface="Calibri"/>
            </a:endParaRPr>
          </a:p>
        </p:txBody>
      </p:sp>
      <p:sp>
        <p:nvSpPr>
          <p:cNvPr id="749" name="Google Shape;749;g3e68d5c5d8c_3_2"/>
          <p:cNvSpPr/>
          <p:nvPr/>
        </p:nvSpPr>
        <p:spPr>
          <a:xfrm>
            <a:off x="877824" y="4297680"/>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BB4"/>
              </a:buClr>
              <a:buSzPts val="1500"/>
              <a:buFont typeface="Calibri"/>
              <a:buNone/>
            </a:pPr>
            <a:r>
              <a:rPr b="0" i="1" lang="en-US" sz="1500" u="none" cap="none" strike="noStrike">
                <a:solidFill>
                  <a:srgbClr val="8B9BB4"/>
                </a:solidFill>
                <a:latin typeface="Calibri"/>
                <a:ea typeface="Calibri"/>
                <a:cs typeface="Calibri"/>
                <a:sym typeface="Calibri"/>
              </a:rPr>
              <a:t>Source: Anticipated</a:t>
            </a:r>
            <a:endParaRPr b="0" i="0" sz="1500" u="none" cap="none" strike="noStrike">
              <a:solidFill>
                <a:schemeClr val="dk1"/>
              </a:solidFill>
              <a:latin typeface="Calibri"/>
              <a:ea typeface="Calibri"/>
              <a:cs typeface="Calibri"/>
              <a:sym typeface="Calibri"/>
            </a:endParaRPr>
          </a:p>
        </p:txBody>
      </p:sp>
      <p:sp>
        <p:nvSpPr>
          <p:cNvPr id="750" name="Google Shape;750;g3e68d5c5d8c_3_2"/>
          <p:cNvSpPr/>
          <p:nvPr/>
        </p:nvSpPr>
        <p:spPr>
          <a:xfrm>
            <a:off x="9418320" y="215798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51" name="Google Shape;751;g3e68d5c5d8c_3_2"/>
          <p:cNvSpPr/>
          <p:nvPr/>
        </p:nvSpPr>
        <p:spPr>
          <a:xfrm>
            <a:off x="9418320" y="2157984"/>
            <a:ext cx="219600" cy="2432400"/>
          </a:xfrm>
          <a:prstGeom prst="rect">
            <a:avLst/>
          </a:prstGeom>
          <a:solidFill>
            <a:srgbClr val="E8A820"/>
          </a:solidFill>
          <a:ln cap="flat" cmpd="sng" w="12700">
            <a:solidFill>
              <a:srgbClr val="E8A82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52" name="Google Shape;752;g3e68d5c5d8c_3_2"/>
          <p:cNvSpPr/>
          <p:nvPr/>
        </p:nvSpPr>
        <p:spPr>
          <a:xfrm>
            <a:off x="9637776" y="2157984"/>
            <a:ext cx="8376000" cy="5121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53" name="Google Shape;753;g3e68d5c5d8c_3_2"/>
          <p:cNvSpPr/>
          <p:nvPr/>
        </p:nvSpPr>
        <p:spPr>
          <a:xfrm>
            <a:off x="9784080" y="2157984"/>
            <a:ext cx="8046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FM-02  ·  Environmental  ·  Pressure Sensing (ADC)</a:t>
            </a:r>
            <a:endParaRPr b="0" i="0" sz="1700" u="none" cap="none" strike="noStrike">
              <a:solidFill>
                <a:schemeClr val="dk1"/>
              </a:solidFill>
              <a:latin typeface="Calibri"/>
              <a:ea typeface="Calibri"/>
              <a:cs typeface="Calibri"/>
              <a:sym typeface="Calibri"/>
            </a:endParaRPr>
          </a:p>
        </p:txBody>
      </p:sp>
      <p:sp>
        <p:nvSpPr>
          <p:cNvPr id="754" name="Google Shape;754;g3e68d5c5d8c_3_2"/>
          <p:cNvSpPr/>
          <p:nvPr/>
        </p:nvSpPr>
        <p:spPr>
          <a:xfrm>
            <a:off x="9784080" y="2706624"/>
            <a:ext cx="8046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2000"/>
              <a:buFont typeface="Calibri"/>
              <a:buNone/>
            </a:pPr>
            <a:r>
              <a:rPr b="1" i="0" lang="en-US" sz="2000" u="none" cap="none" strike="noStrike">
                <a:solidFill>
                  <a:srgbClr val="12243A"/>
                </a:solidFill>
                <a:latin typeface="Calibri"/>
                <a:ea typeface="Calibri"/>
                <a:cs typeface="Calibri"/>
                <a:sym typeface="Calibri"/>
              </a:rPr>
              <a:t>60 Hz electromagnetic interference on analog signal line</a:t>
            </a:r>
            <a:endParaRPr b="0" i="0" sz="2000" u="none" cap="none" strike="noStrike">
              <a:solidFill>
                <a:schemeClr val="dk1"/>
              </a:solidFill>
              <a:latin typeface="Calibri"/>
              <a:ea typeface="Calibri"/>
              <a:cs typeface="Calibri"/>
              <a:sym typeface="Calibri"/>
            </a:endParaRPr>
          </a:p>
        </p:txBody>
      </p:sp>
      <p:sp>
        <p:nvSpPr>
          <p:cNvPr id="755" name="Google Shape;755;g3e68d5c5d8c_3_2"/>
          <p:cNvSpPr/>
          <p:nvPr/>
        </p:nvSpPr>
        <p:spPr>
          <a:xfrm>
            <a:off x="9784080" y="3145536"/>
            <a:ext cx="8046600" cy="7680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3A4A"/>
              </a:buClr>
              <a:buSzPts val="1700"/>
              <a:buFont typeface="Calibri"/>
              <a:buNone/>
            </a:pPr>
            <a:r>
              <a:rPr b="0" i="0" lang="en-US" sz="1700" u="none" cap="none" strike="noStrike">
                <a:solidFill>
                  <a:srgbClr val="2D3A4A"/>
                </a:solidFill>
                <a:latin typeface="Calibri"/>
                <a:ea typeface="Calibri"/>
                <a:cs typeface="Calibri"/>
                <a:sym typeface="Calibri"/>
              </a:rPr>
              <a:t>False WARN/CRITICAL alerts from EMI noise → alert fatigue → patient ignores legitimate future alerts.</a:t>
            </a:r>
            <a:endParaRPr b="0" i="0" sz="1700" u="none" cap="none" strike="noStrike">
              <a:solidFill>
                <a:schemeClr val="dk1"/>
              </a:solidFill>
              <a:latin typeface="Calibri"/>
              <a:ea typeface="Calibri"/>
              <a:cs typeface="Calibri"/>
              <a:sym typeface="Calibri"/>
            </a:endParaRPr>
          </a:p>
        </p:txBody>
      </p:sp>
      <p:sp>
        <p:nvSpPr>
          <p:cNvPr id="756" name="Google Shape;756;g3e68d5c5d8c_3_2"/>
          <p:cNvSpPr/>
          <p:nvPr/>
        </p:nvSpPr>
        <p:spPr>
          <a:xfrm>
            <a:off x="9784080" y="4297680"/>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BB4"/>
              </a:buClr>
              <a:buSzPts val="1500"/>
              <a:buFont typeface="Calibri"/>
              <a:buNone/>
            </a:pPr>
            <a:r>
              <a:rPr b="0" i="1" lang="en-US" sz="1500" u="none" cap="none" strike="noStrike">
                <a:solidFill>
                  <a:srgbClr val="8B9BB4"/>
                </a:solidFill>
                <a:latin typeface="Calibri"/>
                <a:ea typeface="Calibri"/>
                <a:cs typeface="Calibri"/>
                <a:sym typeface="Calibri"/>
              </a:rPr>
              <a:t>Source: Observed in prototype</a:t>
            </a:r>
            <a:endParaRPr b="0" i="0" sz="1500" u="none" cap="none" strike="noStrike">
              <a:solidFill>
                <a:schemeClr val="dk1"/>
              </a:solidFill>
              <a:latin typeface="Calibri"/>
              <a:ea typeface="Calibri"/>
              <a:cs typeface="Calibri"/>
              <a:sym typeface="Calibri"/>
            </a:endParaRPr>
          </a:p>
        </p:txBody>
      </p:sp>
      <p:sp>
        <p:nvSpPr>
          <p:cNvPr id="757" name="Google Shape;757;g3e68d5c5d8c_3_2"/>
          <p:cNvSpPr/>
          <p:nvPr/>
        </p:nvSpPr>
        <p:spPr>
          <a:xfrm>
            <a:off x="512064" y="480974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58" name="Google Shape;758;g3e68d5c5d8c_3_2"/>
          <p:cNvSpPr/>
          <p:nvPr/>
        </p:nvSpPr>
        <p:spPr>
          <a:xfrm>
            <a:off x="512064" y="4809744"/>
            <a:ext cx="219600" cy="2432400"/>
          </a:xfrm>
          <a:prstGeom prst="rect">
            <a:avLst/>
          </a:prstGeom>
          <a:solidFill>
            <a:srgbClr val="D64045"/>
          </a:solidFill>
          <a:ln cap="flat" cmpd="sng" w="12700">
            <a:solidFill>
              <a:srgbClr val="D6404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59" name="Google Shape;759;g3e68d5c5d8c_3_2"/>
          <p:cNvSpPr/>
          <p:nvPr/>
        </p:nvSpPr>
        <p:spPr>
          <a:xfrm>
            <a:off x="731520" y="4809744"/>
            <a:ext cx="8376000" cy="5121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60" name="Google Shape;760;g3e68d5c5d8c_3_2"/>
          <p:cNvSpPr/>
          <p:nvPr/>
        </p:nvSpPr>
        <p:spPr>
          <a:xfrm>
            <a:off x="877824" y="4809744"/>
            <a:ext cx="8046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045"/>
              </a:buClr>
              <a:buSzPts val="1700"/>
              <a:buFont typeface="Calibri"/>
              <a:buNone/>
            </a:pPr>
            <a:r>
              <a:rPr b="1" i="0" lang="en-US" sz="1700" u="none" cap="none" strike="noStrike">
                <a:solidFill>
                  <a:srgbClr val="D64045"/>
                </a:solidFill>
                <a:latin typeface="Calibri"/>
                <a:ea typeface="Calibri"/>
                <a:cs typeface="Calibri"/>
                <a:sym typeface="Calibri"/>
              </a:rPr>
              <a:t>FM-03  ·  Environmental  ·  Electronics / Assembly</a:t>
            </a:r>
            <a:endParaRPr b="0" i="0" sz="1700" u="none" cap="none" strike="noStrike">
              <a:solidFill>
                <a:schemeClr val="dk1"/>
              </a:solidFill>
              <a:latin typeface="Calibri"/>
              <a:ea typeface="Calibri"/>
              <a:cs typeface="Calibri"/>
              <a:sym typeface="Calibri"/>
            </a:endParaRPr>
          </a:p>
        </p:txBody>
      </p:sp>
      <p:sp>
        <p:nvSpPr>
          <p:cNvPr id="761" name="Google Shape;761;g3e68d5c5d8c_3_2"/>
          <p:cNvSpPr/>
          <p:nvPr/>
        </p:nvSpPr>
        <p:spPr>
          <a:xfrm>
            <a:off x="877824" y="5358384"/>
            <a:ext cx="8046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2000"/>
              <a:buFont typeface="Calibri"/>
              <a:buNone/>
            </a:pPr>
            <a:r>
              <a:rPr b="1" i="0" lang="en-US" sz="2000" u="none" cap="none" strike="noStrike">
                <a:solidFill>
                  <a:srgbClr val="12243A"/>
                </a:solidFill>
                <a:latin typeface="Calibri"/>
                <a:ea typeface="Calibri"/>
                <a:cs typeface="Calibri"/>
                <a:sym typeface="Calibri"/>
              </a:rPr>
              <a:t>Moisture ingress causing short circuit or corrosion</a:t>
            </a:r>
            <a:endParaRPr b="0" i="0" sz="2000" u="none" cap="none" strike="noStrike">
              <a:solidFill>
                <a:schemeClr val="dk1"/>
              </a:solidFill>
              <a:latin typeface="Calibri"/>
              <a:ea typeface="Calibri"/>
              <a:cs typeface="Calibri"/>
              <a:sym typeface="Calibri"/>
            </a:endParaRPr>
          </a:p>
        </p:txBody>
      </p:sp>
      <p:sp>
        <p:nvSpPr>
          <p:cNvPr id="762" name="Google Shape;762;g3e68d5c5d8c_3_2"/>
          <p:cNvSpPr/>
          <p:nvPr/>
        </p:nvSpPr>
        <p:spPr>
          <a:xfrm>
            <a:off x="877824" y="5797296"/>
            <a:ext cx="8046600" cy="7680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3A4A"/>
              </a:buClr>
              <a:buSzPts val="1700"/>
              <a:buFont typeface="Calibri"/>
              <a:buNone/>
            </a:pPr>
            <a:r>
              <a:rPr b="0" i="0" lang="en-US" sz="1700" u="none" cap="none" strike="noStrike">
                <a:solidFill>
                  <a:srgbClr val="2D3A4A"/>
                </a:solidFill>
                <a:latin typeface="Calibri"/>
                <a:ea typeface="Calibri"/>
                <a:cs typeface="Calibri"/>
                <a:sym typeface="Calibri"/>
              </a:rPr>
              <a:t>Intermittent or complete device failure. Silent monitoring loss — patient unaware while walking unmonitored.</a:t>
            </a:r>
            <a:endParaRPr b="0" i="0" sz="1700" u="none" cap="none" strike="noStrike">
              <a:solidFill>
                <a:schemeClr val="dk1"/>
              </a:solidFill>
              <a:latin typeface="Calibri"/>
              <a:ea typeface="Calibri"/>
              <a:cs typeface="Calibri"/>
              <a:sym typeface="Calibri"/>
            </a:endParaRPr>
          </a:p>
        </p:txBody>
      </p:sp>
      <p:sp>
        <p:nvSpPr>
          <p:cNvPr id="763" name="Google Shape;763;g3e68d5c5d8c_3_2"/>
          <p:cNvSpPr/>
          <p:nvPr/>
        </p:nvSpPr>
        <p:spPr>
          <a:xfrm>
            <a:off x="877824" y="6949440"/>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BB4"/>
              </a:buClr>
              <a:buSzPts val="1500"/>
              <a:buFont typeface="Calibri"/>
              <a:buNone/>
            </a:pPr>
            <a:r>
              <a:rPr b="0" i="1" lang="en-US" sz="1500" u="none" cap="none" strike="noStrike">
                <a:solidFill>
                  <a:srgbClr val="8B9BB4"/>
                </a:solidFill>
                <a:latin typeface="Calibri"/>
                <a:ea typeface="Calibri"/>
                <a:cs typeface="Calibri"/>
                <a:sym typeface="Calibri"/>
              </a:rPr>
              <a:t>Source: Anticipated</a:t>
            </a:r>
            <a:endParaRPr b="0" i="0" sz="1500" u="none" cap="none" strike="noStrike">
              <a:solidFill>
                <a:schemeClr val="dk1"/>
              </a:solidFill>
              <a:latin typeface="Calibri"/>
              <a:ea typeface="Calibri"/>
              <a:cs typeface="Calibri"/>
              <a:sym typeface="Calibri"/>
            </a:endParaRPr>
          </a:p>
        </p:txBody>
      </p:sp>
      <p:sp>
        <p:nvSpPr>
          <p:cNvPr id="764" name="Google Shape;764;g3e68d5c5d8c_3_2"/>
          <p:cNvSpPr/>
          <p:nvPr/>
        </p:nvSpPr>
        <p:spPr>
          <a:xfrm>
            <a:off x="9418320" y="480974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65" name="Google Shape;765;g3e68d5c5d8c_3_2"/>
          <p:cNvSpPr/>
          <p:nvPr/>
        </p:nvSpPr>
        <p:spPr>
          <a:xfrm>
            <a:off x="9418320" y="4809744"/>
            <a:ext cx="219600" cy="2432400"/>
          </a:xfrm>
          <a:prstGeom prst="rect">
            <a:avLst/>
          </a:prstGeom>
          <a:solidFill>
            <a:srgbClr val="E8A820"/>
          </a:solidFill>
          <a:ln cap="flat" cmpd="sng" w="12700">
            <a:solidFill>
              <a:srgbClr val="E8A82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66" name="Google Shape;766;g3e68d5c5d8c_3_2"/>
          <p:cNvSpPr/>
          <p:nvPr/>
        </p:nvSpPr>
        <p:spPr>
          <a:xfrm>
            <a:off x="9637776" y="4809744"/>
            <a:ext cx="8376000" cy="5121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67" name="Google Shape;767;g3e68d5c5d8c_3_2"/>
          <p:cNvSpPr/>
          <p:nvPr/>
        </p:nvSpPr>
        <p:spPr>
          <a:xfrm>
            <a:off x="9784080" y="4809744"/>
            <a:ext cx="8046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FM-04  ·  Wireless Communication  ·  BLE Radio / iOS App</a:t>
            </a:r>
            <a:endParaRPr b="0" i="0" sz="1700" u="none" cap="none" strike="noStrike">
              <a:solidFill>
                <a:schemeClr val="dk1"/>
              </a:solidFill>
              <a:latin typeface="Calibri"/>
              <a:ea typeface="Calibri"/>
              <a:cs typeface="Calibri"/>
              <a:sym typeface="Calibri"/>
            </a:endParaRPr>
          </a:p>
        </p:txBody>
      </p:sp>
      <p:sp>
        <p:nvSpPr>
          <p:cNvPr id="768" name="Google Shape;768;g3e68d5c5d8c_3_2"/>
          <p:cNvSpPr/>
          <p:nvPr/>
        </p:nvSpPr>
        <p:spPr>
          <a:xfrm>
            <a:off x="9784080" y="5358384"/>
            <a:ext cx="8046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2000"/>
              <a:buFont typeface="Calibri"/>
              <a:buNone/>
            </a:pPr>
            <a:r>
              <a:rPr b="1" i="0" lang="en-US" sz="2000" u="none" cap="none" strike="noStrike">
                <a:solidFill>
                  <a:srgbClr val="12243A"/>
                </a:solidFill>
                <a:latin typeface="Calibri"/>
                <a:ea typeface="Calibri"/>
                <a:cs typeface="Calibri"/>
                <a:sym typeface="Calibri"/>
              </a:rPr>
              <a:t>BLE disconnection during ambulatory use</a:t>
            </a:r>
            <a:endParaRPr b="0" i="0" sz="2000" u="none" cap="none" strike="noStrike">
              <a:solidFill>
                <a:schemeClr val="dk1"/>
              </a:solidFill>
              <a:latin typeface="Calibri"/>
              <a:ea typeface="Calibri"/>
              <a:cs typeface="Calibri"/>
              <a:sym typeface="Calibri"/>
            </a:endParaRPr>
          </a:p>
        </p:txBody>
      </p:sp>
      <p:sp>
        <p:nvSpPr>
          <p:cNvPr id="769" name="Google Shape;769;g3e68d5c5d8c_3_2"/>
          <p:cNvSpPr/>
          <p:nvPr/>
        </p:nvSpPr>
        <p:spPr>
          <a:xfrm>
            <a:off x="9784080" y="5797296"/>
            <a:ext cx="8046600" cy="7680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3A4A"/>
              </a:buClr>
              <a:buSzPts val="1700"/>
              <a:buFont typeface="Calibri"/>
              <a:buNone/>
            </a:pPr>
            <a:r>
              <a:rPr b="0" i="0" lang="en-US" sz="1700" u="none" cap="none" strike="noStrike">
                <a:solidFill>
                  <a:srgbClr val="2D3A4A"/>
                </a:solidFill>
                <a:latin typeface="Calibri"/>
                <a:ea typeface="Calibri"/>
                <a:cs typeface="Calibri"/>
                <a:sym typeface="Calibri"/>
              </a:rPr>
              <a:t>Silent monitoring interruption. Patient experiences no alerts during potentially dangerous plantar loading.</a:t>
            </a:r>
            <a:endParaRPr b="0" i="0" sz="1700" u="none" cap="none" strike="noStrike">
              <a:solidFill>
                <a:schemeClr val="dk1"/>
              </a:solidFill>
              <a:latin typeface="Calibri"/>
              <a:ea typeface="Calibri"/>
              <a:cs typeface="Calibri"/>
              <a:sym typeface="Calibri"/>
            </a:endParaRPr>
          </a:p>
        </p:txBody>
      </p:sp>
      <p:sp>
        <p:nvSpPr>
          <p:cNvPr id="770" name="Google Shape;770;g3e68d5c5d8c_3_2"/>
          <p:cNvSpPr/>
          <p:nvPr/>
        </p:nvSpPr>
        <p:spPr>
          <a:xfrm>
            <a:off x="9784080" y="6949440"/>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BB4"/>
              </a:buClr>
              <a:buSzPts val="1500"/>
              <a:buFont typeface="Calibri"/>
              <a:buNone/>
            </a:pPr>
            <a:r>
              <a:rPr b="0" i="1" lang="en-US" sz="1500" u="none" cap="none" strike="noStrike">
                <a:solidFill>
                  <a:srgbClr val="8B9BB4"/>
                </a:solidFill>
                <a:latin typeface="Calibri"/>
                <a:ea typeface="Calibri"/>
                <a:cs typeface="Calibri"/>
                <a:sym typeface="Calibri"/>
              </a:rPr>
              <a:t>Source: Anticipated</a:t>
            </a:r>
            <a:endParaRPr b="0" i="0" sz="1500" u="none" cap="none" strike="noStrike">
              <a:solidFill>
                <a:schemeClr val="dk1"/>
              </a:solidFill>
              <a:latin typeface="Calibri"/>
              <a:ea typeface="Calibri"/>
              <a:cs typeface="Calibri"/>
              <a:sym typeface="Calibri"/>
            </a:endParaRPr>
          </a:p>
        </p:txBody>
      </p:sp>
      <p:sp>
        <p:nvSpPr>
          <p:cNvPr id="771" name="Google Shape;771;g3e68d5c5d8c_3_2"/>
          <p:cNvSpPr/>
          <p:nvPr/>
        </p:nvSpPr>
        <p:spPr>
          <a:xfrm>
            <a:off x="512064" y="746150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72" name="Google Shape;772;g3e68d5c5d8c_3_2"/>
          <p:cNvSpPr/>
          <p:nvPr/>
        </p:nvSpPr>
        <p:spPr>
          <a:xfrm>
            <a:off x="512064" y="7461504"/>
            <a:ext cx="219600" cy="2432400"/>
          </a:xfrm>
          <a:prstGeom prst="rect">
            <a:avLst/>
          </a:prstGeom>
          <a:solidFill>
            <a:srgbClr val="E8A820"/>
          </a:solidFill>
          <a:ln cap="flat" cmpd="sng" w="12700">
            <a:solidFill>
              <a:srgbClr val="E8A82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73" name="Google Shape;773;g3e68d5c5d8c_3_2"/>
          <p:cNvSpPr/>
          <p:nvPr/>
        </p:nvSpPr>
        <p:spPr>
          <a:xfrm>
            <a:off x="731520" y="7461504"/>
            <a:ext cx="8376000" cy="5121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74" name="Google Shape;774;g3e68d5c5d8c_3_2"/>
          <p:cNvSpPr/>
          <p:nvPr/>
        </p:nvSpPr>
        <p:spPr>
          <a:xfrm>
            <a:off x="877824" y="7461504"/>
            <a:ext cx="80466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FM-05  ·  User Error  ·  Power Management</a:t>
            </a:r>
            <a:endParaRPr b="0" i="0" sz="1700" u="none" cap="none" strike="noStrike">
              <a:solidFill>
                <a:schemeClr val="dk1"/>
              </a:solidFill>
              <a:latin typeface="Calibri"/>
              <a:ea typeface="Calibri"/>
              <a:cs typeface="Calibri"/>
              <a:sym typeface="Calibri"/>
            </a:endParaRPr>
          </a:p>
        </p:txBody>
      </p:sp>
      <p:sp>
        <p:nvSpPr>
          <p:cNvPr id="775" name="Google Shape;775;g3e68d5c5d8c_3_2"/>
          <p:cNvSpPr/>
          <p:nvPr/>
        </p:nvSpPr>
        <p:spPr>
          <a:xfrm>
            <a:off x="877824" y="8010144"/>
            <a:ext cx="8046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2000"/>
              <a:buFont typeface="Calibri"/>
              <a:buNone/>
            </a:pPr>
            <a:r>
              <a:rPr b="1" i="0" lang="en-US" sz="2000" u="none" cap="none" strike="noStrike">
                <a:solidFill>
                  <a:srgbClr val="12243A"/>
                </a:solidFill>
                <a:latin typeface="Calibri"/>
                <a:ea typeface="Calibri"/>
                <a:cs typeface="Calibri"/>
                <a:sym typeface="Calibri"/>
              </a:rPr>
              <a:t>User fails to charge device before daily use</a:t>
            </a:r>
            <a:endParaRPr b="0" i="0" sz="2000" u="none" cap="none" strike="noStrike">
              <a:solidFill>
                <a:schemeClr val="dk1"/>
              </a:solidFill>
              <a:latin typeface="Calibri"/>
              <a:ea typeface="Calibri"/>
              <a:cs typeface="Calibri"/>
              <a:sym typeface="Calibri"/>
            </a:endParaRPr>
          </a:p>
        </p:txBody>
      </p:sp>
      <p:sp>
        <p:nvSpPr>
          <p:cNvPr id="776" name="Google Shape;776;g3e68d5c5d8c_3_2"/>
          <p:cNvSpPr/>
          <p:nvPr/>
        </p:nvSpPr>
        <p:spPr>
          <a:xfrm>
            <a:off x="877824" y="8449056"/>
            <a:ext cx="8046600" cy="7680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3A4A"/>
              </a:buClr>
              <a:buSzPts val="1700"/>
              <a:buFont typeface="Calibri"/>
              <a:buNone/>
            </a:pPr>
            <a:r>
              <a:rPr b="0" i="0" lang="en-US" sz="1700" u="none" cap="none" strike="noStrike">
                <a:solidFill>
                  <a:srgbClr val="2D3A4A"/>
                </a:solidFill>
                <a:latin typeface="Calibri"/>
                <a:ea typeface="Calibri"/>
                <a:cs typeface="Calibri"/>
                <a:sym typeface="Calibri"/>
              </a:rPr>
              <a:t>Complete monitoring loss for unknown duration during daily wear. Patient may walk for hours without any alerts.</a:t>
            </a:r>
            <a:endParaRPr b="0" i="0" sz="1700" u="none" cap="none" strike="noStrike">
              <a:solidFill>
                <a:schemeClr val="dk1"/>
              </a:solidFill>
              <a:latin typeface="Calibri"/>
              <a:ea typeface="Calibri"/>
              <a:cs typeface="Calibri"/>
              <a:sym typeface="Calibri"/>
            </a:endParaRPr>
          </a:p>
        </p:txBody>
      </p:sp>
      <p:sp>
        <p:nvSpPr>
          <p:cNvPr id="777" name="Google Shape;777;g3e68d5c5d8c_3_2"/>
          <p:cNvSpPr/>
          <p:nvPr/>
        </p:nvSpPr>
        <p:spPr>
          <a:xfrm>
            <a:off x="877824" y="9601200"/>
            <a:ext cx="8046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BB4"/>
              </a:buClr>
              <a:buSzPts val="1500"/>
              <a:buFont typeface="Calibri"/>
              <a:buNone/>
            </a:pPr>
            <a:r>
              <a:rPr b="0" i="1" lang="en-US" sz="1500" u="none" cap="none" strike="noStrike">
                <a:solidFill>
                  <a:srgbClr val="8B9BB4"/>
                </a:solidFill>
                <a:latin typeface="Calibri"/>
                <a:ea typeface="Calibri"/>
                <a:cs typeface="Calibri"/>
                <a:sym typeface="Calibri"/>
              </a:rPr>
              <a:t>Source: Anticipated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1" name="Shape 781"/>
        <p:cNvGrpSpPr/>
        <p:nvPr/>
      </p:nvGrpSpPr>
      <p:grpSpPr>
        <a:xfrm>
          <a:off x="0" y="0"/>
          <a:ext cx="0" cy="0"/>
          <a:chOff x="0" y="0"/>
          <a:chExt cx="0" cy="0"/>
        </a:xfrm>
      </p:grpSpPr>
      <p:sp>
        <p:nvSpPr>
          <p:cNvPr id="782" name="Google Shape;782;g3e6aec4bc39_0_0"/>
          <p:cNvSpPr/>
          <p:nvPr/>
        </p:nvSpPr>
        <p:spPr>
          <a:xfrm>
            <a:off x="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83" name="Google Shape;783;g3e6aec4bc39_0_0"/>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i="0" lang="en-US" sz="5200" u="none" cap="none" strike="noStrike">
                <a:solidFill>
                  <a:srgbClr val="12243A"/>
                </a:solidFill>
                <a:latin typeface="Calibri"/>
                <a:ea typeface="Calibri"/>
                <a:cs typeface="Calibri"/>
                <a:sym typeface="Calibri"/>
              </a:rPr>
              <a:t>Risk Analysis </a:t>
            </a:r>
            <a:endParaRPr b="0" i="0" sz="5200" u="none" cap="none" strike="noStrike">
              <a:solidFill>
                <a:schemeClr val="dk1"/>
              </a:solidFill>
              <a:latin typeface="Calibri"/>
              <a:ea typeface="Calibri"/>
              <a:cs typeface="Calibri"/>
              <a:sym typeface="Calibri"/>
            </a:endParaRPr>
          </a:p>
        </p:txBody>
      </p:sp>
      <p:graphicFrame>
        <p:nvGraphicFramePr>
          <p:cNvPr id="784" name="Google Shape;784;g3e6aec4bc39_0_0"/>
          <p:cNvGraphicFramePr/>
          <p:nvPr/>
        </p:nvGraphicFramePr>
        <p:xfrm>
          <a:off x="1432000" y="3893175"/>
          <a:ext cx="3000000" cy="3000000"/>
        </p:xfrm>
        <a:graphic>
          <a:graphicData uri="http://schemas.openxmlformats.org/drawingml/2006/table">
            <a:tbl>
              <a:tblPr>
                <a:noFill/>
                <a:tableStyleId>{42155E32-66DE-4C0E-A942-E691E884E6FB}</a:tableStyleId>
              </a:tblPr>
              <a:tblGrid>
                <a:gridCol w="2382375"/>
                <a:gridCol w="3252850"/>
                <a:gridCol w="8636075"/>
              </a:tblGrid>
              <a:tr h="247650">
                <a:tc>
                  <a:txBody>
                    <a:bodyPr/>
                    <a:lstStyle/>
                    <a:p>
                      <a:pPr indent="0" lvl="0" marL="0" rtl="0" algn="l">
                        <a:lnSpc>
                          <a:spcPct val="115000"/>
                        </a:lnSpc>
                        <a:spcBef>
                          <a:spcPts val="0"/>
                        </a:spcBef>
                        <a:spcAft>
                          <a:spcPts val="0"/>
                        </a:spcAft>
                        <a:buNone/>
                      </a:pPr>
                      <a:r>
                        <a:rPr b="1" lang="en-US" sz="2000">
                          <a:solidFill>
                            <a:schemeClr val="lt1"/>
                          </a:solidFill>
                          <a:latin typeface="Times New Roman"/>
                          <a:ea typeface="Times New Roman"/>
                          <a:cs typeface="Times New Roman"/>
                          <a:sym typeface="Times New Roman"/>
                        </a:rPr>
                        <a:t>Score Range</a:t>
                      </a:r>
                      <a:endParaRPr b="1" sz="20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2545"/>
                    </a:solidFill>
                  </a:tcPr>
                </a:tc>
                <a:tc>
                  <a:txBody>
                    <a:bodyPr/>
                    <a:lstStyle/>
                    <a:p>
                      <a:pPr indent="0" lvl="0" marL="0" rtl="0" algn="l">
                        <a:lnSpc>
                          <a:spcPct val="115000"/>
                        </a:lnSpc>
                        <a:spcBef>
                          <a:spcPts val="0"/>
                        </a:spcBef>
                        <a:spcAft>
                          <a:spcPts val="0"/>
                        </a:spcAft>
                        <a:buNone/>
                      </a:pPr>
                      <a:r>
                        <a:rPr b="1" lang="en-US" sz="2000">
                          <a:solidFill>
                            <a:schemeClr val="lt1"/>
                          </a:solidFill>
                          <a:latin typeface="Times New Roman"/>
                          <a:ea typeface="Times New Roman"/>
                          <a:cs typeface="Times New Roman"/>
                          <a:sym typeface="Times New Roman"/>
                        </a:rPr>
                        <a:t>Description</a:t>
                      </a:r>
                      <a:endParaRPr b="1" sz="20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2545"/>
                    </a:solidFill>
                  </a:tcPr>
                </a:tc>
                <a:tc>
                  <a:txBody>
                    <a:bodyPr/>
                    <a:lstStyle/>
                    <a:p>
                      <a:pPr indent="0" lvl="0" marL="0" rtl="0" algn="l">
                        <a:lnSpc>
                          <a:spcPct val="115000"/>
                        </a:lnSpc>
                        <a:spcBef>
                          <a:spcPts val="0"/>
                        </a:spcBef>
                        <a:spcAft>
                          <a:spcPts val="0"/>
                        </a:spcAft>
                        <a:buNone/>
                      </a:pPr>
                      <a:r>
                        <a:rPr b="1" lang="en-US" sz="2000">
                          <a:solidFill>
                            <a:schemeClr val="lt1"/>
                          </a:solidFill>
                          <a:latin typeface="Times New Roman"/>
                          <a:ea typeface="Times New Roman"/>
                          <a:cs typeface="Times New Roman"/>
                          <a:sym typeface="Times New Roman"/>
                        </a:rPr>
                        <a:t>NeuroFoot Clinical Context</a:t>
                      </a:r>
                      <a:endParaRPr b="1" sz="20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2545"/>
                    </a:solidFill>
                  </a:tcPr>
                </a:tc>
              </a:tr>
              <a:tr h="381000">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1 to 3</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Minor</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Device function slightly degraded; no patient safety impact; patient or clinician would notice and self-correct without consequence</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4 to 6</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Moderate</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Monitoring accuracy reduced or alert frequency affected; potential for user inconvenience or alert fatigue; no direct tissue injury expected</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7 to 8</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Serious</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Core alert or monitoring function fails; patient is exposed to sustained plantar mechanical overload without warning; clinically meaningful DFU risk elevation</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4350">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9 to 10</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Critical</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latin typeface="Times New Roman"/>
                          <a:ea typeface="Times New Roman"/>
                          <a:cs typeface="Times New Roman"/>
                          <a:sym typeface="Times New Roman"/>
                        </a:rPr>
                        <a:t>Device causes direct physical injury (e.g., electrical shock, skin damage from hardware failure); or complete silent failure with patient believing device is operational</a:t>
                      </a:r>
                      <a:endParaRPr sz="20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85" name="Google Shape;785;g3e6aec4bc39_0_0"/>
          <p:cNvSpPr txBox="1"/>
          <p:nvPr/>
        </p:nvSpPr>
        <p:spPr>
          <a:xfrm>
            <a:off x="1432000" y="1752938"/>
            <a:ext cx="14271300" cy="179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US" sz="2500">
                <a:solidFill>
                  <a:schemeClr val="dk1"/>
                </a:solidFill>
                <a:latin typeface="Times New Roman"/>
                <a:ea typeface="Times New Roman"/>
                <a:cs typeface="Times New Roman"/>
                <a:sym typeface="Times New Roman"/>
              </a:rPr>
              <a:t>Severity Scale (S)</a:t>
            </a:r>
            <a:br>
              <a:rPr b="1" lang="en-US" sz="2500">
                <a:solidFill>
                  <a:schemeClr val="dk1"/>
                </a:solidFill>
                <a:latin typeface="Times New Roman"/>
                <a:ea typeface="Times New Roman"/>
                <a:cs typeface="Times New Roman"/>
                <a:sym typeface="Times New Roman"/>
              </a:rPr>
            </a:br>
            <a:r>
              <a:rPr lang="en-US" sz="2300">
                <a:solidFill>
                  <a:schemeClr val="dk1"/>
                </a:solidFill>
                <a:latin typeface="Times New Roman"/>
                <a:ea typeface="Times New Roman"/>
                <a:cs typeface="Times New Roman"/>
                <a:sym typeface="Times New Roman"/>
              </a:rPr>
              <a:t>Severity describes the worst-case consequence of a failure mode reaching the patient, assuming the failure is not detected or corrected. Scores reflect the clinical consequences specific to the NeuroFoot intended use population: adults with diabetic peripheral neuropathy and loss of protective sensation</a:t>
            </a:r>
            <a:endParaRPr b="1" sz="23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9" name="Shape 789"/>
        <p:cNvGrpSpPr/>
        <p:nvPr/>
      </p:nvGrpSpPr>
      <p:grpSpPr>
        <a:xfrm>
          <a:off x="0" y="0"/>
          <a:ext cx="0" cy="0"/>
          <a:chOff x="0" y="0"/>
          <a:chExt cx="0" cy="0"/>
        </a:xfrm>
      </p:grpSpPr>
      <p:sp>
        <p:nvSpPr>
          <p:cNvPr id="790" name="Google Shape;790;g3e6aec4bc39_0_11"/>
          <p:cNvSpPr/>
          <p:nvPr/>
        </p:nvSpPr>
        <p:spPr>
          <a:xfrm>
            <a:off x="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91" name="Google Shape;791;g3e6aec4bc39_0_11"/>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i="0" lang="en-US" sz="5200" u="none" cap="none" strike="noStrike">
                <a:solidFill>
                  <a:srgbClr val="12243A"/>
                </a:solidFill>
                <a:latin typeface="Calibri"/>
                <a:ea typeface="Calibri"/>
                <a:cs typeface="Calibri"/>
                <a:sym typeface="Calibri"/>
              </a:rPr>
              <a:t>Risk Analysis </a:t>
            </a:r>
            <a:endParaRPr b="0" i="0" sz="5200" u="none" cap="none" strike="noStrike">
              <a:solidFill>
                <a:schemeClr val="dk1"/>
              </a:solidFill>
              <a:latin typeface="Calibri"/>
              <a:ea typeface="Calibri"/>
              <a:cs typeface="Calibri"/>
              <a:sym typeface="Calibri"/>
            </a:endParaRPr>
          </a:p>
        </p:txBody>
      </p:sp>
      <p:graphicFrame>
        <p:nvGraphicFramePr>
          <p:cNvPr id="792" name="Google Shape;792;g3e6aec4bc39_0_11"/>
          <p:cNvGraphicFramePr/>
          <p:nvPr/>
        </p:nvGraphicFramePr>
        <p:xfrm>
          <a:off x="1388100" y="3429000"/>
          <a:ext cx="3000000" cy="3000000"/>
        </p:xfrm>
        <a:graphic>
          <a:graphicData uri="http://schemas.openxmlformats.org/drawingml/2006/table">
            <a:tbl>
              <a:tblPr>
                <a:noFill/>
                <a:tableStyleId>{42155E32-66DE-4C0E-A942-E691E884E6FB}</a:tableStyleId>
              </a:tblPr>
              <a:tblGrid>
                <a:gridCol w="2153625"/>
                <a:gridCol w="4728625"/>
                <a:gridCol w="7701575"/>
              </a:tblGrid>
              <a:tr h="247650">
                <a:tc>
                  <a:txBody>
                    <a:bodyPr/>
                    <a:lstStyle/>
                    <a:p>
                      <a:pPr indent="0" lvl="0" marL="0" rtl="0" algn="l">
                        <a:lnSpc>
                          <a:spcPct val="115000"/>
                        </a:lnSpc>
                        <a:spcBef>
                          <a:spcPts val="0"/>
                        </a:spcBef>
                        <a:spcAft>
                          <a:spcPts val="0"/>
                        </a:spcAft>
                        <a:buNone/>
                      </a:pPr>
                      <a:r>
                        <a:rPr b="1" lang="en-US" sz="2300">
                          <a:solidFill>
                            <a:schemeClr val="lt1"/>
                          </a:solidFill>
                          <a:latin typeface="Times New Roman"/>
                          <a:ea typeface="Times New Roman"/>
                          <a:cs typeface="Times New Roman"/>
                          <a:sym typeface="Times New Roman"/>
                        </a:rPr>
                        <a:t>Score</a:t>
                      </a:r>
                      <a:endParaRPr b="1" sz="23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C2D3F"/>
                    </a:solidFill>
                  </a:tcPr>
                </a:tc>
                <a:tc>
                  <a:txBody>
                    <a:bodyPr/>
                    <a:lstStyle/>
                    <a:p>
                      <a:pPr indent="0" lvl="0" marL="0" rtl="0" algn="l">
                        <a:lnSpc>
                          <a:spcPct val="115000"/>
                        </a:lnSpc>
                        <a:spcBef>
                          <a:spcPts val="0"/>
                        </a:spcBef>
                        <a:spcAft>
                          <a:spcPts val="0"/>
                        </a:spcAft>
                        <a:buNone/>
                      </a:pPr>
                      <a:r>
                        <a:rPr b="1" lang="en-US" sz="2300">
                          <a:solidFill>
                            <a:schemeClr val="lt1"/>
                          </a:solidFill>
                          <a:latin typeface="Times New Roman"/>
                          <a:ea typeface="Times New Roman"/>
                          <a:cs typeface="Times New Roman"/>
                          <a:sym typeface="Times New Roman"/>
                        </a:rPr>
                        <a:t>Frequency Estimate</a:t>
                      </a:r>
                      <a:endParaRPr b="1" sz="2300">
                        <a:solidFill>
                          <a:schemeClr val="lt1"/>
                        </a:solidFill>
                        <a:latin typeface="Times New Roman"/>
                        <a:ea typeface="Times New Roman"/>
                        <a:cs typeface="Times New Roman"/>
                        <a:sym typeface="Times New Roman"/>
                      </a:endParaRPr>
                    </a:p>
                  </a:txBody>
                  <a:tcPr marT="50800" marB="50800" marR="76200" marL="762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C2D3F"/>
                    </a:solidFill>
                  </a:tcPr>
                </a:tc>
                <a:tc>
                  <a:txBody>
                    <a:bodyPr/>
                    <a:lstStyle/>
                    <a:p>
                      <a:pPr indent="0" lvl="0" marL="0" rtl="0" algn="l">
                        <a:lnSpc>
                          <a:spcPct val="115000"/>
                        </a:lnSpc>
                        <a:spcBef>
                          <a:spcPts val="0"/>
                        </a:spcBef>
                        <a:spcAft>
                          <a:spcPts val="0"/>
                        </a:spcAft>
                        <a:buNone/>
                      </a:pPr>
                      <a:r>
                        <a:rPr b="1" lang="en-US" sz="2300">
                          <a:solidFill>
                            <a:schemeClr val="lt1"/>
                          </a:solidFill>
                          <a:latin typeface="Times New Roman"/>
                          <a:ea typeface="Times New Roman"/>
                          <a:cs typeface="Times New Roman"/>
                          <a:sym typeface="Times New Roman"/>
                        </a:rPr>
                        <a:t>Basis</a:t>
                      </a:r>
                      <a:endParaRPr b="1" sz="2300">
                        <a:solidFill>
                          <a:schemeClr val="lt1"/>
                        </a:solidFill>
                        <a:latin typeface="Times New Roman"/>
                        <a:ea typeface="Times New Roman"/>
                        <a:cs typeface="Times New Roman"/>
                        <a:sym typeface="Times New Roman"/>
                      </a:endParaRPr>
                    </a:p>
                  </a:txBody>
                  <a:tcPr marT="50800" marB="50800" marR="76200" marL="762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C2D3F"/>
                    </a:solidFill>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1 to 2</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Remote: fewer than 1 in 10,000 operating cycles</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Component-level specification provides very high reliability assurance</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3 to 4</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Low: approximately 1 in 1,000 cycles</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Component meets specification; failure possible but infrequent under normal use</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5 to 6</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Moderate: approximately 1 in 100 cycles</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Known failure mechanism documented in literature or datasheet; design partially mitigates</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7 to 8</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High: approximately 1 in 10 cycles</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Failure mechanism is dominant and current design does not adequately address it</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9 to 10</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Very High: greater than 1 in 2 cycles</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Failure is expected under normal use without corrective design action</a:t>
                      </a:r>
                      <a:endParaRPr sz="23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93" name="Google Shape;793;g3e6aec4bc39_0_11"/>
          <p:cNvSpPr txBox="1"/>
          <p:nvPr/>
        </p:nvSpPr>
        <p:spPr>
          <a:xfrm>
            <a:off x="1388100" y="1597438"/>
            <a:ext cx="13596600" cy="150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US" sz="2300">
                <a:latin typeface="Times New Roman"/>
                <a:ea typeface="Times New Roman"/>
                <a:cs typeface="Times New Roman"/>
                <a:sym typeface="Times New Roman"/>
              </a:rPr>
              <a:t>Occurrence Scale (O)</a:t>
            </a:r>
            <a:endParaRPr b="1" sz="2300">
              <a:latin typeface="Times New Roman"/>
              <a:ea typeface="Times New Roman"/>
              <a:cs typeface="Times New Roman"/>
              <a:sym typeface="Times New Roman"/>
            </a:endParaRPr>
          </a:p>
          <a:p>
            <a:pPr indent="0" lvl="0" marL="0" rtl="0" algn="l">
              <a:lnSpc>
                <a:spcPct val="115000"/>
              </a:lnSpc>
              <a:spcBef>
                <a:spcPts val="400"/>
              </a:spcBef>
              <a:spcAft>
                <a:spcPts val="600"/>
              </a:spcAft>
              <a:buNone/>
            </a:pPr>
            <a:r>
              <a:rPr lang="en-US" sz="2300">
                <a:latin typeface="Times New Roman"/>
                <a:ea typeface="Times New Roman"/>
                <a:cs typeface="Times New Roman"/>
                <a:sym typeface="Times New Roman"/>
              </a:rPr>
              <a:t>Occurrence reflects the estimated probability that the identified failure cause will produce the failure mode during the expected device lifetime, based on available evidence at PDR stage.</a:t>
            </a:r>
            <a:endParaRPr sz="23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7" name="Shape 797"/>
        <p:cNvGrpSpPr/>
        <p:nvPr/>
      </p:nvGrpSpPr>
      <p:grpSpPr>
        <a:xfrm>
          <a:off x="0" y="0"/>
          <a:ext cx="0" cy="0"/>
          <a:chOff x="0" y="0"/>
          <a:chExt cx="0" cy="0"/>
        </a:xfrm>
      </p:grpSpPr>
      <p:sp>
        <p:nvSpPr>
          <p:cNvPr id="798" name="Google Shape;798;g3e6aec4bc39_0_26"/>
          <p:cNvSpPr/>
          <p:nvPr/>
        </p:nvSpPr>
        <p:spPr>
          <a:xfrm>
            <a:off x="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799" name="Google Shape;799;g3e6aec4bc39_0_26"/>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i="0" lang="en-US" sz="5200" u="none" cap="none" strike="noStrike">
                <a:solidFill>
                  <a:srgbClr val="12243A"/>
                </a:solidFill>
                <a:latin typeface="Calibri"/>
                <a:ea typeface="Calibri"/>
                <a:cs typeface="Calibri"/>
                <a:sym typeface="Calibri"/>
              </a:rPr>
              <a:t>Risk Analysis </a:t>
            </a:r>
            <a:endParaRPr b="0" i="0" sz="5200" u="none" cap="none" strike="noStrike">
              <a:solidFill>
                <a:schemeClr val="dk1"/>
              </a:solidFill>
              <a:latin typeface="Calibri"/>
              <a:ea typeface="Calibri"/>
              <a:cs typeface="Calibri"/>
              <a:sym typeface="Calibri"/>
            </a:endParaRPr>
          </a:p>
        </p:txBody>
      </p:sp>
      <p:sp>
        <p:nvSpPr>
          <p:cNvPr id="800" name="Google Shape;800;g3e6aec4bc39_0_26"/>
          <p:cNvSpPr txBox="1"/>
          <p:nvPr/>
        </p:nvSpPr>
        <p:spPr>
          <a:xfrm>
            <a:off x="1388100" y="1678367"/>
            <a:ext cx="13596600" cy="204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00"/>
              </a:spcBef>
              <a:spcAft>
                <a:spcPts val="0"/>
              </a:spcAft>
              <a:buNone/>
            </a:pPr>
            <a:r>
              <a:rPr b="1" lang="en-US" sz="2300">
                <a:latin typeface="Times New Roman"/>
                <a:ea typeface="Times New Roman"/>
                <a:cs typeface="Times New Roman"/>
                <a:sym typeface="Times New Roman"/>
              </a:rPr>
              <a:t>Detection Scale (D)</a:t>
            </a:r>
            <a:endParaRPr b="1" sz="2300">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US" sz="2300">
                <a:latin typeface="Times New Roman"/>
                <a:ea typeface="Times New Roman"/>
                <a:cs typeface="Times New Roman"/>
                <a:sym typeface="Times New Roman"/>
              </a:rPr>
              <a:t>Detection reflects the ability of existing design controls to identify the failure mode before it reaches the patient without correction. A higher score indicates a lower probability of detection; a score of 10 represents a complete inability to detect the failure.</a:t>
            </a:r>
            <a:endParaRPr sz="2300">
              <a:latin typeface="Times New Roman"/>
              <a:ea typeface="Times New Roman"/>
              <a:cs typeface="Times New Roman"/>
              <a:sym typeface="Times New Roman"/>
            </a:endParaRPr>
          </a:p>
          <a:p>
            <a:pPr indent="0" lvl="0" marL="0" rtl="0" algn="l">
              <a:lnSpc>
                <a:spcPct val="115000"/>
              </a:lnSpc>
              <a:spcBef>
                <a:spcPts val="600"/>
              </a:spcBef>
              <a:spcAft>
                <a:spcPts val="600"/>
              </a:spcAft>
              <a:buNone/>
            </a:pPr>
            <a:r>
              <a:t/>
            </a:r>
            <a:endParaRPr b="1" sz="2300">
              <a:latin typeface="Times New Roman"/>
              <a:ea typeface="Times New Roman"/>
              <a:cs typeface="Times New Roman"/>
              <a:sym typeface="Times New Roman"/>
            </a:endParaRPr>
          </a:p>
        </p:txBody>
      </p:sp>
      <p:graphicFrame>
        <p:nvGraphicFramePr>
          <p:cNvPr id="801" name="Google Shape;801;g3e6aec4bc39_0_26"/>
          <p:cNvGraphicFramePr/>
          <p:nvPr/>
        </p:nvGraphicFramePr>
        <p:xfrm>
          <a:off x="1388100" y="3721075"/>
          <a:ext cx="3000000" cy="3000000"/>
        </p:xfrm>
        <a:graphic>
          <a:graphicData uri="http://schemas.openxmlformats.org/drawingml/2006/table">
            <a:tbl>
              <a:tblPr>
                <a:noFill/>
                <a:tableStyleId>{42155E32-66DE-4C0E-A942-E691E884E6FB}</a:tableStyleId>
              </a:tblPr>
              <a:tblGrid>
                <a:gridCol w="2229650"/>
                <a:gridCol w="3465675"/>
                <a:gridCol w="9403350"/>
              </a:tblGrid>
              <a:tr h="247650">
                <a:tc>
                  <a:txBody>
                    <a:bodyPr/>
                    <a:lstStyle/>
                    <a:p>
                      <a:pPr indent="0" lvl="0" marL="0" rtl="0" algn="l">
                        <a:lnSpc>
                          <a:spcPct val="115000"/>
                        </a:lnSpc>
                        <a:spcBef>
                          <a:spcPts val="0"/>
                        </a:spcBef>
                        <a:spcAft>
                          <a:spcPts val="0"/>
                        </a:spcAft>
                        <a:buNone/>
                      </a:pPr>
                      <a:r>
                        <a:rPr b="1" lang="en-US" sz="2300">
                          <a:solidFill>
                            <a:schemeClr val="lt1"/>
                          </a:solidFill>
                          <a:latin typeface="Times New Roman"/>
                          <a:ea typeface="Times New Roman"/>
                          <a:cs typeface="Times New Roman"/>
                          <a:sym typeface="Times New Roman"/>
                        </a:rPr>
                        <a:t>Score</a:t>
                      </a:r>
                      <a:endParaRPr b="1" sz="2300">
                        <a:solidFill>
                          <a:schemeClr val="lt1"/>
                        </a:solidFill>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C2D3F"/>
                    </a:solidFill>
                  </a:tcPr>
                </a:tc>
                <a:tc>
                  <a:txBody>
                    <a:bodyPr/>
                    <a:lstStyle/>
                    <a:p>
                      <a:pPr indent="0" lvl="0" marL="0" rtl="0" algn="l">
                        <a:lnSpc>
                          <a:spcPct val="115000"/>
                        </a:lnSpc>
                        <a:spcBef>
                          <a:spcPts val="0"/>
                        </a:spcBef>
                        <a:spcAft>
                          <a:spcPts val="0"/>
                        </a:spcAft>
                        <a:buNone/>
                      </a:pPr>
                      <a:r>
                        <a:rPr b="1" lang="en-US" sz="2300">
                          <a:solidFill>
                            <a:schemeClr val="lt1"/>
                          </a:solidFill>
                          <a:latin typeface="Times New Roman"/>
                          <a:ea typeface="Times New Roman"/>
                          <a:cs typeface="Times New Roman"/>
                          <a:sym typeface="Times New Roman"/>
                        </a:rPr>
                        <a:t>Detectability</a:t>
                      </a:r>
                      <a:endParaRPr b="1" sz="2300">
                        <a:solidFill>
                          <a:schemeClr val="lt1"/>
                        </a:solidFill>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C2D3F"/>
                    </a:solidFill>
                  </a:tcPr>
                </a:tc>
                <a:tc>
                  <a:txBody>
                    <a:bodyPr/>
                    <a:lstStyle/>
                    <a:p>
                      <a:pPr indent="0" lvl="0" marL="0" rtl="0" algn="l">
                        <a:lnSpc>
                          <a:spcPct val="115000"/>
                        </a:lnSpc>
                        <a:spcBef>
                          <a:spcPts val="0"/>
                        </a:spcBef>
                        <a:spcAft>
                          <a:spcPts val="0"/>
                        </a:spcAft>
                        <a:buNone/>
                      </a:pPr>
                      <a:r>
                        <a:rPr b="1" lang="en-US" sz="2300">
                          <a:solidFill>
                            <a:schemeClr val="lt1"/>
                          </a:solidFill>
                          <a:latin typeface="Times New Roman"/>
                          <a:ea typeface="Times New Roman"/>
                          <a:cs typeface="Times New Roman"/>
                          <a:sym typeface="Times New Roman"/>
                        </a:rPr>
                        <a:t>Mechanism</a:t>
                      </a:r>
                      <a:endParaRPr b="1" sz="2300">
                        <a:solidFill>
                          <a:schemeClr val="lt1"/>
                        </a:solidFill>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C2D3F"/>
                    </a:solidFill>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1 to 2</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Almost certain</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Automatic detection by device firmware or hardware; failure triggers visible or audible alert before patient impact</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3 to 4</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High</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Patient or user would likely notice anomalous device behavior within one use session</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5 to 6</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Moderate</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Detection requires active inspection, calibration check, or app review; not self-evident during routine use</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7 to 8</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Low</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Failure is gradual or latent; patient is unlikely to notice degraded performance without dedicated monitoring</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9 to 10</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Remote</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300">
                          <a:latin typeface="Times New Roman"/>
                          <a:ea typeface="Times New Roman"/>
                          <a:cs typeface="Times New Roman"/>
                          <a:sym typeface="Times New Roman"/>
                        </a:rPr>
                        <a:t>Silent failure; device gives no indication of malfunction; patient cannot distinguish operational from non-operational states</a:t>
                      </a:r>
                      <a:endParaRPr sz="2300">
                        <a:latin typeface="Times New Roman"/>
                        <a:ea typeface="Times New Roman"/>
                        <a:cs typeface="Times New Roman"/>
                        <a:sym typeface="Times New Roman"/>
                      </a:endParaRPr>
                    </a:p>
                  </a:txBody>
                  <a:tcPr marT="50800" marB="50800" marR="76200" marL="762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5" name="Shape 805"/>
        <p:cNvGrpSpPr/>
        <p:nvPr/>
      </p:nvGrpSpPr>
      <p:grpSpPr>
        <a:xfrm>
          <a:off x="0" y="0"/>
          <a:ext cx="0" cy="0"/>
          <a:chOff x="0" y="0"/>
          <a:chExt cx="0" cy="0"/>
        </a:xfrm>
      </p:grpSpPr>
      <p:sp>
        <p:nvSpPr>
          <p:cNvPr id="806" name="Google Shape;806;g3e6aec4bc39_0_38"/>
          <p:cNvSpPr/>
          <p:nvPr/>
        </p:nvSpPr>
        <p:spPr>
          <a:xfrm>
            <a:off x="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07" name="Google Shape;807;g3e6aec4bc39_0_38"/>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lang="en-US" sz="5200">
                <a:solidFill>
                  <a:srgbClr val="12243A"/>
                </a:solidFill>
                <a:latin typeface="Calibri"/>
                <a:ea typeface="Calibri"/>
                <a:cs typeface="Calibri"/>
                <a:sym typeface="Calibri"/>
              </a:rPr>
              <a:t>Risk Acceptance Criteria</a:t>
            </a:r>
            <a:r>
              <a:rPr b="1" i="0" lang="en-US" sz="5200" u="none" cap="none" strike="noStrike">
                <a:solidFill>
                  <a:srgbClr val="12243A"/>
                </a:solidFill>
                <a:latin typeface="Calibri"/>
                <a:ea typeface="Calibri"/>
                <a:cs typeface="Calibri"/>
                <a:sym typeface="Calibri"/>
              </a:rPr>
              <a:t> </a:t>
            </a:r>
            <a:endParaRPr b="0" i="0" sz="5200" u="none" cap="none" strike="noStrike">
              <a:solidFill>
                <a:schemeClr val="dk1"/>
              </a:solidFill>
              <a:latin typeface="Calibri"/>
              <a:ea typeface="Calibri"/>
              <a:cs typeface="Calibri"/>
              <a:sym typeface="Calibri"/>
            </a:endParaRPr>
          </a:p>
        </p:txBody>
      </p:sp>
      <p:graphicFrame>
        <p:nvGraphicFramePr>
          <p:cNvPr id="808" name="Google Shape;808;g3e6aec4bc39_0_38"/>
          <p:cNvGraphicFramePr/>
          <p:nvPr/>
        </p:nvGraphicFramePr>
        <p:xfrm>
          <a:off x="1940225" y="3304800"/>
          <a:ext cx="3000000" cy="3000000"/>
        </p:xfrm>
        <a:graphic>
          <a:graphicData uri="http://schemas.openxmlformats.org/drawingml/2006/table">
            <a:tbl>
              <a:tblPr>
                <a:noFill/>
                <a:tableStyleId>{42155E32-66DE-4C0E-A942-E691E884E6FB}</a:tableStyleId>
              </a:tblPr>
              <a:tblGrid>
                <a:gridCol w="2631775"/>
                <a:gridCol w="2395400"/>
                <a:gridCol w="9817450"/>
              </a:tblGrid>
              <a:tr h="247650">
                <a:tc>
                  <a:txBody>
                    <a:bodyPr/>
                    <a:lstStyle/>
                    <a:p>
                      <a:pPr indent="0" lvl="0" marL="0" rtl="0" algn="l">
                        <a:lnSpc>
                          <a:spcPct val="115000"/>
                        </a:lnSpc>
                        <a:spcBef>
                          <a:spcPts val="0"/>
                        </a:spcBef>
                        <a:spcAft>
                          <a:spcPts val="0"/>
                        </a:spcAft>
                        <a:buNone/>
                      </a:pPr>
                      <a:r>
                        <a:rPr b="1" lang="en-US" sz="2900">
                          <a:solidFill>
                            <a:schemeClr val="lt1"/>
                          </a:solidFill>
                          <a:latin typeface="Times New Roman"/>
                          <a:ea typeface="Times New Roman"/>
                          <a:cs typeface="Times New Roman"/>
                          <a:sym typeface="Times New Roman"/>
                        </a:rPr>
                        <a:t>RPN Range</a:t>
                      </a:r>
                      <a:endParaRPr b="1" sz="29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C2D3F"/>
                    </a:solidFill>
                  </a:tcPr>
                </a:tc>
                <a:tc>
                  <a:txBody>
                    <a:bodyPr/>
                    <a:lstStyle/>
                    <a:p>
                      <a:pPr indent="0" lvl="0" marL="0" rtl="0" algn="l">
                        <a:lnSpc>
                          <a:spcPct val="115000"/>
                        </a:lnSpc>
                        <a:spcBef>
                          <a:spcPts val="0"/>
                        </a:spcBef>
                        <a:spcAft>
                          <a:spcPts val="0"/>
                        </a:spcAft>
                        <a:buNone/>
                      </a:pPr>
                      <a:r>
                        <a:rPr b="1" lang="en-US" sz="2900">
                          <a:solidFill>
                            <a:schemeClr val="lt1"/>
                          </a:solidFill>
                          <a:latin typeface="Times New Roman"/>
                          <a:ea typeface="Times New Roman"/>
                          <a:cs typeface="Times New Roman"/>
                          <a:sym typeface="Times New Roman"/>
                        </a:rPr>
                        <a:t>Risk Level</a:t>
                      </a:r>
                      <a:endParaRPr b="1" sz="29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C2D3F"/>
                    </a:solidFill>
                  </a:tcPr>
                </a:tc>
                <a:tc>
                  <a:txBody>
                    <a:bodyPr/>
                    <a:lstStyle/>
                    <a:p>
                      <a:pPr indent="0" lvl="0" marL="0" rtl="0" algn="l">
                        <a:lnSpc>
                          <a:spcPct val="115000"/>
                        </a:lnSpc>
                        <a:spcBef>
                          <a:spcPts val="0"/>
                        </a:spcBef>
                        <a:spcAft>
                          <a:spcPts val="0"/>
                        </a:spcAft>
                        <a:buNone/>
                      </a:pPr>
                      <a:r>
                        <a:rPr b="1" lang="en-US" sz="2900">
                          <a:solidFill>
                            <a:schemeClr val="lt1"/>
                          </a:solidFill>
                          <a:latin typeface="Times New Roman"/>
                          <a:ea typeface="Times New Roman"/>
                          <a:cs typeface="Times New Roman"/>
                          <a:sym typeface="Times New Roman"/>
                        </a:rPr>
                        <a:t>Required Action</a:t>
                      </a:r>
                      <a:endParaRPr b="1" sz="2900">
                        <a:solidFill>
                          <a:schemeClr val="lt1"/>
                        </a:solidFill>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C2D3F"/>
                    </a:solidFill>
                  </a:tcPr>
                </a:tc>
              </a:tr>
              <a:tr h="381000">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200 to 1000</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CEC"/>
                    </a:solidFill>
                  </a:tcPr>
                </a:tc>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High</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CEC"/>
                    </a:solidFill>
                  </a:tcPr>
                </a:tc>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Corrective action required before Design Verification. Revised RPN must fall below 200 following implementation of recommended controls.</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CEC"/>
                    </a:solidFill>
                  </a:tcPr>
                </a:tc>
              </a:tr>
              <a:tr h="381000">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100 to 199</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3CD"/>
                    </a:solidFill>
                  </a:tcPr>
                </a:tc>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Medium</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3CD"/>
                    </a:solidFill>
                  </a:tcPr>
                </a:tc>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Risk reduction recommended. Recommended actions documented and addressed in the Design Verification plan.</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3CD"/>
                    </a:solidFill>
                  </a:tcPr>
                </a:tc>
              </a:tr>
              <a:tr h="381000">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1 to 99</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F4F8"/>
                    </a:solidFill>
                  </a:tcPr>
                </a:tc>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Low</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F4F8"/>
                    </a:solidFill>
                  </a:tcPr>
                </a:tc>
                <a:tc>
                  <a:txBody>
                    <a:bodyPr/>
                    <a:lstStyle/>
                    <a:p>
                      <a:pPr indent="0" lvl="0" marL="0" rtl="0" algn="l">
                        <a:lnSpc>
                          <a:spcPct val="115000"/>
                        </a:lnSpc>
                        <a:spcBef>
                          <a:spcPts val="0"/>
                        </a:spcBef>
                        <a:spcAft>
                          <a:spcPts val="0"/>
                        </a:spcAft>
                        <a:buNone/>
                      </a:pPr>
                      <a:r>
                        <a:rPr lang="en-US" sz="2900">
                          <a:latin typeface="Times New Roman"/>
                          <a:ea typeface="Times New Roman"/>
                          <a:cs typeface="Times New Roman"/>
                          <a:sym typeface="Times New Roman"/>
                        </a:rPr>
                        <a:t>Risk acceptable with existing controls. Monitor and reassess if design changes are made.</a:t>
                      </a:r>
                      <a:endParaRPr sz="2900">
                        <a:latin typeface="Times New Roman"/>
                        <a:ea typeface="Times New Roman"/>
                        <a:cs typeface="Times New Roman"/>
                        <a:sym typeface="Times New Roman"/>
                      </a:endParaRPr>
                    </a:p>
                  </a:txBody>
                  <a:tcPr marT="50800" marB="508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8F4F8"/>
                    </a:solidFill>
                  </a:tcPr>
                </a:tc>
              </a:tr>
            </a:tbl>
          </a:graphicData>
        </a:graphic>
      </p:graphicFrame>
      <p:sp>
        <p:nvSpPr>
          <p:cNvPr id="809" name="Google Shape;809;g3e6aec4bc39_0_38"/>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0F4F8"/>
        </a:solidFill>
      </p:bgPr>
    </p:bg>
    <p:spTree>
      <p:nvGrpSpPr>
        <p:cNvPr id="814" name="Shape 814"/>
        <p:cNvGrpSpPr/>
        <p:nvPr/>
      </p:nvGrpSpPr>
      <p:grpSpPr>
        <a:xfrm>
          <a:off x="0" y="0"/>
          <a:ext cx="0" cy="0"/>
          <a:chOff x="0" y="0"/>
          <a:chExt cx="0" cy="0"/>
        </a:xfrm>
      </p:grpSpPr>
      <p:sp>
        <p:nvSpPr>
          <p:cNvPr id="815" name="Google Shape;815;g3e68d5c5d8c_3_53"/>
          <p:cNvSpPr/>
          <p:nvPr/>
        </p:nvSpPr>
        <p:spPr>
          <a:xfrm>
            <a:off x="10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16" name="Google Shape;816;g3e68d5c5d8c_3_53"/>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i="0" lang="en-US" sz="5200" u="none" cap="none" strike="noStrike">
                <a:solidFill>
                  <a:srgbClr val="12243A"/>
                </a:solidFill>
                <a:latin typeface="Calibri"/>
                <a:ea typeface="Calibri"/>
                <a:cs typeface="Calibri"/>
                <a:sym typeface="Calibri"/>
              </a:rPr>
              <a:t>Risk Analysis </a:t>
            </a:r>
            <a:r>
              <a:rPr b="1" lang="en-US" sz="5200">
                <a:solidFill>
                  <a:srgbClr val="12243A"/>
                </a:solidFill>
                <a:latin typeface="Calibri"/>
                <a:ea typeface="Calibri"/>
                <a:cs typeface="Calibri"/>
                <a:sym typeface="Calibri"/>
              </a:rPr>
              <a:t>– </a:t>
            </a:r>
            <a:r>
              <a:rPr b="1" i="0" lang="en-US" sz="5200" u="none" cap="none" strike="noStrike">
                <a:solidFill>
                  <a:srgbClr val="12243A"/>
                </a:solidFill>
                <a:latin typeface="Calibri"/>
                <a:ea typeface="Calibri"/>
                <a:cs typeface="Calibri"/>
                <a:sym typeface="Calibri"/>
              </a:rPr>
              <a:t>RPN</a:t>
            </a:r>
            <a:endParaRPr b="0" i="0" sz="5200" u="none" cap="none" strike="noStrike">
              <a:solidFill>
                <a:schemeClr val="dk1"/>
              </a:solidFill>
              <a:latin typeface="Calibri"/>
              <a:ea typeface="Calibri"/>
              <a:cs typeface="Calibri"/>
              <a:sym typeface="Calibri"/>
            </a:endParaRPr>
          </a:p>
        </p:txBody>
      </p:sp>
      <p:sp>
        <p:nvSpPr>
          <p:cNvPr id="817" name="Google Shape;817;g3e68d5c5d8c_3_53"/>
          <p:cNvSpPr/>
          <p:nvPr/>
        </p:nvSpPr>
        <p:spPr>
          <a:xfrm>
            <a:off x="640080" y="1426464"/>
            <a:ext cx="170079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E8C"/>
              </a:buClr>
              <a:buSzPts val="2400"/>
              <a:buFont typeface="Calibri"/>
              <a:buNone/>
            </a:pPr>
            <a:r>
              <a:rPr b="0" i="1" lang="en-US" sz="2400" u="none" cap="none" strike="noStrike">
                <a:solidFill>
                  <a:srgbClr val="0A7E8C"/>
                </a:solidFill>
                <a:latin typeface="Calibri"/>
                <a:ea typeface="Calibri"/>
                <a:cs typeface="Calibri"/>
                <a:sym typeface="Calibri"/>
              </a:rPr>
              <a:t>Section 3.2  ·  Presenter: Lily Wu</a:t>
            </a:r>
            <a:endParaRPr b="0" i="0" sz="2400" u="none" cap="none" strike="noStrike">
              <a:solidFill>
                <a:schemeClr val="dk1"/>
              </a:solidFill>
              <a:latin typeface="Calibri"/>
              <a:ea typeface="Calibri"/>
              <a:cs typeface="Calibri"/>
              <a:sym typeface="Calibri"/>
            </a:endParaRPr>
          </a:p>
        </p:txBody>
      </p:sp>
      <p:cxnSp>
        <p:nvCxnSpPr>
          <p:cNvPr id="818" name="Google Shape;818;g3e68d5c5d8c_3_53"/>
          <p:cNvCxnSpPr/>
          <p:nvPr/>
        </p:nvCxnSpPr>
        <p:spPr>
          <a:xfrm>
            <a:off x="640080" y="1975104"/>
            <a:ext cx="17007900" cy="0"/>
          </a:xfrm>
          <a:prstGeom prst="straightConnector1">
            <a:avLst/>
          </a:prstGeom>
          <a:noFill/>
          <a:ln cap="flat" cmpd="sng" w="12700">
            <a:solidFill>
              <a:srgbClr val="E8F4F8"/>
            </a:solidFill>
            <a:prstDash val="solid"/>
            <a:round/>
            <a:headEnd len="sm" w="sm" type="none"/>
            <a:tailEnd len="sm" w="sm" type="none"/>
          </a:ln>
        </p:spPr>
      </p:cxnSp>
      <p:sp>
        <p:nvSpPr>
          <p:cNvPr id="819" name="Google Shape;819;g3e68d5c5d8c_3_53"/>
          <p:cNvSpPr/>
          <p:nvPr/>
        </p:nvSpPr>
        <p:spPr>
          <a:xfrm>
            <a:off x="548650" y="2157979"/>
            <a:ext cx="4206300" cy="5121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20" name="Google Shape;820;g3e68d5c5d8c_3_53"/>
          <p:cNvSpPr/>
          <p:nvPr/>
        </p:nvSpPr>
        <p:spPr>
          <a:xfrm>
            <a:off x="548640" y="2207251"/>
            <a:ext cx="4206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S (</a:t>
            </a:r>
            <a:r>
              <a:rPr b="1" lang="en-US" sz="1900">
                <a:solidFill>
                  <a:srgbClr val="FFFFFF"/>
                </a:solidFill>
                <a:latin typeface="Calibri"/>
                <a:ea typeface="Calibri"/>
                <a:cs typeface="Calibri"/>
                <a:sym typeface="Calibri"/>
              </a:rPr>
              <a:t>Severity</a:t>
            </a:r>
            <a:r>
              <a:rPr b="1" i="0" lang="en-US" sz="1900" u="none" cap="none" strike="noStrike">
                <a:solidFill>
                  <a:srgbClr val="FFFFFF"/>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821" name="Google Shape;821;g3e68d5c5d8c_3_53"/>
          <p:cNvSpPr/>
          <p:nvPr/>
        </p:nvSpPr>
        <p:spPr>
          <a:xfrm>
            <a:off x="4974325" y="2157979"/>
            <a:ext cx="4206300" cy="512100"/>
          </a:xfrm>
          <a:prstGeom prst="rect">
            <a:avLst/>
          </a:prstGeom>
          <a:solidFill>
            <a:srgbClr val="12243A"/>
          </a:solidFill>
          <a:ln cap="flat" cmpd="sng" w="12700">
            <a:solidFill>
              <a:srgbClr val="12243A"/>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22" name="Google Shape;822;g3e68d5c5d8c_3_53"/>
          <p:cNvSpPr/>
          <p:nvPr/>
        </p:nvSpPr>
        <p:spPr>
          <a:xfrm>
            <a:off x="4974336" y="2207251"/>
            <a:ext cx="4206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O (Occurrence)</a:t>
            </a:r>
            <a:endParaRPr b="0" i="0" sz="1900" u="none" cap="none" strike="noStrike">
              <a:solidFill>
                <a:schemeClr val="dk1"/>
              </a:solidFill>
              <a:latin typeface="Calibri"/>
              <a:ea typeface="Calibri"/>
              <a:cs typeface="Calibri"/>
              <a:sym typeface="Calibri"/>
            </a:endParaRPr>
          </a:p>
        </p:txBody>
      </p:sp>
      <p:sp>
        <p:nvSpPr>
          <p:cNvPr id="823" name="Google Shape;823;g3e68d5c5d8c_3_53"/>
          <p:cNvSpPr/>
          <p:nvPr/>
        </p:nvSpPr>
        <p:spPr>
          <a:xfrm>
            <a:off x="9400025" y="2157974"/>
            <a:ext cx="4206300" cy="512100"/>
          </a:xfrm>
          <a:prstGeom prst="rect">
            <a:avLst/>
          </a:prstGeom>
          <a:solidFill>
            <a:srgbClr val="8B9BB4"/>
          </a:solidFill>
          <a:ln cap="flat" cmpd="sng" w="12700">
            <a:solidFill>
              <a:srgbClr val="8B9BB4"/>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24" name="Google Shape;824;g3e68d5c5d8c_3_53"/>
          <p:cNvSpPr/>
          <p:nvPr/>
        </p:nvSpPr>
        <p:spPr>
          <a:xfrm>
            <a:off x="9400032" y="2207251"/>
            <a:ext cx="4206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D (Detection)</a:t>
            </a:r>
            <a:endParaRPr b="0" i="0" sz="1900" u="none" cap="none" strike="noStrike">
              <a:solidFill>
                <a:schemeClr val="dk1"/>
              </a:solidFill>
              <a:latin typeface="Calibri"/>
              <a:ea typeface="Calibri"/>
              <a:cs typeface="Calibri"/>
              <a:sym typeface="Calibri"/>
            </a:endParaRPr>
          </a:p>
        </p:txBody>
      </p:sp>
      <p:sp>
        <p:nvSpPr>
          <p:cNvPr id="825" name="Google Shape;825;g3e68d5c5d8c_3_53"/>
          <p:cNvSpPr/>
          <p:nvPr/>
        </p:nvSpPr>
        <p:spPr>
          <a:xfrm>
            <a:off x="13825725" y="2157978"/>
            <a:ext cx="4206300" cy="512100"/>
          </a:xfrm>
          <a:prstGeom prst="rect">
            <a:avLst/>
          </a:prstGeom>
          <a:solidFill>
            <a:srgbClr val="D64045"/>
          </a:solidFill>
          <a:ln cap="flat" cmpd="sng" w="12700">
            <a:solidFill>
              <a:srgbClr val="D6404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26" name="Google Shape;826;g3e68d5c5d8c_3_53"/>
          <p:cNvSpPr/>
          <p:nvPr/>
        </p:nvSpPr>
        <p:spPr>
          <a:xfrm>
            <a:off x="13825728" y="2207251"/>
            <a:ext cx="4206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RPN = S × O × D</a:t>
            </a:r>
            <a:endParaRPr b="0" i="0" sz="1900" u="none" cap="none" strike="noStrike">
              <a:solidFill>
                <a:schemeClr val="dk1"/>
              </a:solidFill>
              <a:latin typeface="Calibri"/>
              <a:ea typeface="Calibri"/>
              <a:cs typeface="Calibri"/>
              <a:sym typeface="Calibri"/>
            </a:endParaRPr>
          </a:p>
        </p:txBody>
      </p:sp>
      <p:graphicFrame>
        <p:nvGraphicFramePr>
          <p:cNvPr id="827" name="Google Shape;827;g3e68d5c5d8c_3_53"/>
          <p:cNvGraphicFramePr/>
          <p:nvPr/>
        </p:nvGraphicFramePr>
        <p:xfrm>
          <a:off x="548640" y="2859260"/>
          <a:ext cx="3000000" cy="3000000"/>
        </p:xfrm>
        <a:graphic>
          <a:graphicData uri="http://schemas.openxmlformats.org/drawingml/2006/table">
            <a:tbl>
              <a:tblPr>
                <a:noFill/>
                <a:tableStyleId>{1D228925-EC50-4E52-8A8C-EF4C7BB9DE8A}</a:tableStyleId>
              </a:tblPr>
              <a:tblGrid>
                <a:gridCol w="1115975"/>
                <a:gridCol w="4277850"/>
                <a:gridCol w="743950"/>
                <a:gridCol w="743950"/>
                <a:gridCol w="743950"/>
                <a:gridCol w="1115975"/>
                <a:gridCol w="1487950"/>
                <a:gridCol w="7253725"/>
              </a:tblGrid>
              <a:tr h="804650">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ID</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12243A"/>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Failure Mode</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12243A"/>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S</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12243A"/>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O</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12243A"/>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D</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12243A"/>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RPN</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D64045"/>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Risk Level</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D64045"/>
                    </a:solidFill>
                  </a:tcPr>
                </a:tc>
                <a:tc>
                  <a:txBody>
                    <a:bodyPr/>
                    <a:lstStyle/>
                    <a:p>
                      <a:pPr indent="0" lvl="0" marL="0" marR="0" rtl="0" algn="l">
                        <a:spcBef>
                          <a:spcPts val="0"/>
                        </a:spcBef>
                        <a:spcAft>
                          <a:spcPts val="0"/>
                        </a:spcAft>
                        <a:buClr>
                          <a:srgbClr val="FFFFFF"/>
                        </a:buClr>
                        <a:buSzPts val="1800"/>
                        <a:buFont typeface="Calibri"/>
                        <a:buNone/>
                      </a:pPr>
                      <a:r>
                        <a:rPr b="1" lang="en-US" sz="1800" u="none" cap="none" strike="noStrike">
                          <a:solidFill>
                            <a:srgbClr val="FFFFFF"/>
                          </a:solidFill>
                          <a:latin typeface="Calibri"/>
                          <a:ea typeface="Calibri"/>
                          <a:cs typeface="Calibri"/>
                          <a:sym typeface="Calibri"/>
                        </a:rPr>
                        <a:t>Clinical Risk Justification</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12243A"/>
                    </a:solidFill>
                  </a:tcPr>
                </a:tc>
              </a:tr>
              <a:tr h="804650">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FM-01</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FSR Adhesive Delamination</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9</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7</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64045"/>
                        </a:buClr>
                        <a:buSzPts val="1800"/>
                        <a:buFont typeface="Calibri"/>
                        <a:buNone/>
                      </a:pPr>
                      <a:r>
                        <a:rPr b="1" lang="en-US" sz="1800" u="none" cap="none" strike="noStrike">
                          <a:solidFill>
                            <a:srgbClr val="D64045"/>
                          </a:solidFill>
                          <a:latin typeface="Calibri"/>
                          <a:ea typeface="Calibri"/>
                          <a:cs typeface="Calibri"/>
                          <a:sym typeface="Calibri"/>
                        </a:rPr>
                        <a:t>315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ECEC"/>
                    </a:solidFill>
                  </a:tcPr>
                </a:tc>
                <a:tc>
                  <a:txBody>
                    <a:bodyPr/>
                    <a:lstStyle/>
                    <a:p>
                      <a:pPr indent="0" lvl="0" marL="0" marR="0" rtl="0" algn="l">
                        <a:spcBef>
                          <a:spcPts val="0"/>
                        </a:spcBef>
                        <a:spcAft>
                          <a:spcPts val="0"/>
                        </a:spcAft>
                        <a:buClr>
                          <a:srgbClr val="D64045"/>
                        </a:buClr>
                        <a:buSzPts val="1800"/>
                        <a:buFont typeface="Calibri"/>
                        <a:buNone/>
                      </a:pPr>
                      <a:r>
                        <a:rPr b="1" lang="en-US" sz="1800">
                          <a:solidFill>
                            <a:srgbClr val="D64045"/>
                          </a:solidFill>
                          <a:latin typeface="Calibri"/>
                          <a:ea typeface="Calibri"/>
                          <a:cs typeface="Calibri"/>
                          <a:sym typeface="Calibri"/>
                        </a:rPr>
                        <a:t>HIGH</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ECEC"/>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Patient cannot verify accuracy; silent overload missed; loss of protective warning</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r>
              <a:tr h="804650">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FM-02</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60 Hz EMI False Alerts</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4</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6</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7A4A00"/>
                        </a:buClr>
                        <a:buSzPts val="1800"/>
                        <a:buFont typeface="Calibri"/>
                        <a:buNone/>
                      </a:pPr>
                      <a:r>
                        <a:rPr b="1" lang="en-US" sz="1800" u="none" cap="none" strike="noStrike">
                          <a:solidFill>
                            <a:srgbClr val="7A4A00"/>
                          </a:solidFill>
                          <a:latin typeface="Calibri"/>
                          <a:ea typeface="Calibri"/>
                          <a:cs typeface="Calibri"/>
                          <a:sym typeface="Calibri"/>
                        </a:rPr>
                        <a:t>120</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3CD"/>
                    </a:solidFill>
                  </a:tcPr>
                </a:tc>
                <a:tc>
                  <a:txBody>
                    <a:bodyPr/>
                    <a:lstStyle/>
                    <a:p>
                      <a:pPr indent="0" lvl="0" marL="0" marR="0" rtl="0" algn="l">
                        <a:spcBef>
                          <a:spcPts val="0"/>
                        </a:spcBef>
                        <a:spcAft>
                          <a:spcPts val="0"/>
                        </a:spcAft>
                        <a:buClr>
                          <a:srgbClr val="7A4A00"/>
                        </a:buClr>
                        <a:buSzPts val="1800"/>
                        <a:buFont typeface="Calibri"/>
                        <a:buNone/>
                      </a:pPr>
                      <a:r>
                        <a:rPr b="1" lang="en-US" sz="1800">
                          <a:solidFill>
                            <a:srgbClr val="7A4A00"/>
                          </a:solidFill>
                          <a:latin typeface="Calibri"/>
                          <a:ea typeface="Calibri"/>
                          <a:cs typeface="Calibri"/>
                          <a:sym typeface="Calibri"/>
                        </a:rPr>
                        <a:t>MEDIUM</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3CD"/>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Alert fatigue → patient ignores legitimate warnings; behavioral desensitization</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r>
              <a:tr h="804650">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FM-03</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Moisture Ingress / Short Circuit</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7</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7</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64045"/>
                        </a:buClr>
                        <a:buSzPts val="1800"/>
                        <a:buFont typeface="Calibri"/>
                        <a:buNone/>
                      </a:pPr>
                      <a:r>
                        <a:rPr b="1" lang="en-US" sz="1800" u="none" cap="none" strike="noStrike">
                          <a:solidFill>
                            <a:srgbClr val="D64045"/>
                          </a:solidFill>
                          <a:latin typeface="Calibri"/>
                          <a:ea typeface="Calibri"/>
                          <a:cs typeface="Calibri"/>
                          <a:sym typeface="Calibri"/>
                        </a:rPr>
                        <a:t>245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ECEC"/>
                    </a:solidFill>
                  </a:tcPr>
                </a:tc>
                <a:tc>
                  <a:txBody>
                    <a:bodyPr/>
                    <a:lstStyle/>
                    <a:p>
                      <a:pPr indent="0" lvl="0" marL="0" marR="0" rtl="0" algn="l">
                        <a:spcBef>
                          <a:spcPts val="0"/>
                        </a:spcBef>
                        <a:spcAft>
                          <a:spcPts val="0"/>
                        </a:spcAft>
                        <a:buClr>
                          <a:srgbClr val="D64045"/>
                        </a:buClr>
                        <a:buSzPts val="1800"/>
                        <a:buFont typeface="Calibri"/>
                        <a:buNone/>
                      </a:pPr>
                      <a:r>
                        <a:rPr b="1" lang="en-US" sz="1800">
                          <a:solidFill>
                            <a:srgbClr val="D64045"/>
                          </a:solidFill>
                          <a:latin typeface="Calibri"/>
                          <a:ea typeface="Calibri"/>
                          <a:cs typeface="Calibri"/>
                          <a:sym typeface="Calibri"/>
                        </a:rPr>
                        <a:t>HIGH</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ECEC"/>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Intermittent or complete device failure; silent monitoring loss during wear</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r>
              <a:tr h="804650">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FM-04</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BLE Disconnection (ambulatory)</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7</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4</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6</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7A4A00"/>
                        </a:buClr>
                        <a:buSzPts val="1800"/>
                        <a:buFont typeface="Calibri"/>
                        <a:buNone/>
                      </a:pPr>
                      <a:r>
                        <a:rPr b="1" lang="en-US" sz="1800" u="none" cap="none" strike="noStrike">
                          <a:solidFill>
                            <a:srgbClr val="7A4A00"/>
                          </a:solidFill>
                          <a:latin typeface="Calibri"/>
                          <a:ea typeface="Calibri"/>
                          <a:cs typeface="Calibri"/>
                          <a:sym typeface="Calibri"/>
                        </a:rPr>
                        <a:t>168</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3CD"/>
                    </a:solidFill>
                  </a:tcPr>
                </a:tc>
                <a:tc>
                  <a:txBody>
                    <a:bodyPr/>
                    <a:lstStyle/>
                    <a:p>
                      <a:pPr indent="0" lvl="0" marL="0" marR="0" rtl="0" algn="l">
                        <a:spcBef>
                          <a:spcPts val="0"/>
                        </a:spcBef>
                        <a:spcAft>
                          <a:spcPts val="0"/>
                        </a:spcAft>
                        <a:buClr>
                          <a:srgbClr val="7A4A00"/>
                        </a:buClr>
                        <a:buSzPts val="1800"/>
                        <a:buFont typeface="Calibri"/>
                        <a:buNone/>
                      </a:pPr>
                      <a:r>
                        <a:rPr b="1" lang="en-US" sz="1800">
                          <a:solidFill>
                            <a:srgbClr val="7A4A00"/>
                          </a:solidFill>
                          <a:latin typeface="Calibri"/>
                          <a:ea typeface="Calibri"/>
                          <a:cs typeface="Calibri"/>
                          <a:sym typeface="Calibri"/>
                        </a:rPr>
                        <a:t>MEDIUM</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3CD"/>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No alerts delivered during potentially dangerous loading; LED indicator not visible</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r>
              <a:tr h="804650">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FM-05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Battery Depletion / User Failure</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7</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7A4A00"/>
                        </a:buClr>
                        <a:buSzPts val="1800"/>
                        <a:buFont typeface="Calibri"/>
                        <a:buNone/>
                      </a:pPr>
                      <a:r>
                        <a:rPr b="1" lang="en-US" sz="1800" u="none" cap="none" strike="noStrike">
                          <a:solidFill>
                            <a:srgbClr val="7A4A00"/>
                          </a:solidFill>
                          <a:latin typeface="Calibri"/>
                          <a:ea typeface="Calibri"/>
                          <a:cs typeface="Calibri"/>
                          <a:sym typeface="Calibri"/>
                        </a:rPr>
                        <a:t>175</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3CD"/>
                    </a:solidFill>
                  </a:tcPr>
                </a:tc>
                <a:tc>
                  <a:txBody>
                    <a:bodyPr/>
                    <a:lstStyle/>
                    <a:p>
                      <a:pPr indent="0" lvl="0" marL="0" marR="0" rtl="0" algn="l">
                        <a:spcBef>
                          <a:spcPts val="0"/>
                        </a:spcBef>
                        <a:spcAft>
                          <a:spcPts val="0"/>
                        </a:spcAft>
                        <a:buClr>
                          <a:srgbClr val="7A4A00"/>
                        </a:buClr>
                        <a:buSzPts val="1800"/>
                        <a:buFont typeface="Calibri"/>
                        <a:buNone/>
                      </a:pPr>
                      <a:r>
                        <a:rPr b="1" lang="en-US" sz="1800">
                          <a:solidFill>
                            <a:srgbClr val="7A4A00"/>
                          </a:solidFill>
                          <a:latin typeface="Calibri"/>
                          <a:ea typeface="Calibri"/>
                          <a:cs typeface="Calibri"/>
                          <a:sym typeface="Calibri"/>
                        </a:rPr>
                        <a:t>MEDIUM</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3CD"/>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Complete monitoring loss unknown to patient; extended unmonitored wear</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FFFFF"/>
                    </a:solidFill>
                  </a:tcPr>
                </a:tc>
              </a:tr>
              <a:tr h="804650">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FM-06</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HS300x Cold Boot Init Failure</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2</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4</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3</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c>
                  <a:txBody>
                    <a:bodyPr/>
                    <a:lstStyle/>
                    <a:p>
                      <a:pPr indent="0" lvl="0" marL="0" marR="0" rtl="0" algn="l">
                        <a:spcBef>
                          <a:spcPts val="0"/>
                        </a:spcBef>
                        <a:spcAft>
                          <a:spcPts val="0"/>
                        </a:spcAft>
                        <a:buClr>
                          <a:srgbClr val="1A7A5E"/>
                        </a:buClr>
                        <a:buSzPts val="1800"/>
                        <a:buFont typeface="Calibri"/>
                        <a:buNone/>
                      </a:pPr>
                      <a:r>
                        <a:rPr b="1" lang="en-US" sz="1800" u="none" cap="none" strike="noStrike">
                          <a:solidFill>
                            <a:srgbClr val="1A7A5E"/>
                          </a:solidFill>
                          <a:latin typeface="Calibri"/>
                          <a:ea typeface="Calibri"/>
                          <a:cs typeface="Calibri"/>
                          <a:sym typeface="Calibri"/>
                        </a:rPr>
                        <a:t>24</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ECFFF4"/>
                    </a:solidFill>
                  </a:tcPr>
                </a:tc>
                <a:tc>
                  <a:txBody>
                    <a:bodyPr/>
                    <a:lstStyle/>
                    <a:p>
                      <a:pPr indent="0" lvl="0" marL="0" marR="0" rtl="0" algn="l">
                        <a:spcBef>
                          <a:spcPts val="0"/>
                        </a:spcBef>
                        <a:spcAft>
                          <a:spcPts val="0"/>
                        </a:spcAft>
                        <a:buClr>
                          <a:srgbClr val="1A7A5E"/>
                        </a:buClr>
                        <a:buSzPts val="1800"/>
                        <a:buFont typeface="Calibri"/>
                        <a:buNone/>
                      </a:pPr>
                      <a:r>
                        <a:rPr b="1" lang="en-US" sz="1800" u="none" cap="none" strike="noStrike">
                          <a:solidFill>
                            <a:srgbClr val="1A7A5E"/>
                          </a:solidFill>
                          <a:latin typeface="Calibri"/>
                          <a:ea typeface="Calibri"/>
                          <a:cs typeface="Calibri"/>
                          <a:sym typeface="Calibri"/>
                        </a:rPr>
                        <a:t>LOW</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ECFFF4"/>
                    </a:solidFill>
                  </a:tcPr>
                </a:tc>
                <a:tc>
                  <a:txBody>
                    <a:bodyPr/>
                    <a:lstStyle/>
                    <a:p>
                      <a:pPr indent="0" lvl="0" marL="0" marR="0" rtl="0" algn="l">
                        <a:spcBef>
                          <a:spcPts val="0"/>
                        </a:spcBef>
                        <a:spcAft>
                          <a:spcPts val="0"/>
                        </a:spcAft>
                        <a:buClr>
                          <a:srgbClr val="2D3A4A"/>
                        </a:buClr>
                        <a:buSzPts val="1800"/>
                        <a:buFont typeface="Calibri"/>
                        <a:buNone/>
                      </a:pPr>
                      <a:r>
                        <a:rPr lang="en-US" sz="1800" u="none" cap="none" strike="noStrike">
                          <a:solidFill>
                            <a:srgbClr val="2D3A4A"/>
                          </a:solidFill>
                          <a:latin typeface="Calibri"/>
                          <a:ea typeface="Calibri"/>
                          <a:cs typeface="Calibri"/>
                          <a:sym typeface="Calibri"/>
                        </a:rPr>
                        <a:t>Incorrect environmental data on first read; firmware retry loop resolves; no alert impact</a:t>
                      </a:r>
                      <a:endParaRPr sz="1800" u="none" cap="none" strike="noStrike">
                        <a:latin typeface="Calibri"/>
                        <a:ea typeface="Calibri"/>
                        <a:cs typeface="Calibri"/>
                        <a:sym typeface="Calibri"/>
                      </a:endParaRPr>
                    </a:p>
                  </a:txBody>
                  <a:tcPr marT="91450" marB="91450" marR="182900" marL="182900">
                    <a:lnL cap="flat" cmpd="sng" w="9525">
                      <a:solidFill>
                        <a:srgbClr val="D0DCE8"/>
                      </a:solidFill>
                      <a:prstDash val="solid"/>
                      <a:round/>
                      <a:headEnd len="sm" w="sm" type="none"/>
                      <a:tailEnd len="sm" w="sm" type="none"/>
                    </a:lnL>
                    <a:lnR cap="flat" cmpd="sng" w="9525">
                      <a:solidFill>
                        <a:srgbClr val="D0DCE8"/>
                      </a:solidFill>
                      <a:prstDash val="solid"/>
                      <a:round/>
                      <a:headEnd len="sm" w="sm" type="none"/>
                      <a:tailEnd len="sm" w="sm" type="none"/>
                    </a:lnR>
                    <a:lnT cap="flat" cmpd="sng" w="9525">
                      <a:solidFill>
                        <a:srgbClr val="D0DCE8"/>
                      </a:solidFill>
                      <a:prstDash val="solid"/>
                      <a:round/>
                      <a:headEnd len="sm" w="sm" type="none"/>
                      <a:tailEnd len="sm" w="sm" type="none"/>
                    </a:lnT>
                    <a:lnB cap="flat" cmpd="sng" w="9525">
                      <a:solidFill>
                        <a:srgbClr val="D0DCE8"/>
                      </a:solidFill>
                      <a:prstDash val="solid"/>
                      <a:round/>
                      <a:headEnd len="sm" w="sm" type="none"/>
                      <a:tailEnd len="sm" w="sm" type="none"/>
                    </a:lnB>
                    <a:solidFill>
                      <a:srgbClr val="F0F4F8"/>
                    </a:solidFill>
                  </a:tcPr>
                </a:tc>
              </a:tr>
            </a:tbl>
          </a:graphicData>
        </a:graphic>
      </p:graphicFrame>
      <p:sp>
        <p:nvSpPr>
          <p:cNvPr id="828" name="Google Shape;828;g3e68d5c5d8c_3_53"/>
          <p:cNvSpPr/>
          <p:nvPr/>
        </p:nvSpPr>
        <p:spPr>
          <a:xfrm>
            <a:off x="548700" y="8741500"/>
            <a:ext cx="17190600" cy="1332300"/>
          </a:xfrm>
          <a:prstGeom prst="rect">
            <a:avLst/>
          </a:prstGeom>
          <a:solidFill>
            <a:srgbClr val="E8F4F8"/>
          </a:solidFill>
          <a:ln cap="flat" cmpd="sng" w="9525">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29" name="Google Shape;829;g3e68d5c5d8c_3_53"/>
          <p:cNvSpPr/>
          <p:nvPr/>
        </p:nvSpPr>
        <p:spPr>
          <a:xfrm>
            <a:off x="640082" y="8741501"/>
            <a:ext cx="166422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E8C"/>
              </a:buClr>
              <a:buSzPts val="1800"/>
              <a:buFont typeface="Calibri"/>
              <a:buNone/>
            </a:pPr>
            <a:r>
              <a:rPr b="1" i="0" lang="en-US" sz="1800" u="none" cap="none" strike="noStrike">
                <a:solidFill>
                  <a:srgbClr val="0A7E8C"/>
                </a:solidFill>
                <a:latin typeface="Calibri"/>
                <a:ea typeface="Calibri"/>
                <a:cs typeface="Calibri"/>
                <a:sym typeface="Calibri"/>
              </a:rPr>
              <a:t>FDA &amp; ISO RISK MANAGEMENT ALIGNMENT</a:t>
            </a:r>
            <a:endParaRPr b="0" i="0" sz="1800" u="none" cap="none" strike="noStrike">
              <a:solidFill>
                <a:schemeClr val="dk1"/>
              </a:solidFill>
              <a:latin typeface="Calibri"/>
              <a:ea typeface="Calibri"/>
              <a:cs typeface="Calibri"/>
              <a:sym typeface="Calibri"/>
            </a:endParaRPr>
          </a:p>
        </p:txBody>
      </p:sp>
      <p:sp>
        <p:nvSpPr>
          <p:cNvPr id="830" name="Google Shape;830;g3e68d5c5d8c_3_53"/>
          <p:cNvSpPr/>
          <p:nvPr/>
        </p:nvSpPr>
        <p:spPr>
          <a:xfrm>
            <a:off x="640075" y="9070605"/>
            <a:ext cx="16642200" cy="777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3A4A"/>
              </a:buClr>
              <a:buSzPts val="1700"/>
              <a:buFont typeface="Calibri"/>
              <a:buNone/>
            </a:pPr>
            <a:r>
              <a:rPr b="0" i="0" lang="en-US" sz="1700" u="none" cap="none" strike="noStrike">
                <a:solidFill>
                  <a:srgbClr val="2D3A4A"/>
                </a:solidFill>
                <a:latin typeface="Calibri"/>
                <a:ea typeface="Calibri"/>
                <a:cs typeface="Calibri"/>
                <a:sym typeface="Calibri"/>
              </a:rPr>
              <a:t>ISO 14971: Risk acceptability criteria applied — RPN ≥200 (FM-01, FM-03) require mandatory design controls before commercialization. ISO 13485 §7.1: All risk controls must be documented and verified. FDA 21 CFR 820.30(g): Design validation must address identified risk scenarios. Risk-benefit analysis: for LOPS patient population, monitoring benefit substantially outweighs residual risks when design controls implemented.</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835" name="Shape 835"/>
        <p:cNvGrpSpPr/>
        <p:nvPr/>
      </p:nvGrpSpPr>
      <p:grpSpPr>
        <a:xfrm>
          <a:off x="0" y="0"/>
          <a:ext cx="0" cy="0"/>
          <a:chOff x="0" y="0"/>
          <a:chExt cx="0" cy="0"/>
        </a:xfrm>
      </p:grpSpPr>
      <p:sp>
        <p:nvSpPr>
          <p:cNvPr id="836" name="Google Shape;836;g3e68d5c5d8c_3_77"/>
          <p:cNvSpPr/>
          <p:nvPr/>
        </p:nvSpPr>
        <p:spPr>
          <a:xfrm>
            <a:off x="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37" name="Google Shape;837;g3e68d5c5d8c_3_77"/>
          <p:cNvSpPr/>
          <p:nvPr/>
        </p:nvSpPr>
        <p:spPr>
          <a:xfrm>
            <a:off x="640080" y="402336"/>
            <a:ext cx="17007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43A"/>
              </a:buClr>
              <a:buSzPts val="5200"/>
              <a:buFont typeface="Calibri"/>
              <a:buNone/>
            </a:pPr>
            <a:r>
              <a:rPr b="1" i="0" lang="en-US" sz="5200" u="none" cap="none" strike="noStrike">
                <a:solidFill>
                  <a:srgbClr val="12243A"/>
                </a:solidFill>
                <a:latin typeface="Calibri"/>
                <a:ea typeface="Calibri"/>
                <a:cs typeface="Calibri"/>
                <a:sym typeface="Calibri"/>
              </a:rPr>
              <a:t>Risk Mitigation, Design Controls &amp; Quantified Risk Reduction</a:t>
            </a:r>
            <a:endParaRPr b="0" i="0" sz="5200" u="none" cap="none" strike="noStrike">
              <a:solidFill>
                <a:schemeClr val="dk1"/>
              </a:solidFill>
              <a:latin typeface="Calibri"/>
              <a:ea typeface="Calibri"/>
              <a:cs typeface="Calibri"/>
              <a:sym typeface="Calibri"/>
            </a:endParaRPr>
          </a:p>
        </p:txBody>
      </p:sp>
      <p:sp>
        <p:nvSpPr>
          <p:cNvPr id="838" name="Google Shape;838;g3e68d5c5d8c_3_77"/>
          <p:cNvSpPr/>
          <p:nvPr/>
        </p:nvSpPr>
        <p:spPr>
          <a:xfrm>
            <a:off x="640080" y="1426464"/>
            <a:ext cx="170079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E8C"/>
              </a:buClr>
              <a:buSzPts val="2400"/>
              <a:buFont typeface="Calibri"/>
              <a:buNone/>
            </a:pPr>
            <a:r>
              <a:rPr b="0" i="1" lang="en-US" sz="2400" u="none" cap="none" strike="noStrike">
                <a:solidFill>
                  <a:srgbClr val="0A7E8C"/>
                </a:solidFill>
                <a:latin typeface="Calibri"/>
                <a:ea typeface="Calibri"/>
                <a:cs typeface="Calibri"/>
                <a:sym typeface="Calibri"/>
              </a:rPr>
              <a:t>Section 3.3  ·  Presenters: Nwachukwu Anene / Ava Rathenberg</a:t>
            </a:r>
            <a:endParaRPr b="0" i="0" sz="2400" u="none" cap="none" strike="noStrike">
              <a:solidFill>
                <a:schemeClr val="dk1"/>
              </a:solidFill>
              <a:latin typeface="Calibri"/>
              <a:ea typeface="Calibri"/>
              <a:cs typeface="Calibri"/>
              <a:sym typeface="Calibri"/>
            </a:endParaRPr>
          </a:p>
        </p:txBody>
      </p:sp>
      <p:cxnSp>
        <p:nvCxnSpPr>
          <p:cNvPr id="839" name="Google Shape;839;g3e68d5c5d8c_3_77"/>
          <p:cNvCxnSpPr/>
          <p:nvPr/>
        </p:nvCxnSpPr>
        <p:spPr>
          <a:xfrm>
            <a:off x="640080" y="1975104"/>
            <a:ext cx="17007900" cy="0"/>
          </a:xfrm>
          <a:prstGeom prst="straightConnector1">
            <a:avLst/>
          </a:prstGeom>
          <a:noFill/>
          <a:ln cap="flat" cmpd="sng" w="12700">
            <a:solidFill>
              <a:srgbClr val="E8F4F8"/>
            </a:solidFill>
            <a:prstDash val="solid"/>
            <a:round/>
            <a:headEnd len="sm" w="sm" type="none"/>
            <a:tailEnd len="sm" w="sm" type="none"/>
          </a:ln>
        </p:spPr>
      </p:cxnSp>
      <p:sp>
        <p:nvSpPr>
          <p:cNvPr id="840" name="Google Shape;840;g3e68d5c5d8c_3_77"/>
          <p:cNvSpPr/>
          <p:nvPr/>
        </p:nvSpPr>
        <p:spPr>
          <a:xfrm>
            <a:off x="512064" y="215798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41" name="Google Shape;841;g3e68d5c5d8c_3_77"/>
          <p:cNvSpPr/>
          <p:nvPr/>
        </p:nvSpPr>
        <p:spPr>
          <a:xfrm>
            <a:off x="512064" y="2157984"/>
            <a:ext cx="8595300" cy="4938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42" name="Google Shape;842;g3e68d5c5d8c_3_77"/>
          <p:cNvSpPr/>
          <p:nvPr/>
        </p:nvSpPr>
        <p:spPr>
          <a:xfrm>
            <a:off x="512064" y="2157984"/>
            <a:ext cx="219600" cy="2432400"/>
          </a:xfrm>
          <a:prstGeom prst="rect">
            <a:avLst/>
          </a:prstGeom>
          <a:solidFill>
            <a:srgbClr val="D64045"/>
          </a:solidFill>
          <a:ln cap="flat" cmpd="sng" w="12700">
            <a:solidFill>
              <a:srgbClr val="D6404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43" name="Google Shape;843;g3e68d5c5d8c_3_77"/>
          <p:cNvSpPr/>
          <p:nvPr/>
        </p:nvSpPr>
        <p:spPr>
          <a:xfrm>
            <a:off x="877824" y="2157984"/>
            <a:ext cx="54864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045"/>
              </a:buClr>
              <a:buSzPts val="1800"/>
              <a:buFont typeface="Calibri"/>
              <a:buNone/>
            </a:pPr>
            <a:r>
              <a:rPr b="1" i="0" lang="en-US" sz="1800" u="none" cap="none" strike="noStrike">
                <a:solidFill>
                  <a:srgbClr val="D64045"/>
                </a:solidFill>
                <a:latin typeface="Calibri"/>
                <a:ea typeface="Calibri"/>
                <a:cs typeface="Calibri"/>
                <a:sym typeface="Calibri"/>
              </a:rPr>
              <a:t>FM-01  ·  FSR Adhesive Delamination</a:t>
            </a:r>
            <a:endParaRPr b="0" i="0" sz="1800" u="none" cap="none" strike="noStrike">
              <a:solidFill>
                <a:schemeClr val="dk1"/>
              </a:solidFill>
              <a:latin typeface="Calibri"/>
              <a:ea typeface="Calibri"/>
              <a:cs typeface="Calibri"/>
              <a:sym typeface="Calibri"/>
            </a:endParaRPr>
          </a:p>
        </p:txBody>
      </p:sp>
      <p:sp>
        <p:nvSpPr>
          <p:cNvPr id="844" name="Google Shape;844;g3e68d5c5d8c_3_77"/>
          <p:cNvSpPr/>
          <p:nvPr/>
        </p:nvSpPr>
        <p:spPr>
          <a:xfrm>
            <a:off x="6547104" y="2157984"/>
            <a:ext cx="2340900" cy="49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64045"/>
              </a:buClr>
              <a:buSzPts val="1700"/>
              <a:buFont typeface="Calibri"/>
              <a:buNone/>
            </a:pPr>
            <a:r>
              <a:rPr b="1" i="0" lang="en-US" sz="1700" u="none" cap="none" strike="noStrike">
                <a:solidFill>
                  <a:srgbClr val="D64045"/>
                </a:solidFill>
                <a:latin typeface="Calibri"/>
                <a:ea typeface="Calibri"/>
                <a:cs typeface="Calibri"/>
                <a:sym typeface="Calibri"/>
              </a:rPr>
              <a:t>RPN: 315 → Target ≤50</a:t>
            </a:r>
            <a:endParaRPr b="0" i="0" sz="1700" u="none" cap="none" strike="noStrike">
              <a:solidFill>
                <a:schemeClr val="dk1"/>
              </a:solidFill>
              <a:latin typeface="Calibri"/>
              <a:ea typeface="Calibri"/>
              <a:cs typeface="Calibri"/>
              <a:sym typeface="Calibri"/>
            </a:endParaRPr>
          </a:p>
        </p:txBody>
      </p:sp>
      <p:sp>
        <p:nvSpPr>
          <p:cNvPr id="845" name="Google Shape;845;g3e68d5c5d8c_3_77"/>
          <p:cNvSpPr/>
          <p:nvPr/>
        </p:nvSpPr>
        <p:spPr>
          <a:xfrm>
            <a:off x="877824" y="2706624"/>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Medical-grade pressure-sensitive adhesive (e.g., 3M 9919 or equivalent)</a:t>
            </a:r>
            <a:endParaRPr b="0" i="0" sz="1600" u="none" cap="none" strike="noStrike">
              <a:solidFill>
                <a:schemeClr val="dk1"/>
              </a:solidFill>
              <a:latin typeface="Calibri"/>
              <a:ea typeface="Calibri"/>
              <a:cs typeface="Calibri"/>
              <a:sym typeface="Calibri"/>
            </a:endParaRPr>
          </a:p>
        </p:txBody>
      </p:sp>
      <p:sp>
        <p:nvSpPr>
          <p:cNvPr id="846" name="Google Shape;846;g3e68d5c5d8c_3_77"/>
          <p:cNvSpPr/>
          <p:nvPr/>
        </p:nvSpPr>
        <p:spPr>
          <a:xfrm>
            <a:off x="877824" y="310896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Mechanical retention: recessed channel in sandal midsole to constrain insole lateral movement</a:t>
            </a:r>
            <a:endParaRPr b="0" i="0" sz="1600" u="none" cap="none" strike="noStrike">
              <a:solidFill>
                <a:schemeClr val="dk1"/>
              </a:solidFill>
              <a:latin typeface="Calibri"/>
              <a:ea typeface="Calibri"/>
              <a:cs typeface="Calibri"/>
              <a:sym typeface="Calibri"/>
            </a:endParaRPr>
          </a:p>
        </p:txBody>
      </p:sp>
      <p:sp>
        <p:nvSpPr>
          <p:cNvPr id="847" name="Google Shape;847;g3e68d5c5d8c_3_77"/>
          <p:cNvSpPr/>
          <p:nvPr/>
        </p:nvSpPr>
        <p:spPr>
          <a:xfrm>
            <a:off x="877824" y="3511296"/>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Periodic self-test: firmware detects implausible all-zero or all-max readings → alerts user to inspect device</a:t>
            </a:r>
            <a:endParaRPr b="0" i="0" sz="1600" u="none" cap="none" strike="noStrike">
              <a:solidFill>
                <a:schemeClr val="dk1"/>
              </a:solidFill>
              <a:latin typeface="Calibri"/>
              <a:ea typeface="Calibri"/>
              <a:cs typeface="Calibri"/>
              <a:sym typeface="Calibri"/>
            </a:endParaRPr>
          </a:p>
        </p:txBody>
      </p:sp>
      <p:sp>
        <p:nvSpPr>
          <p:cNvPr id="848" name="Google Shape;848;g3e68d5c5d8c_3_77"/>
          <p:cNvSpPr/>
          <p:nvPr/>
        </p:nvSpPr>
        <p:spPr>
          <a:xfrm>
            <a:off x="877824" y="3986784"/>
            <a:ext cx="8046600" cy="4938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D64045"/>
              </a:buClr>
              <a:buSzPts val="1500"/>
              <a:buFont typeface="Calibri"/>
              <a:buNone/>
            </a:pPr>
            <a:r>
              <a:rPr b="1" i="1" lang="en-US" sz="1500" u="none" cap="none" strike="noStrike">
                <a:solidFill>
                  <a:srgbClr val="D64045"/>
                </a:solidFill>
                <a:latin typeface="Calibri"/>
                <a:ea typeface="Calibri"/>
                <a:cs typeface="Calibri"/>
                <a:sym typeface="Calibri"/>
              </a:rPr>
              <a:t>Adhesive qualification test + mechanical retention reduces O from 5→2; self-test improves D from 7→3. Residual RPN: 9×2×3 = 54.</a:t>
            </a:r>
            <a:endParaRPr b="0" i="0" sz="1500" u="none" cap="none" strike="noStrike">
              <a:solidFill>
                <a:schemeClr val="dk1"/>
              </a:solidFill>
              <a:latin typeface="Calibri"/>
              <a:ea typeface="Calibri"/>
              <a:cs typeface="Calibri"/>
              <a:sym typeface="Calibri"/>
            </a:endParaRPr>
          </a:p>
        </p:txBody>
      </p:sp>
      <p:sp>
        <p:nvSpPr>
          <p:cNvPr id="849" name="Google Shape;849;g3e68d5c5d8c_3_77"/>
          <p:cNvSpPr/>
          <p:nvPr/>
        </p:nvSpPr>
        <p:spPr>
          <a:xfrm>
            <a:off x="9418320" y="215798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50" name="Google Shape;850;g3e68d5c5d8c_3_77"/>
          <p:cNvSpPr/>
          <p:nvPr/>
        </p:nvSpPr>
        <p:spPr>
          <a:xfrm>
            <a:off x="9418320" y="2157984"/>
            <a:ext cx="8595300" cy="4938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51" name="Google Shape;851;g3e68d5c5d8c_3_77"/>
          <p:cNvSpPr/>
          <p:nvPr/>
        </p:nvSpPr>
        <p:spPr>
          <a:xfrm>
            <a:off x="9418320" y="2157984"/>
            <a:ext cx="219600" cy="2432400"/>
          </a:xfrm>
          <a:prstGeom prst="rect">
            <a:avLst/>
          </a:prstGeom>
          <a:solidFill>
            <a:srgbClr val="E8A820"/>
          </a:solidFill>
          <a:ln cap="flat" cmpd="sng" w="12700">
            <a:solidFill>
              <a:srgbClr val="E8A82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52" name="Google Shape;852;g3e68d5c5d8c_3_77"/>
          <p:cNvSpPr/>
          <p:nvPr/>
        </p:nvSpPr>
        <p:spPr>
          <a:xfrm>
            <a:off x="9784080" y="2157984"/>
            <a:ext cx="54864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800"/>
              <a:buFont typeface="Calibri"/>
              <a:buNone/>
            </a:pPr>
            <a:r>
              <a:rPr b="1" i="0" lang="en-US" sz="1800" u="none" cap="none" strike="noStrike">
                <a:solidFill>
                  <a:srgbClr val="E8A820"/>
                </a:solidFill>
                <a:latin typeface="Calibri"/>
                <a:ea typeface="Calibri"/>
                <a:cs typeface="Calibri"/>
                <a:sym typeface="Calibri"/>
              </a:rPr>
              <a:t>FM-02  ·  60 Hz EMI False Alerts</a:t>
            </a:r>
            <a:endParaRPr b="0" i="0" sz="1800" u="none" cap="none" strike="noStrike">
              <a:solidFill>
                <a:schemeClr val="dk1"/>
              </a:solidFill>
              <a:latin typeface="Calibri"/>
              <a:ea typeface="Calibri"/>
              <a:cs typeface="Calibri"/>
              <a:sym typeface="Calibri"/>
            </a:endParaRPr>
          </a:p>
        </p:txBody>
      </p:sp>
      <p:sp>
        <p:nvSpPr>
          <p:cNvPr id="853" name="Google Shape;853;g3e68d5c5d8c_3_77"/>
          <p:cNvSpPr/>
          <p:nvPr/>
        </p:nvSpPr>
        <p:spPr>
          <a:xfrm>
            <a:off x="15453360" y="2157984"/>
            <a:ext cx="2340900" cy="49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RPN: 120 → Target ≤40</a:t>
            </a:r>
            <a:endParaRPr b="0" i="0" sz="1700" u="none" cap="none" strike="noStrike">
              <a:solidFill>
                <a:schemeClr val="dk1"/>
              </a:solidFill>
              <a:latin typeface="Calibri"/>
              <a:ea typeface="Calibri"/>
              <a:cs typeface="Calibri"/>
              <a:sym typeface="Calibri"/>
            </a:endParaRPr>
          </a:p>
        </p:txBody>
      </p:sp>
      <p:sp>
        <p:nvSpPr>
          <p:cNvPr id="854" name="Google Shape;854;g3e68d5c5d8c_3_77"/>
          <p:cNvSpPr/>
          <p:nvPr/>
        </p:nvSpPr>
        <p:spPr>
          <a:xfrm>
            <a:off x="9784080" y="2706624"/>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10kΩ pull-down resistors (confirmed in prototype — mandatory in production)</a:t>
            </a:r>
            <a:endParaRPr b="0" i="0" sz="1600" u="none" cap="none" strike="noStrike">
              <a:solidFill>
                <a:schemeClr val="dk1"/>
              </a:solidFill>
              <a:latin typeface="Calibri"/>
              <a:ea typeface="Calibri"/>
              <a:cs typeface="Calibri"/>
              <a:sym typeface="Calibri"/>
            </a:endParaRPr>
          </a:p>
        </p:txBody>
      </p:sp>
      <p:sp>
        <p:nvSpPr>
          <p:cNvPr id="855" name="Google Shape;855;g3e68d5c5d8c_3_77"/>
          <p:cNvSpPr/>
          <p:nvPr/>
        </p:nvSpPr>
        <p:spPr>
          <a:xfrm>
            <a:off x="9784080" y="310896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PCB ground plane shielding beneath FSR signal traces</a:t>
            </a:r>
            <a:endParaRPr b="0" i="0" sz="1600" u="none" cap="none" strike="noStrike">
              <a:solidFill>
                <a:schemeClr val="dk1"/>
              </a:solidFill>
              <a:latin typeface="Calibri"/>
              <a:ea typeface="Calibri"/>
              <a:cs typeface="Calibri"/>
              <a:sym typeface="Calibri"/>
            </a:endParaRPr>
          </a:p>
        </p:txBody>
      </p:sp>
      <p:sp>
        <p:nvSpPr>
          <p:cNvPr id="856" name="Google Shape;856;g3e68d5c5d8c_3_77"/>
          <p:cNvSpPr/>
          <p:nvPr/>
        </p:nvSpPr>
        <p:spPr>
          <a:xfrm>
            <a:off x="9784080" y="3511296"/>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Debounce algorithm: alert only triggers if threshold exceeded for ≥3 consecutive samples (60 ms window)</a:t>
            </a:r>
            <a:endParaRPr b="0" i="0" sz="1600" u="none" cap="none" strike="noStrike">
              <a:solidFill>
                <a:schemeClr val="dk1"/>
              </a:solidFill>
              <a:latin typeface="Calibri"/>
              <a:ea typeface="Calibri"/>
              <a:cs typeface="Calibri"/>
              <a:sym typeface="Calibri"/>
            </a:endParaRPr>
          </a:p>
        </p:txBody>
      </p:sp>
      <p:sp>
        <p:nvSpPr>
          <p:cNvPr id="857" name="Google Shape;857;g3e68d5c5d8c_3_77"/>
          <p:cNvSpPr/>
          <p:nvPr/>
        </p:nvSpPr>
        <p:spPr>
          <a:xfrm>
            <a:off x="9784080" y="3986784"/>
            <a:ext cx="8046600" cy="4938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E8A820"/>
              </a:buClr>
              <a:buSzPts val="1500"/>
              <a:buFont typeface="Calibri"/>
              <a:buNone/>
            </a:pPr>
            <a:r>
              <a:rPr b="1" i="1" lang="en-US" sz="1500" u="none" cap="none" strike="noStrike">
                <a:solidFill>
                  <a:srgbClr val="E8A820"/>
                </a:solidFill>
                <a:latin typeface="Calibri"/>
                <a:ea typeface="Calibri"/>
                <a:cs typeface="Calibri"/>
                <a:sym typeface="Calibri"/>
              </a:rPr>
              <a:t>PCB ground plane + debounce reduces O from 4→2 and D from 6→2. Residual RPN: 5×2×2 = 20.</a:t>
            </a:r>
            <a:endParaRPr b="0" i="0" sz="1500" u="none" cap="none" strike="noStrike">
              <a:solidFill>
                <a:schemeClr val="dk1"/>
              </a:solidFill>
              <a:latin typeface="Calibri"/>
              <a:ea typeface="Calibri"/>
              <a:cs typeface="Calibri"/>
              <a:sym typeface="Calibri"/>
            </a:endParaRPr>
          </a:p>
        </p:txBody>
      </p:sp>
      <p:sp>
        <p:nvSpPr>
          <p:cNvPr id="858" name="Google Shape;858;g3e68d5c5d8c_3_77"/>
          <p:cNvSpPr/>
          <p:nvPr/>
        </p:nvSpPr>
        <p:spPr>
          <a:xfrm>
            <a:off x="512064" y="480974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59" name="Google Shape;859;g3e68d5c5d8c_3_77"/>
          <p:cNvSpPr/>
          <p:nvPr/>
        </p:nvSpPr>
        <p:spPr>
          <a:xfrm>
            <a:off x="512064" y="4809744"/>
            <a:ext cx="8595300" cy="4938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0" name="Google Shape;860;g3e68d5c5d8c_3_77"/>
          <p:cNvSpPr/>
          <p:nvPr/>
        </p:nvSpPr>
        <p:spPr>
          <a:xfrm>
            <a:off x="512064" y="4809744"/>
            <a:ext cx="219600" cy="2432400"/>
          </a:xfrm>
          <a:prstGeom prst="rect">
            <a:avLst/>
          </a:prstGeom>
          <a:solidFill>
            <a:srgbClr val="D64045"/>
          </a:solidFill>
          <a:ln cap="flat" cmpd="sng" w="12700">
            <a:solidFill>
              <a:srgbClr val="D6404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1" name="Google Shape;861;g3e68d5c5d8c_3_77"/>
          <p:cNvSpPr/>
          <p:nvPr/>
        </p:nvSpPr>
        <p:spPr>
          <a:xfrm>
            <a:off x="877824" y="4809744"/>
            <a:ext cx="54864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4045"/>
              </a:buClr>
              <a:buSzPts val="1800"/>
              <a:buFont typeface="Calibri"/>
              <a:buNone/>
            </a:pPr>
            <a:r>
              <a:rPr b="1" i="0" lang="en-US" sz="1800" u="none" cap="none" strike="noStrike">
                <a:solidFill>
                  <a:srgbClr val="D64045"/>
                </a:solidFill>
                <a:latin typeface="Calibri"/>
                <a:ea typeface="Calibri"/>
                <a:cs typeface="Calibri"/>
                <a:sym typeface="Calibri"/>
              </a:rPr>
              <a:t>FM-03  ·  Moisture Ingress</a:t>
            </a:r>
            <a:endParaRPr b="0" i="0" sz="1800" u="none" cap="none" strike="noStrike">
              <a:solidFill>
                <a:schemeClr val="dk1"/>
              </a:solidFill>
              <a:latin typeface="Calibri"/>
              <a:ea typeface="Calibri"/>
              <a:cs typeface="Calibri"/>
              <a:sym typeface="Calibri"/>
            </a:endParaRPr>
          </a:p>
        </p:txBody>
      </p:sp>
      <p:sp>
        <p:nvSpPr>
          <p:cNvPr id="862" name="Google Shape;862;g3e68d5c5d8c_3_77"/>
          <p:cNvSpPr/>
          <p:nvPr/>
        </p:nvSpPr>
        <p:spPr>
          <a:xfrm>
            <a:off x="6547104" y="4809744"/>
            <a:ext cx="2340900" cy="49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64045"/>
              </a:buClr>
              <a:buSzPts val="1700"/>
              <a:buFont typeface="Calibri"/>
              <a:buNone/>
            </a:pPr>
            <a:r>
              <a:rPr b="1" i="0" lang="en-US" sz="1700" u="none" cap="none" strike="noStrike">
                <a:solidFill>
                  <a:srgbClr val="D64045"/>
                </a:solidFill>
                <a:latin typeface="Calibri"/>
                <a:ea typeface="Calibri"/>
                <a:cs typeface="Calibri"/>
                <a:sym typeface="Calibri"/>
              </a:rPr>
              <a:t>RPN: 245 → Target ≤63</a:t>
            </a:r>
            <a:endParaRPr b="0" i="0" sz="1700" u="none" cap="none" strike="noStrike">
              <a:solidFill>
                <a:schemeClr val="dk1"/>
              </a:solidFill>
              <a:latin typeface="Calibri"/>
              <a:ea typeface="Calibri"/>
              <a:cs typeface="Calibri"/>
              <a:sym typeface="Calibri"/>
            </a:endParaRPr>
          </a:p>
        </p:txBody>
      </p:sp>
      <p:sp>
        <p:nvSpPr>
          <p:cNvPr id="863" name="Google Shape;863;g3e68d5c5d8c_3_77"/>
          <p:cNvSpPr/>
          <p:nvPr/>
        </p:nvSpPr>
        <p:spPr>
          <a:xfrm>
            <a:off x="877824" y="5358384"/>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Conformal coating on PCB (acrylic or silicone — select based on IEC 60601-1 compliance)</a:t>
            </a:r>
            <a:endParaRPr b="0" i="0" sz="1600" u="none" cap="none" strike="noStrike">
              <a:solidFill>
                <a:schemeClr val="dk1"/>
              </a:solidFill>
              <a:latin typeface="Calibri"/>
              <a:ea typeface="Calibri"/>
              <a:cs typeface="Calibri"/>
              <a:sym typeface="Calibri"/>
            </a:endParaRPr>
          </a:p>
        </p:txBody>
      </p:sp>
      <p:sp>
        <p:nvSpPr>
          <p:cNvPr id="864" name="Google Shape;864;g3e68d5c5d8c_3_77"/>
          <p:cNvSpPr/>
          <p:nvPr/>
        </p:nvSpPr>
        <p:spPr>
          <a:xfrm>
            <a:off x="877824" y="576072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IP44 minimum ingress protection rating for final enclosure design</a:t>
            </a:r>
            <a:endParaRPr b="0" i="0" sz="1600" u="none" cap="none" strike="noStrike">
              <a:solidFill>
                <a:schemeClr val="dk1"/>
              </a:solidFill>
              <a:latin typeface="Calibri"/>
              <a:ea typeface="Calibri"/>
              <a:cs typeface="Calibri"/>
              <a:sym typeface="Calibri"/>
            </a:endParaRPr>
          </a:p>
        </p:txBody>
      </p:sp>
      <p:sp>
        <p:nvSpPr>
          <p:cNvPr id="865" name="Google Shape;865;g3e68d5c5d8c_3_77"/>
          <p:cNvSpPr/>
          <p:nvPr/>
        </p:nvSpPr>
        <p:spPr>
          <a:xfrm>
            <a:off x="877824" y="6163056"/>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FPC connector with moisture-sealed housing or potting compound at entry point</a:t>
            </a:r>
            <a:endParaRPr b="0" i="0" sz="1600" u="none" cap="none" strike="noStrike">
              <a:solidFill>
                <a:schemeClr val="dk1"/>
              </a:solidFill>
              <a:latin typeface="Calibri"/>
              <a:ea typeface="Calibri"/>
              <a:cs typeface="Calibri"/>
              <a:sym typeface="Calibri"/>
            </a:endParaRPr>
          </a:p>
        </p:txBody>
      </p:sp>
      <p:sp>
        <p:nvSpPr>
          <p:cNvPr id="866" name="Google Shape;866;g3e68d5c5d8c_3_77"/>
          <p:cNvSpPr/>
          <p:nvPr/>
        </p:nvSpPr>
        <p:spPr>
          <a:xfrm>
            <a:off x="877824" y="6638544"/>
            <a:ext cx="8046600" cy="4938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D64045"/>
              </a:buClr>
              <a:buSzPts val="1500"/>
              <a:buFont typeface="Calibri"/>
              <a:buNone/>
            </a:pPr>
            <a:r>
              <a:rPr b="1" i="1" lang="en-US" sz="1500" u="none" cap="none" strike="noStrike">
                <a:solidFill>
                  <a:srgbClr val="D64045"/>
                </a:solidFill>
                <a:latin typeface="Calibri"/>
                <a:ea typeface="Calibri"/>
                <a:cs typeface="Calibri"/>
                <a:sym typeface="Calibri"/>
              </a:rPr>
              <a:t>Conformal coating + IP44 enclosure reduces O from 5→2 and D from 7→3. Residual RPN: 7×2×3 = 42. Alternate: conservative estimate with O→3 gives 63.</a:t>
            </a:r>
            <a:endParaRPr b="0" i="0" sz="1500" u="none" cap="none" strike="noStrike">
              <a:solidFill>
                <a:schemeClr val="dk1"/>
              </a:solidFill>
              <a:latin typeface="Calibri"/>
              <a:ea typeface="Calibri"/>
              <a:cs typeface="Calibri"/>
              <a:sym typeface="Calibri"/>
            </a:endParaRPr>
          </a:p>
        </p:txBody>
      </p:sp>
      <p:sp>
        <p:nvSpPr>
          <p:cNvPr id="867" name="Google Shape;867;g3e68d5c5d8c_3_77"/>
          <p:cNvSpPr/>
          <p:nvPr/>
        </p:nvSpPr>
        <p:spPr>
          <a:xfrm>
            <a:off x="9418320" y="480974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8" name="Google Shape;868;g3e68d5c5d8c_3_77"/>
          <p:cNvSpPr/>
          <p:nvPr/>
        </p:nvSpPr>
        <p:spPr>
          <a:xfrm>
            <a:off x="9418320" y="4809744"/>
            <a:ext cx="8595300" cy="4938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9" name="Google Shape;869;g3e68d5c5d8c_3_77"/>
          <p:cNvSpPr/>
          <p:nvPr/>
        </p:nvSpPr>
        <p:spPr>
          <a:xfrm>
            <a:off x="9418320" y="4809744"/>
            <a:ext cx="219600" cy="2432400"/>
          </a:xfrm>
          <a:prstGeom prst="rect">
            <a:avLst/>
          </a:prstGeom>
          <a:solidFill>
            <a:srgbClr val="E8A820"/>
          </a:solidFill>
          <a:ln cap="flat" cmpd="sng" w="12700">
            <a:solidFill>
              <a:srgbClr val="E8A82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0" name="Google Shape;870;g3e68d5c5d8c_3_77"/>
          <p:cNvSpPr/>
          <p:nvPr/>
        </p:nvSpPr>
        <p:spPr>
          <a:xfrm>
            <a:off x="9784080" y="4809744"/>
            <a:ext cx="54864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800"/>
              <a:buFont typeface="Calibri"/>
              <a:buNone/>
            </a:pPr>
            <a:r>
              <a:rPr b="1" i="0" lang="en-US" sz="1800" u="none" cap="none" strike="noStrike">
                <a:solidFill>
                  <a:srgbClr val="E8A820"/>
                </a:solidFill>
                <a:latin typeface="Calibri"/>
                <a:ea typeface="Calibri"/>
                <a:cs typeface="Calibri"/>
                <a:sym typeface="Calibri"/>
              </a:rPr>
              <a:t>FM-04  ·  BLE Disconnection</a:t>
            </a:r>
            <a:endParaRPr b="0" i="0" sz="1800" u="none" cap="none" strike="noStrike">
              <a:solidFill>
                <a:schemeClr val="dk1"/>
              </a:solidFill>
              <a:latin typeface="Calibri"/>
              <a:ea typeface="Calibri"/>
              <a:cs typeface="Calibri"/>
              <a:sym typeface="Calibri"/>
            </a:endParaRPr>
          </a:p>
        </p:txBody>
      </p:sp>
      <p:sp>
        <p:nvSpPr>
          <p:cNvPr id="871" name="Google Shape;871;g3e68d5c5d8c_3_77"/>
          <p:cNvSpPr/>
          <p:nvPr/>
        </p:nvSpPr>
        <p:spPr>
          <a:xfrm>
            <a:off x="15453360" y="4809744"/>
            <a:ext cx="2340900" cy="49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RPN: 168 → Target ≤56</a:t>
            </a:r>
            <a:endParaRPr b="0" i="0" sz="1700" u="none" cap="none" strike="noStrike">
              <a:solidFill>
                <a:schemeClr val="dk1"/>
              </a:solidFill>
              <a:latin typeface="Calibri"/>
              <a:ea typeface="Calibri"/>
              <a:cs typeface="Calibri"/>
              <a:sym typeface="Calibri"/>
            </a:endParaRPr>
          </a:p>
        </p:txBody>
      </p:sp>
      <p:sp>
        <p:nvSpPr>
          <p:cNvPr id="872" name="Google Shape;872;g3e68d5c5d8c_3_77"/>
          <p:cNvSpPr/>
          <p:nvPr/>
        </p:nvSpPr>
        <p:spPr>
          <a:xfrm>
            <a:off x="9784080" y="5358384"/>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Onboard audible buzzer: sounds during CRITICAL state independent of BLE connection</a:t>
            </a:r>
            <a:endParaRPr b="0" i="0" sz="1600" u="none" cap="none" strike="noStrike">
              <a:solidFill>
                <a:schemeClr val="dk1"/>
              </a:solidFill>
              <a:latin typeface="Calibri"/>
              <a:ea typeface="Calibri"/>
              <a:cs typeface="Calibri"/>
              <a:sym typeface="Calibri"/>
            </a:endParaRPr>
          </a:p>
        </p:txBody>
      </p:sp>
      <p:sp>
        <p:nvSpPr>
          <p:cNvPr id="873" name="Google Shape;873;g3e68d5c5d8c_3_77"/>
          <p:cNvSpPr/>
          <p:nvPr/>
        </p:nvSpPr>
        <p:spPr>
          <a:xfrm>
            <a:off x="9784080" y="576072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Automatic BLE reconnection attempt every 5 seconds when disconnected</a:t>
            </a:r>
            <a:endParaRPr b="0" i="0" sz="1600" u="none" cap="none" strike="noStrike">
              <a:solidFill>
                <a:schemeClr val="dk1"/>
              </a:solidFill>
              <a:latin typeface="Calibri"/>
              <a:ea typeface="Calibri"/>
              <a:cs typeface="Calibri"/>
              <a:sym typeface="Calibri"/>
            </a:endParaRPr>
          </a:p>
        </p:txBody>
      </p:sp>
      <p:sp>
        <p:nvSpPr>
          <p:cNvPr id="874" name="Google Shape;874;g3e68d5c5d8c_3_77"/>
          <p:cNvSpPr/>
          <p:nvPr/>
        </p:nvSpPr>
        <p:spPr>
          <a:xfrm>
            <a:off x="9784080" y="6163056"/>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LED indicator accessible during wear (relocate to visible ankle position)</a:t>
            </a:r>
            <a:endParaRPr b="0" i="0" sz="1600" u="none" cap="none" strike="noStrike">
              <a:solidFill>
                <a:schemeClr val="dk1"/>
              </a:solidFill>
              <a:latin typeface="Calibri"/>
              <a:ea typeface="Calibri"/>
              <a:cs typeface="Calibri"/>
              <a:sym typeface="Calibri"/>
            </a:endParaRPr>
          </a:p>
        </p:txBody>
      </p:sp>
      <p:sp>
        <p:nvSpPr>
          <p:cNvPr id="875" name="Google Shape;875;g3e68d5c5d8c_3_77"/>
          <p:cNvSpPr/>
          <p:nvPr/>
        </p:nvSpPr>
        <p:spPr>
          <a:xfrm>
            <a:off x="9784080" y="6638544"/>
            <a:ext cx="8046600" cy="4938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E8A820"/>
              </a:buClr>
              <a:buSzPts val="1500"/>
              <a:buFont typeface="Calibri"/>
              <a:buNone/>
            </a:pPr>
            <a:r>
              <a:rPr b="1" i="1" lang="en-US" sz="1500" u="none" cap="none" strike="noStrike">
                <a:solidFill>
                  <a:srgbClr val="E8A820"/>
                </a:solidFill>
                <a:latin typeface="Calibri"/>
                <a:ea typeface="Calibri"/>
                <a:cs typeface="Calibri"/>
                <a:sym typeface="Calibri"/>
              </a:rPr>
              <a:t>Onboard buzzer reduces patient risk during disconnection (S effectively 3 for patient with active local alert); D from 6→2. Residual RPN: 3×4×2 = 24.</a:t>
            </a:r>
            <a:endParaRPr b="0" i="0" sz="1500" u="none" cap="none" strike="noStrike">
              <a:solidFill>
                <a:schemeClr val="dk1"/>
              </a:solidFill>
              <a:latin typeface="Calibri"/>
              <a:ea typeface="Calibri"/>
              <a:cs typeface="Calibri"/>
              <a:sym typeface="Calibri"/>
            </a:endParaRPr>
          </a:p>
        </p:txBody>
      </p:sp>
      <p:sp>
        <p:nvSpPr>
          <p:cNvPr id="876" name="Google Shape;876;g3e68d5c5d8c_3_77"/>
          <p:cNvSpPr/>
          <p:nvPr/>
        </p:nvSpPr>
        <p:spPr>
          <a:xfrm>
            <a:off x="512064" y="746150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7" name="Google Shape;877;g3e68d5c5d8c_3_77"/>
          <p:cNvSpPr/>
          <p:nvPr/>
        </p:nvSpPr>
        <p:spPr>
          <a:xfrm>
            <a:off x="512064" y="7461504"/>
            <a:ext cx="8595300" cy="4938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8" name="Google Shape;878;g3e68d5c5d8c_3_77"/>
          <p:cNvSpPr/>
          <p:nvPr/>
        </p:nvSpPr>
        <p:spPr>
          <a:xfrm>
            <a:off x="512064" y="7461504"/>
            <a:ext cx="219600" cy="2432400"/>
          </a:xfrm>
          <a:prstGeom prst="rect">
            <a:avLst/>
          </a:prstGeom>
          <a:solidFill>
            <a:srgbClr val="E8A820"/>
          </a:solidFill>
          <a:ln cap="flat" cmpd="sng" w="12700">
            <a:solidFill>
              <a:srgbClr val="E8A82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9" name="Google Shape;879;g3e68d5c5d8c_3_77"/>
          <p:cNvSpPr/>
          <p:nvPr/>
        </p:nvSpPr>
        <p:spPr>
          <a:xfrm>
            <a:off x="877824" y="7461504"/>
            <a:ext cx="54864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800"/>
              <a:buFont typeface="Calibri"/>
              <a:buNone/>
            </a:pPr>
            <a:r>
              <a:rPr b="1" i="0" lang="en-US" sz="1800" u="none" cap="none" strike="noStrike">
                <a:solidFill>
                  <a:srgbClr val="E8A820"/>
                </a:solidFill>
                <a:latin typeface="Calibri"/>
                <a:ea typeface="Calibri"/>
                <a:cs typeface="Calibri"/>
                <a:sym typeface="Calibri"/>
              </a:rPr>
              <a:t>FM-05  ·  Battery Depletion</a:t>
            </a:r>
            <a:endParaRPr b="0" i="0" sz="1800" u="none" cap="none" strike="noStrike">
              <a:solidFill>
                <a:schemeClr val="dk1"/>
              </a:solidFill>
              <a:latin typeface="Calibri"/>
              <a:ea typeface="Calibri"/>
              <a:cs typeface="Calibri"/>
              <a:sym typeface="Calibri"/>
            </a:endParaRPr>
          </a:p>
        </p:txBody>
      </p:sp>
      <p:sp>
        <p:nvSpPr>
          <p:cNvPr id="880" name="Google Shape;880;g3e68d5c5d8c_3_77"/>
          <p:cNvSpPr/>
          <p:nvPr/>
        </p:nvSpPr>
        <p:spPr>
          <a:xfrm>
            <a:off x="6547104" y="7461504"/>
            <a:ext cx="2340900" cy="49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RPN: 175 → Target ≤49</a:t>
            </a:r>
            <a:endParaRPr b="0" i="0" sz="1700" u="none" cap="none" strike="noStrike">
              <a:solidFill>
                <a:schemeClr val="dk1"/>
              </a:solidFill>
              <a:latin typeface="Calibri"/>
              <a:ea typeface="Calibri"/>
              <a:cs typeface="Calibri"/>
              <a:sym typeface="Calibri"/>
            </a:endParaRPr>
          </a:p>
        </p:txBody>
      </p:sp>
      <p:sp>
        <p:nvSpPr>
          <p:cNvPr id="881" name="Google Shape;881;g3e68d5c5d8c_3_77"/>
          <p:cNvSpPr/>
          <p:nvPr/>
        </p:nvSpPr>
        <p:spPr>
          <a:xfrm>
            <a:off x="877824" y="8010144"/>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Onboard audible low-battery alarm at ≤20% charge (independent of iOS app)</a:t>
            </a:r>
            <a:endParaRPr b="0" i="0" sz="1600" u="none" cap="none" strike="noStrike">
              <a:solidFill>
                <a:schemeClr val="dk1"/>
              </a:solidFill>
              <a:latin typeface="Calibri"/>
              <a:ea typeface="Calibri"/>
              <a:cs typeface="Calibri"/>
              <a:sym typeface="Calibri"/>
            </a:endParaRPr>
          </a:p>
        </p:txBody>
      </p:sp>
      <p:sp>
        <p:nvSpPr>
          <p:cNvPr id="882" name="Google Shape;882;g3e68d5c5d8c_3_77"/>
          <p:cNvSpPr/>
          <p:nvPr/>
        </p:nvSpPr>
        <p:spPr>
          <a:xfrm>
            <a:off x="877824" y="841248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Caregiver push notification when battery falls below 15%</a:t>
            </a:r>
            <a:endParaRPr b="0" i="0" sz="1600" u="none" cap="none" strike="noStrike">
              <a:solidFill>
                <a:schemeClr val="dk1"/>
              </a:solidFill>
              <a:latin typeface="Calibri"/>
              <a:ea typeface="Calibri"/>
              <a:cs typeface="Calibri"/>
              <a:sym typeface="Calibri"/>
            </a:endParaRPr>
          </a:p>
        </p:txBody>
      </p:sp>
      <p:sp>
        <p:nvSpPr>
          <p:cNvPr id="883" name="Google Shape;883;g3e68d5c5d8c_3_77"/>
          <p:cNvSpPr/>
          <p:nvPr/>
        </p:nvSpPr>
        <p:spPr>
          <a:xfrm>
            <a:off x="877824" y="8814816"/>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Wireless charging dock with visual confirmation LED</a:t>
            </a:r>
            <a:endParaRPr b="0" i="0" sz="1600" u="none" cap="none" strike="noStrike">
              <a:solidFill>
                <a:schemeClr val="dk1"/>
              </a:solidFill>
              <a:latin typeface="Calibri"/>
              <a:ea typeface="Calibri"/>
              <a:cs typeface="Calibri"/>
              <a:sym typeface="Calibri"/>
            </a:endParaRPr>
          </a:p>
        </p:txBody>
      </p:sp>
      <p:sp>
        <p:nvSpPr>
          <p:cNvPr id="884" name="Google Shape;884;g3e68d5c5d8c_3_77"/>
          <p:cNvSpPr/>
          <p:nvPr/>
        </p:nvSpPr>
        <p:spPr>
          <a:xfrm>
            <a:off x="877824" y="9290304"/>
            <a:ext cx="8046600" cy="4938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E8A820"/>
              </a:buClr>
              <a:buSzPts val="1500"/>
              <a:buFont typeface="Calibri"/>
              <a:buNone/>
            </a:pPr>
            <a:r>
              <a:rPr b="1" i="1" lang="en-US" sz="1500" u="none" cap="none" strike="noStrike">
                <a:solidFill>
                  <a:srgbClr val="E8A820"/>
                </a:solidFill>
                <a:latin typeface="Calibri"/>
                <a:ea typeface="Calibri"/>
                <a:cs typeface="Calibri"/>
                <a:sym typeface="Calibri"/>
              </a:rPr>
              <a:t>Onboard alarm reduces D from 5→2; caregiver notification reduces O from 5→3 (assisted monitoring). Residual RPN: 7×3×2 = 42.</a:t>
            </a:r>
            <a:endParaRPr b="0" i="0" sz="1500" u="none" cap="none" strike="noStrike">
              <a:solidFill>
                <a:schemeClr val="dk1"/>
              </a:solidFill>
              <a:latin typeface="Calibri"/>
              <a:ea typeface="Calibri"/>
              <a:cs typeface="Calibri"/>
              <a:sym typeface="Calibri"/>
            </a:endParaRPr>
          </a:p>
        </p:txBody>
      </p:sp>
      <p:sp>
        <p:nvSpPr>
          <p:cNvPr id="885" name="Google Shape;885;g3e68d5c5d8c_3_77"/>
          <p:cNvSpPr/>
          <p:nvPr/>
        </p:nvSpPr>
        <p:spPr>
          <a:xfrm>
            <a:off x="9418320" y="7461504"/>
            <a:ext cx="8595300" cy="2432400"/>
          </a:xfrm>
          <a:prstGeom prst="rect">
            <a:avLst/>
          </a:prstGeom>
          <a:solidFill>
            <a:srgbClr val="FFFFFF"/>
          </a:solidFill>
          <a:ln cap="flat" cmpd="sng" w="9525">
            <a:solidFill>
              <a:srgbClr val="D8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86" name="Google Shape;886;g3e68d5c5d8c_3_77"/>
          <p:cNvSpPr/>
          <p:nvPr/>
        </p:nvSpPr>
        <p:spPr>
          <a:xfrm>
            <a:off x="9418320" y="7461504"/>
            <a:ext cx="8595300" cy="493800"/>
          </a:xfrm>
          <a:prstGeom prst="rect">
            <a:avLst/>
          </a:prstGeom>
          <a:solidFill>
            <a:srgbClr val="F0F4F8"/>
          </a:solidFill>
          <a:ln cap="flat" cmpd="sng" w="12700">
            <a:solidFill>
              <a:srgbClr val="F0F4F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87" name="Google Shape;887;g3e68d5c5d8c_3_77"/>
          <p:cNvSpPr/>
          <p:nvPr/>
        </p:nvSpPr>
        <p:spPr>
          <a:xfrm>
            <a:off x="9418320" y="7461504"/>
            <a:ext cx="219600" cy="24324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88" name="Google Shape;888;g3e68d5c5d8c_3_77"/>
          <p:cNvSpPr/>
          <p:nvPr/>
        </p:nvSpPr>
        <p:spPr>
          <a:xfrm>
            <a:off x="9784080" y="7461504"/>
            <a:ext cx="54864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E8C"/>
              </a:buClr>
              <a:buSzPts val="1800"/>
              <a:buFont typeface="Calibri"/>
              <a:buNone/>
            </a:pPr>
            <a:r>
              <a:rPr b="1" i="0" lang="en-US" sz="1800" u="none" cap="none" strike="noStrike">
                <a:solidFill>
                  <a:srgbClr val="0A7E8C"/>
                </a:solidFill>
                <a:latin typeface="Calibri"/>
                <a:ea typeface="Calibri"/>
                <a:cs typeface="Calibri"/>
                <a:sym typeface="Calibri"/>
              </a:rPr>
              <a:t>FM-06  ·  HS300x Init Failure</a:t>
            </a:r>
            <a:endParaRPr b="0" i="0" sz="1800" u="none" cap="none" strike="noStrike">
              <a:solidFill>
                <a:schemeClr val="dk1"/>
              </a:solidFill>
              <a:latin typeface="Calibri"/>
              <a:ea typeface="Calibri"/>
              <a:cs typeface="Calibri"/>
              <a:sym typeface="Calibri"/>
            </a:endParaRPr>
          </a:p>
        </p:txBody>
      </p:sp>
      <p:sp>
        <p:nvSpPr>
          <p:cNvPr id="889" name="Google Shape;889;g3e68d5c5d8c_3_77"/>
          <p:cNvSpPr/>
          <p:nvPr/>
        </p:nvSpPr>
        <p:spPr>
          <a:xfrm>
            <a:off x="15453360" y="7461504"/>
            <a:ext cx="2340900" cy="49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A7E8C"/>
              </a:buClr>
              <a:buSzPts val="1700"/>
              <a:buFont typeface="Calibri"/>
              <a:buNone/>
            </a:pPr>
            <a:r>
              <a:rPr b="1" i="0" lang="en-US" sz="1700" u="none" cap="none" strike="noStrike">
                <a:solidFill>
                  <a:srgbClr val="0A7E8C"/>
                </a:solidFill>
                <a:latin typeface="Calibri"/>
                <a:ea typeface="Calibri"/>
                <a:cs typeface="Calibri"/>
                <a:sym typeface="Calibri"/>
              </a:rPr>
              <a:t>RPN: 24 → Already Acceptable</a:t>
            </a:r>
            <a:endParaRPr b="0" i="0" sz="1700" u="none" cap="none" strike="noStrike">
              <a:solidFill>
                <a:schemeClr val="dk1"/>
              </a:solidFill>
              <a:latin typeface="Calibri"/>
              <a:ea typeface="Calibri"/>
              <a:cs typeface="Calibri"/>
              <a:sym typeface="Calibri"/>
            </a:endParaRPr>
          </a:p>
        </p:txBody>
      </p:sp>
      <p:sp>
        <p:nvSpPr>
          <p:cNvPr id="890" name="Google Shape;890;g3e68d5c5d8c_3_77"/>
          <p:cNvSpPr/>
          <p:nvPr/>
        </p:nvSpPr>
        <p:spPr>
          <a:xfrm>
            <a:off x="9784080" y="8010144"/>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Firmware retry loop implemented in prototype (current fix — already deployed)</a:t>
            </a:r>
            <a:endParaRPr b="0" i="0" sz="1600" u="none" cap="none" strike="noStrike">
              <a:solidFill>
                <a:schemeClr val="dk1"/>
              </a:solidFill>
              <a:latin typeface="Calibri"/>
              <a:ea typeface="Calibri"/>
              <a:cs typeface="Calibri"/>
              <a:sym typeface="Calibri"/>
            </a:endParaRPr>
          </a:p>
        </p:txBody>
      </p:sp>
      <p:sp>
        <p:nvSpPr>
          <p:cNvPr id="891" name="Google Shape;891;g3e68d5c5d8c_3_77"/>
          <p:cNvSpPr/>
          <p:nvPr/>
        </p:nvSpPr>
        <p:spPr>
          <a:xfrm>
            <a:off x="9784080" y="8412480"/>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3-attempt retry with 500 ms delay before logging initialization error</a:t>
            </a:r>
            <a:endParaRPr b="0" i="0" sz="1600" u="none" cap="none" strike="noStrike">
              <a:solidFill>
                <a:schemeClr val="dk1"/>
              </a:solidFill>
              <a:latin typeface="Calibri"/>
              <a:ea typeface="Calibri"/>
              <a:cs typeface="Calibri"/>
              <a:sym typeface="Calibri"/>
            </a:endParaRPr>
          </a:p>
        </p:txBody>
      </p:sp>
      <p:sp>
        <p:nvSpPr>
          <p:cNvPr id="892" name="Google Shape;892;g3e68d5c5d8c_3_77"/>
          <p:cNvSpPr/>
          <p:nvPr/>
        </p:nvSpPr>
        <p:spPr>
          <a:xfrm>
            <a:off x="9784080" y="8814816"/>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A4A"/>
              </a:buClr>
              <a:buSzPts val="1600"/>
              <a:buFont typeface="Calibri"/>
              <a:buNone/>
            </a:pPr>
            <a:r>
              <a:rPr b="0" i="0" lang="en-US" sz="1600" u="none" cap="none" strike="noStrike">
                <a:solidFill>
                  <a:srgbClr val="2D3A4A"/>
                </a:solidFill>
                <a:latin typeface="Calibri"/>
                <a:ea typeface="Calibri"/>
                <a:cs typeface="Calibri"/>
                <a:sym typeface="Calibri"/>
              </a:rPr>
              <a:t>→ Status characteristic reports sensor health status to iOS app</a:t>
            </a:r>
            <a:endParaRPr b="0" i="0" sz="1600" u="none" cap="none" strike="noStrike">
              <a:solidFill>
                <a:schemeClr val="dk1"/>
              </a:solidFill>
              <a:latin typeface="Calibri"/>
              <a:ea typeface="Calibri"/>
              <a:cs typeface="Calibri"/>
              <a:sym typeface="Calibri"/>
            </a:endParaRPr>
          </a:p>
        </p:txBody>
      </p:sp>
      <p:sp>
        <p:nvSpPr>
          <p:cNvPr id="893" name="Google Shape;893;g3e68d5c5d8c_3_77"/>
          <p:cNvSpPr/>
          <p:nvPr/>
        </p:nvSpPr>
        <p:spPr>
          <a:xfrm>
            <a:off x="9784080" y="9290304"/>
            <a:ext cx="8046600" cy="4938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0A7E8C"/>
              </a:buClr>
              <a:buSzPts val="1500"/>
              <a:buFont typeface="Calibri"/>
              <a:buNone/>
            </a:pPr>
            <a:r>
              <a:rPr b="1" i="1" lang="en-US" sz="1500" u="none" cap="none" strike="noStrike">
                <a:solidFill>
                  <a:srgbClr val="0A7E8C"/>
                </a:solidFill>
                <a:latin typeface="Calibri"/>
                <a:ea typeface="Calibri"/>
                <a:cs typeface="Calibri"/>
                <a:sym typeface="Calibri"/>
              </a:rPr>
              <a:t>Retry loop reduces D from 3→1. Residual RPN: 2×4×1 = 8. Already below acceptable threshold — no additional controls required.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7FBFC"/>
        </a:solidFill>
      </p:bgPr>
    </p:bg>
    <p:spTree>
      <p:nvGrpSpPr>
        <p:cNvPr id="898" name="Shape 898"/>
        <p:cNvGrpSpPr/>
        <p:nvPr/>
      </p:nvGrpSpPr>
      <p:grpSpPr>
        <a:xfrm>
          <a:off x="0" y="0"/>
          <a:ext cx="0" cy="0"/>
          <a:chOff x="0" y="0"/>
          <a:chExt cx="0" cy="0"/>
        </a:xfrm>
      </p:grpSpPr>
      <p:sp>
        <p:nvSpPr>
          <p:cNvPr id="899" name="Google Shape;899;g3d9e588f0ee_1_441"/>
          <p:cNvSpPr/>
          <p:nvPr/>
        </p:nvSpPr>
        <p:spPr>
          <a:xfrm>
            <a:off x="0" y="0"/>
            <a:ext cx="18288000" cy="1737600"/>
          </a:xfrm>
          <a:prstGeom prst="rect">
            <a:avLst/>
          </a:prstGeom>
          <a:solidFill>
            <a:srgbClr val="0B2545"/>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00" name="Google Shape;900;g3d9e588f0ee_1_441"/>
          <p:cNvSpPr/>
          <p:nvPr/>
        </p:nvSpPr>
        <p:spPr>
          <a:xfrm>
            <a:off x="0" y="1737360"/>
            <a:ext cx="18288000" cy="73200"/>
          </a:xfrm>
          <a:prstGeom prst="rect">
            <a:avLst/>
          </a:prstGeom>
          <a:solidFill>
            <a:srgbClr val="1DB7A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01" name="Google Shape;901;g3d9e588f0ee_1_441"/>
          <p:cNvSpPr/>
          <p:nvPr/>
        </p:nvSpPr>
        <p:spPr>
          <a:xfrm>
            <a:off x="1097280" y="182880"/>
            <a:ext cx="15544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Mitigations &amp; Design Controls</a:t>
            </a:r>
            <a:endParaRPr b="0" i="0" sz="4400" u="none" cap="none" strike="noStrike">
              <a:solidFill>
                <a:schemeClr val="dk1"/>
              </a:solidFill>
              <a:latin typeface="Calibri"/>
              <a:ea typeface="Calibri"/>
              <a:cs typeface="Calibri"/>
              <a:sym typeface="Calibri"/>
            </a:endParaRPr>
          </a:p>
        </p:txBody>
      </p:sp>
      <p:sp>
        <p:nvSpPr>
          <p:cNvPr id="902" name="Google Shape;902;g3d9e588f0ee_1_441"/>
          <p:cNvSpPr/>
          <p:nvPr/>
        </p:nvSpPr>
        <p:spPr>
          <a:xfrm>
            <a:off x="1097280" y="950976"/>
            <a:ext cx="15544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B7A8"/>
              </a:buClr>
              <a:buSzPts val="2200"/>
              <a:buFont typeface="Calibri"/>
              <a:buNone/>
            </a:pPr>
            <a:r>
              <a:rPr b="0" i="0" lang="en-US" sz="2200" u="none" cap="none" strike="noStrike">
                <a:solidFill>
                  <a:srgbClr val="1DB7A8"/>
                </a:solidFill>
                <a:latin typeface="Calibri"/>
                <a:ea typeface="Calibri"/>
                <a:cs typeface="Calibri"/>
                <a:sym typeface="Calibri"/>
              </a:rPr>
              <a:t>Section 2.3 — Risk reduction strategies per failure mode</a:t>
            </a:r>
            <a:endParaRPr b="0" i="0" sz="2200" u="none" cap="none" strike="noStrike">
              <a:solidFill>
                <a:schemeClr val="dk1"/>
              </a:solidFill>
              <a:latin typeface="Calibri"/>
              <a:ea typeface="Calibri"/>
              <a:cs typeface="Calibri"/>
              <a:sym typeface="Calibri"/>
            </a:endParaRPr>
          </a:p>
        </p:txBody>
      </p:sp>
      <p:graphicFrame>
        <p:nvGraphicFramePr>
          <p:cNvPr id="903" name="Google Shape;903;g3d9e588f0ee_1_441"/>
          <p:cNvGraphicFramePr/>
          <p:nvPr/>
        </p:nvGraphicFramePr>
        <p:xfrm>
          <a:off x="731520" y="2011680"/>
          <a:ext cx="3000000" cy="3000000"/>
        </p:xfrm>
        <a:graphic>
          <a:graphicData uri="http://schemas.openxmlformats.org/drawingml/2006/table">
            <a:tbl>
              <a:tblPr>
                <a:noFill/>
                <a:tableStyleId>{1D228925-EC50-4E52-8A8C-EF4C7BB9DE8A}</a:tableStyleId>
              </a:tblPr>
              <a:tblGrid>
                <a:gridCol w="3657600"/>
                <a:gridCol w="10058400"/>
                <a:gridCol w="3108950"/>
              </a:tblGrid>
              <a:tr h="228600">
                <a:tc>
                  <a:txBody>
                    <a:bodyPr/>
                    <a:lstStyle/>
                    <a:p>
                      <a:pPr indent="0" lvl="0" marL="0" marR="0" rtl="0" algn="l">
                        <a:spcBef>
                          <a:spcPts val="0"/>
                        </a:spcBef>
                        <a:spcAft>
                          <a:spcPts val="0"/>
                        </a:spcAft>
                        <a:buClr>
                          <a:srgbClr val="FFFFFF"/>
                        </a:buClr>
                        <a:buSzPts val="1800"/>
                        <a:buFont typeface="Calibri"/>
                        <a:buNone/>
                      </a:pPr>
                      <a:r>
                        <a:rPr b="1" lang="en-US" sz="2800" u="none" cap="none" strike="noStrike">
                          <a:solidFill>
                            <a:srgbClr val="FFFFFF"/>
                          </a:solidFill>
                          <a:latin typeface="Calibri"/>
                          <a:ea typeface="Calibri"/>
                          <a:cs typeface="Calibri"/>
                          <a:sym typeface="Calibri"/>
                        </a:rPr>
                        <a:t>Failure Mode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800" u="none" cap="none" strike="noStrike">
                          <a:solidFill>
                            <a:srgbClr val="FFFFFF"/>
                          </a:solidFill>
                          <a:latin typeface="Calibri"/>
                          <a:ea typeface="Calibri"/>
                          <a:cs typeface="Calibri"/>
                          <a:sym typeface="Calibri"/>
                        </a:rPr>
                        <a:t>Risk Control Measure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800"/>
                        <a:buFont typeface="Calibri"/>
                        <a:buNone/>
                      </a:pPr>
                      <a:r>
                        <a:rPr b="1" lang="en-US" sz="2800" u="none" cap="none" strike="noStrike">
                          <a:solidFill>
                            <a:srgbClr val="FFFFFF"/>
                          </a:solidFill>
                          <a:latin typeface="Calibri"/>
                          <a:ea typeface="Calibri"/>
                          <a:cs typeface="Calibri"/>
                          <a:sym typeface="Calibri"/>
                        </a:rPr>
                        <a:t>Control Type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solidFill>
                      <a:srgbClr val="0B2545"/>
                    </a:solidFill>
                  </a:tcPr>
                </a:tc>
              </a:tr>
              <a:tr h="228600">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Adhesive delamination</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Mechanical snap-fit insole mount; medical-grade adhesive with peel-strength testing</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Design</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60 Hz EMI</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10kΩ pull-downs on all channels; 100nF bypass caps; shielded traces on PCB</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Design</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Moisture ingress</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Conformal coating on PCB; sealed FPC connector; hydrophobic sandal liner</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Design</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BLE disconnection</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Firmware local monitoring + onboard LED; app auto-reconnect; BLE connection-loss alert</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Firmware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User charging failure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Independent audible low-battery alarm; app persistent notification; USB-C quick charge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Design + UX</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r h="228600">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HS300x cold-boot</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Firmware retry loop with 100ms delays on initialization; validated in prototype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800"/>
                        <a:buFont typeface="Calibri"/>
                        <a:buNone/>
                      </a:pPr>
                      <a:r>
                        <a:rPr lang="en-US" sz="2800" u="none" cap="none" strike="noStrike">
                          <a:solidFill>
                            <a:srgbClr val="000000"/>
                          </a:solidFill>
                          <a:latin typeface="Calibri"/>
                          <a:ea typeface="Calibri"/>
                          <a:cs typeface="Calibri"/>
                          <a:sym typeface="Calibri"/>
                        </a:rPr>
                        <a:t>Firmware</a:t>
                      </a:r>
                      <a:endParaRPr sz="2800" u="none" cap="none" strike="noStrike">
                        <a:latin typeface="Calibri"/>
                        <a:ea typeface="Calibri"/>
                        <a:cs typeface="Calibri"/>
                        <a:sym typeface="Calibri"/>
                      </a:endParaRPr>
                    </a:p>
                  </a:txBody>
                  <a:tcPr marT="91450" marB="91450" marR="182900" marL="182900">
                    <a:lnL cap="flat" cmpd="sng" w="19050">
                      <a:solidFill>
                        <a:srgbClr val="D0D5DD"/>
                      </a:solidFill>
                      <a:prstDash val="solid"/>
                      <a:round/>
                      <a:headEnd len="sm" w="sm" type="none"/>
                      <a:tailEnd len="sm" w="sm" type="none"/>
                    </a:lnL>
                    <a:lnR cap="flat" cmpd="sng" w="19050">
                      <a:solidFill>
                        <a:srgbClr val="D0D5DD"/>
                      </a:solidFill>
                      <a:prstDash val="solid"/>
                      <a:round/>
                      <a:headEnd len="sm" w="sm" type="none"/>
                      <a:tailEnd len="sm" w="sm" type="none"/>
                    </a:lnR>
                    <a:lnT cap="flat" cmpd="sng" w="19050">
                      <a:solidFill>
                        <a:srgbClr val="D0D5DD"/>
                      </a:solidFill>
                      <a:prstDash val="solid"/>
                      <a:round/>
                      <a:headEnd len="sm" w="sm" type="none"/>
                      <a:tailEnd len="sm" w="sm" type="none"/>
                    </a:lnT>
                    <a:lnB cap="flat" cmpd="sng" w="19050">
                      <a:solidFill>
                        <a:srgbClr val="D0D5DD"/>
                      </a:solidFill>
                      <a:prstDash val="solid"/>
                      <a:round/>
                      <a:headEnd len="sm" w="sm" type="none"/>
                      <a:tailEnd len="sm" w="sm" type="none"/>
                    </a:lnB>
                  </a:tcPr>
                </a:tc>
              </a:tr>
            </a:tbl>
          </a:graphicData>
        </a:graphic>
      </p:graphicFrame>
      <p:sp>
        <p:nvSpPr>
          <p:cNvPr id="904" name="Google Shape;904;g3d9e588f0ee_1_441"/>
          <p:cNvSpPr/>
          <p:nvPr/>
        </p:nvSpPr>
        <p:spPr>
          <a:xfrm>
            <a:off x="0" y="9326880"/>
            <a:ext cx="18288000" cy="960000"/>
          </a:xfrm>
          <a:prstGeom prst="rect">
            <a:avLst/>
          </a:prstGeom>
          <a:solidFill>
            <a:srgbClr val="0B2545"/>
          </a:solidFill>
          <a:ln>
            <a:noFill/>
          </a:ln>
          <a:effectLst>
            <a:outerShdw blurRad="101600" rotWithShape="0" algn="bl" dir="16200000" dist="101600">
              <a:srgbClr val="000000">
                <a:alpha val="14900"/>
              </a:srgbClr>
            </a:outerShdw>
          </a:effectLst>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05" name="Google Shape;905;g3d9e588f0ee_1_441"/>
          <p:cNvSpPr/>
          <p:nvPr/>
        </p:nvSpPr>
        <p:spPr>
          <a:xfrm>
            <a:off x="914400" y="9418320"/>
            <a:ext cx="7315200" cy="731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Nwachukwu Anene / Ava Rathenberg</a:t>
            </a:r>
            <a:endParaRPr b="0" i="0" sz="1800" u="none" cap="none" strike="noStrike">
              <a:solidFill>
                <a:schemeClr val="dk1"/>
              </a:solidFill>
              <a:latin typeface="Calibri"/>
              <a:ea typeface="Calibri"/>
              <a:cs typeface="Calibri"/>
              <a:sym typeface="Calibri"/>
            </a:endParaRPr>
          </a:p>
        </p:txBody>
      </p:sp>
      <p:sp>
        <p:nvSpPr>
          <p:cNvPr id="906" name="Google Shape;906;g3d9e588f0ee_1_441"/>
          <p:cNvSpPr/>
          <p:nvPr/>
        </p:nvSpPr>
        <p:spPr>
          <a:xfrm>
            <a:off x="9144000" y="9418320"/>
            <a:ext cx="8229600" cy="731400"/>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1DB7A8"/>
              </a:buClr>
              <a:buSzPts val="1800"/>
              <a:buFont typeface="Calibri"/>
              <a:buNone/>
            </a:pPr>
            <a:r>
              <a:rPr b="0" i="0" lang="en-US" sz="1800" u="none" cap="none" strike="noStrike">
                <a:solidFill>
                  <a:srgbClr val="1DB7A8"/>
                </a:solidFill>
                <a:latin typeface="Calibri"/>
                <a:ea typeface="Calibri"/>
                <a:cs typeface="Calibri"/>
                <a:sym typeface="Calibri"/>
              </a:rPr>
              <a:t>NeuroFoot  |  Team Cardinal  |  BME 555a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2243A"/>
        </a:solidFill>
      </p:bgPr>
    </p:bg>
    <p:spTree>
      <p:nvGrpSpPr>
        <p:cNvPr id="911" name="Shape 911"/>
        <p:cNvGrpSpPr/>
        <p:nvPr/>
      </p:nvGrpSpPr>
      <p:grpSpPr>
        <a:xfrm>
          <a:off x="0" y="0"/>
          <a:ext cx="0" cy="0"/>
          <a:chOff x="0" y="0"/>
          <a:chExt cx="0" cy="0"/>
        </a:xfrm>
      </p:grpSpPr>
      <p:sp>
        <p:nvSpPr>
          <p:cNvPr id="912" name="Google Shape;912;g3e68d5c5d8c_3_139"/>
          <p:cNvSpPr/>
          <p:nvPr/>
        </p:nvSpPr>
        <p:spPr>
          <a:xfrm>
            <a:off x="0" y="0"/>
            <a:ext cx="822900" cy="102870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13" name="Google Shape;913;g3e68d5c5d8c_3_139"/>
          <p:cNvSpPr/>
          <p:nvPr/>
        </p:nvSpPr>
        <p:spPr>
          <a:xfrm>
            <a:off x="822960" y="0"/>
            <a:ext cx="329100" cy="102870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14" name="Google Shape;914;g3e68d5c5d8c_3_139"/>
          <p:cNvSpPr/>
          <p:nvPr/>
        </p:nvSpPr>
        <p:spPr>
          <a:xfrm>
            <a:off x="1499616" y="402336"/>
            <a:ext cx="16276200" cy="10974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Summary &amp; Fall 2026 Handoff Notes</a:t>
            </a:r>
            <a:endParaRPr b="0" i="0" sz="5200" u="none" cap="none" strike="noStrike">
              <a:solidFill>
                <a:schemeClr val="dk1"/>
              </a:solidFill>
              <a:latin typeface="Calibri"/>
              <a:ea typeface="Calibri"/>
              <a:cs typeface="Calibri"/>
              <a:sym typeface="Calibri"/>
            </a:endParaRPr>
          </a:p>
        </p:txBody>
      </p:sp>
      <p:sp>
        <p:nvSpPr>
          <p:cNvPr id="915" name="Google Shape;915;g3e68d5c5d8c_3_139"/>
          <p:cNvSpPr/>
          <p:nvPr/>
        </p:nvSpPr>
        <p:spPr>
          <a:xfrm>
            <a:off x="1499616" y="1536192"/>
            <a:ext cx="16276200" cy="512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9EC8D4"/>
              </a:buClr>
              <a:buSzPts val="2400"/>
              <a:buFont typeface="Calibri"/>
              <a:buNone/>
            </a:pPr>
            <a:r>
              <a:rPr b="0" i="0" lang="en-US" sz="2400" u="none" cap="none" strike="noStrike">
                <a:solidFill>
                  <a:srgbClr val="9EC8D4"/>
                </a:solidFill>
                <a:latin typeface="Calibri"/>
                <a:ea typeface="Calibri"/>
                <a:cs typeface="Calibri"/>
                <a:sym typeface="Calibri"/>
              </a:rPr>
              <a:t>Team Cardinal  ·  NeuroFoot System  ·  April 27, 2026</a:t>
            </a:r>
            <a:endParaRPr b="0" i="0" sz="2400" u="none" cap="none" strike="noStrike">
              <a:solidFill>
                <a:schemeClr val="dk1"/>
              </a:solidFill>
              <a:latin typeface="Calibri"/>
              <a:ea typeface="Calibri"/>
              <a:cs typeface="Calibri"/>
              <a:sym typeface="Calibri"/>
            </a:endParaRPr>
          </a:p>
        </p:txBody>
      </p:sp>
      <p:sp>
        <p:nvSpPr>
          <p:cNvPr id="916" name="Google Shape;916;g3e68d5c5d8c_3_139"/>
          <p:cNvSpPr/>
          <p:nvPr/>
        </p:nvSpPr>
        <p:spPr>
          <a:xfrm>
            <a:off x="1499616" y="2194560"/>
            <a:ext cx="7863900" cy="512100"/>
          </a:xfrm>
          <a:prstGeom prst="rect">
            <a:avLst/>
          </a:prstGeom>
          <a:solidFill>
            <a:srgbClr val="0A7E8C"/>
          </a:solidFill>
          <a:ln cap="flat" cmpd="sng" w="12700">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17" name="Google Shape;917;g3e68d5c5d8c_3_139"/>
          <p:cNvSpPr/>
          <p:nvPr/>
        </p:nvSpPr>
        <p:spPr>
          <a:xfrm>
            <a:off x="1499616" y="2194560"/>
            <a:ext cx="7863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WHAT WAS BUILT &amp; VERIFIED</a:t>
            </a:r>
            <a:endParaRPr b="0" i="0" sz="1900" u="none" cap="none" strike="noStrike">
              <a:solidFill>
                <a:schemeClr val="dk1"/>
              </a:solidFill>
              <a:latin typeface="Calibri"/>
              <a:ea typeface="Calibri"/>
              <a:cs typeface="Calibri"/>
              <a:sym typeface="Calibri"/>
            </a:endParaRPr>
          </a:p>
        </p:txBody>
      </p:sp>
      <p:sp>
        <p:nvSpPr>
          <p:cNvPr id="918" name="Google Shape;918;g3e68d5c5d8c_3_139"/>
          <p:cNvSpPr/>
          <p:nvPr/>
        </p:nvSpPr>
        <p:spPr>
          <a:xfrm>
            <a:off x="1645920" y="2834640"/>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800"/>
              <a:buFont typeface="Calibri"/>
              <a:buNone/>
            </a:pPr>
            <a:r>
              <a:rPr b="0" i="0" lang="en-US" sz="1800" u="none" cap="none" strike="noStrike">
                <a:solidFill>
                  <a:srgbClr val="02C39A"/>
                </a:solidFill>
                <a:latin typeface="Calibri"/>
                <a:ea typeface="Calibri"/>
                <a:cs typeface="Calibri"/>
                <a:sym typeface="Calibri"/>
              </a:rPr>
              <a:t>✓ 16-zone FSR insole integrated with CD74HC4067 mux — all channels verified</a:t>
            </a:r>
            <a:endParaRPr b="0" i="0" sz="1800" u="none" cap="none" strike="noStrike">
              <a:solidFill>
                <a:schemeClr val="dk1"/>
              </a:solidFill>
              <a:latin typeface="Calibri"/>
              <a:ea typeface="Calibri"/>
              <a:cs typeface="Calibri"/>
              <a:sym typeface="Calibri"/>
            </a:endParaRPr>
          </a:p>
        </p:txBody>
      </p:sp>
      <p:sp>
        <p:nvSpPr>
          <p:cNvPr id="919" name="Google Shape;919;g3e68d5c5d8c_3_139"/>
          <p:cNvSpPr/>
          <p:nvPr/>
        </p:nvSpPr>
        <p:spPr>
          <a:xfrm>
            <a:off x="1645920" y="3346704"/>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C8D4"/>
              </a:buClr>
              <a:buSzPts val="1800"/>
              <a:buFont typeface="Calibri"/>
              <a:buNone/>
            </a:pPr>
            <a:r>
              <a:rPr b="0" i="0" lang="en-US" sz="1800" u="none" cap="none" strike="noStrike">
                <a:solidFill>
                  <a:srgbClr val="9EC8D4"/>
                </a:solidFill>
                <a:latin typeface="Calibri"/>
                <a:ea typeface="Calibri"/>
                <a:cs typeface="Calibri"/>
                <a:sym typeface="Calibri"/>
              </a:rPr>
              <a:t>✓ BLE 5.0 streaming: pressure (50 Hz), IMU (50 Hz), environmental (0.5 Hz)</a:t>
            </a:r>
            <a:endParaRPr b="0" i="0" sz="1800" u="none" cap="none" strike="noStrike">
              <a:solidFill>
                <a:schemeClr val="dk1"/>
              </a:solidFill>
              <a:latin typeface="Calibri"/>
              <a:ea typeface="Calibri"/>
              <a:cs typeface="Calibri"/>
              <a:sym typeface="Calibri"/>
            </a:endParaRPr>
          </a:p>
        </p:txBody>
      </p:sp>
      <p:sp>
        <p:nvSpPr>
          <p:cNvPr id="920" name="Google Shape;920;g3e68d5c5d8c_3_139"/>
          <p:cNvSpPr/>
          <p:nvPr/>
        </p:nvSpPr>
        <p:spPr>
          <a:xfrm>
            <a:off x="1645920" y="3858768"/>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800"/>
              <a:buFont typeface="Calibri"/>
              <a:buNone/>
            </a:pPr>
            <a:r>
              <a:rPr b="0" i="0" lang="en-US" sz="1800" u="none" cap="none" strike="noStrike">
                <a:solidFill>
                  <a:srgbClr val="02C39A"/>
                </a:solidFill>
                <a:latin typeface="Calibri"/>
                <a:ea typeface="Calibri"/>
                <a:cs typeface="Calibri"/>
                <a:sym typeface="Calibri"/>
              </a:rPr>
              <a:t>✓ Graded alert system (OK/WARN/CRITICAL) — &lt;200 ms measured latency</a:t>
            </a:r>
            <a:endParaRPr b="0" i="0" sz="1800" u="none" cap="none" strike="noStrike">
              <a:solidFill>
                <a:schemeClr val="dk1"/>
              </a:solidFill>
              <a:latin typeface="Calibri"/>
              <a:ea typeface="Calibri"/>
              <a:cs typeface="Calibri"/>
              <a:sym typeface="Calibri"/>
            </a:endParaRPr>
          </a:p>
        </p:txBody>
      </p:sp>
      <p:sp>
        <p:nvSpPr>
          <p:cNvPr id="921" name="Google Shape;921;g3e68d5c5d8c_3_139"/>
          <p:cNvSpPr/>
          <p:nvPr/>
        </p:nvSpPr>
        <p:spPr>
          <a:xfrm>
            <a:off x="1645920" y="4370832"/>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C8D4"/>
              </a:buClr>
              <a:buSzPts val="1800"/>
              <a:buFont typeface="Calibri"/>
              <a:buNone/>
            </a:pPr>
            <a:r>
              <a:rPr b="0" i="0" lang="en-US" sz="1800" u="none" cap="none" strike="noStrike">
                <a:solidFill>
                  <a:srgbClr val="9EC8D4"/>
                </a:solidFill>
                <a:latin typeface="Calibri"/>
                <a:ea typeface="Calibri"/>
                <a:cs typeface="Calibri"/>
                <a:sym typeface="Calibri"/>
              </a:rPr>
              <a:t>✓ HS300x temperature (±0.5°C) and humidity (±5% RH) verified</a:t>
            </a:r>
            <a:endParaRPr b="0" i="0" sz="1800" u="none" cap="none" strike="noStrike">
              <a:solidFill>
                <a:schemeClr val="dk1"/>
              </a:solidFill>
              <a:latin typeface="Calibri"/>
              <a:ea typeface="Calibri"/>
              <a:cs typeface="Calibri"/>
              <a:sym typeface="Calibri"/>
            </a:endParaRPr>
          </a:p>
        </p:txBody>
      </p:sp>
      <p:sp>
        <p:nvSpPr>
          <p:cNvPr id="922" name="Google Shape;922;g3e68d5c5d8c_3_139"/>
          <p:cNvSpPr/>
          <p:nvPr/>
        </p:nvSpPr>
        <p:spPr>
          <a:xfrm>
            <a:off x="1645920" y="4882896"/>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800"/>
              <a:buFont typeface="Calibri"/>
              <a:buNone/>
            </a:pPr>
            <a:r>
              <a:rPr b="0" i="0" lang="en-US" sz="1800" u="none" cap="none" strike="noStrike">
                <a:solidFill>
                  <a:srgbClr val="02C39A"/>
                </a:solidFill>
                <a:latin typeface="Calibri"/>
                <a:ea typeface="Calibri"/>
                <a:cs typeface="Calibri"/>
                <a:sym typeface="Calibri"/>
              </a:rPr>
              <a:t>✓ IMU 6-position accel calibration and gyro zero-rate bias confirmed</a:t>
            </a:r>
            <a:endParaRPr b="0" i="0" sz="1800" u="none" cap="none" strike="noStrike">
              <a:solidFill>
                <a:schemeClr val="dk1"/>
              </a:solidFill>
              <a:latin typeface="Calibri"/>
              <a:ea typeface="Calibri"/>
              <a:cs typeface="Calibri"/>
              <a:sym typeface="Calibri"/>
            </a:endParaRPr>
          </a:p>
        </p:txBody>
      </p:sp>
      <p:sp>
        <p:nvSpPr>
          <p:cNvPr id="923" name="Google Shape;923;g3e68d5c5d8c_3_139"/>
          <p:cNvSpPr/>
          <p:nvPr/>
        </p:nvSpPr>
        <p:spPr>
          <a:xfrm>
            <a:off x="1645920" y="5394960"/>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C8D4"/>
              </a:buClr>
              <a:buSzPts val="1800"/>
              <a:buFont typeface="Calibri"/>
              <a:buNone/>
            </a:pPr>
            <a:r>
              <a:rPr b="0" i="0" lang="en-US" sz="1800" u="none" cap="none" strike="noStrike">
                <a:solidFill>
                  <a:srgbClr val="9EC8D4"/>
                </a:solidFill>
                <a:latin typeface="Calibri"/>
                <a:ea typeface="Calibri"/>
                <a:cs typeface="Calibri"/>
                <a:sym typeface="Calibri"/>
              </a:rPr>
              <a:t>✓ Sandal assembly — successful 2-minute walk test with no BLE dropouts</a:t>
            </a:r>
            <a:endParaRPr b="0" i="0" sz="1800" u="none" cap="none" strike="noStrike">
              <a:solidFill>
                <a:schemeClr val="dk1"/>
              </a:solidFill>
              <a:latin typeface="Calibri"/>
              <a:ea typeface="Calibri"/>
              <a:cs typeface="Calibri"/>
              <a:sym typeface="Calibri"/>
            </a:endParaRPr>
          </a:p>
        </p:txBody>
      </p:sp>
      <p:sp>
        <p:nvSpPr>
          <p:cNvPr id="924" name="Google Shape;924;g3e68d5c5d8c_3_139"/>
          <p:cNvSpPr/>
          <p:nvPr/>
        </p:nvSpPr>
        <p:spPr>
          <a:xfrm>
            <a:off x="1645920" y="5907024"/>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800"/>
              <a:buFont typeface="Calibri"/>
              <a:buNone/>
            </a:pPr>
            <a:r>
              <a:rPr b="0" i="0" lang="en-US" sz="1800" u="none" cap="none" strike="noStrike">
                <a:solidFill>
                  <a:srgbClr val="02C39A"/>
                </a:solidFill>
                <a:latin typeface="Calibri"/>
                <a:ea typeface="Calibri"/>
                <a:cs typeface="Calibri"/>
                <a:sym typeface="Calibri"/>
              </a:rPr>
              <a:t>✓ Predicate device: SmartStep System (K060150) — substantial equivalence documented</a:t>
            </a:r>
            <a:endParaRPr b="0" i="0" sz="1800" u="none" cap="none" strike="noStrike">
              <a:solidFill>
                <a:schemeClr val="dk1"/>
              </a:solidFill>
              <a:latin typeface="Calibri"/>
              <a:ea typeface="Calibri"/>
              <a:cs typeface="Calibri"/>
              <a:sym typeface="Calibri"/>
            </a:endParaRPr>
          </a:p>
        </p:txBody>
      </p:sp>
      <p:sp>
        <p:nvSpPr>
          <p:cNvPr id="925" name="Google Shape;925;g3e68d5c5d8c_3_139"/>
          <p:cNvSpPr/>
          <p:nvPr/>
        </p:nvSpPr>
        <p:spPr>
          <a:xfrm>
            <a:off x="1645920" y="6419088"/>
            <a:ext cx="7498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C8D4"/>
              </a:buClr>
              <a:buSzPts val="1800"/>
              <a:buFont typeface="Calibri"/>
              <a:buNone/>
            </a:pPr>
            <a:r>
              <a:rPr b="0" i="0" lang="en-US" sz="1800" u="none" cap="none" strike="noStrike">
                <a:solidFill>
                  <a:srgbClr val="9EC8D4"/>
                </a:solidFill>
                <a:latin typeface="Calibri"/>
                <a:ea typeface="Calibri"/>
                <a:cs typeface="Calibri"/>
                <a:sym typeface="Calibri"/>
              </a:rPr>
              <a:t>✓ ISO 13485-compliant DFM documentation — designed for MS-level team handoff</a:t>
            </a:r>
            <a:endParaRPr b="0" i="0" sz="1800" u="none" cap="none" strike="noStrike">
              <a:solidFill>
                <a:schemeClr val="dk1"/>
              </a:solidFill>
              <a:latin typeface="Calibri"/>
              <a:ea typeface="Calibri"/>
              <a:cs typeface="Calibri"/>
              <a:sym typeface="Calibri"/>
            </a:endParaRPr>
          </a:p>
        </p:txBody>
      </p:sp>
      <p:sp>
        <p:nvSpPr>
          <p:cNvPr id="926" name="Google Shape;926;g3e68d5c5d8c_3_139"/>
          <p:cNvSpPr/>
          <p:nvPr/>
        </p:nvSpPr>
        <p:spPr>
          <a:xfrm>
            <a:off x="9784080" y="2194560"/>
            <a:ext cx="7863900" cy="512100"/>
          </a:xfrm>
          <a:prstGeom prst="rect">
            <a:avLst/>
          </a:prstGeom>
          <a:solidFill>
            <a:srgbClr val="D64045"/>
          </a:solidFill>
          <a:ln cap="flat" cmpd="sng" w="12700">
            <a:solidFill>
              <a:srgbClr val="D64045"/>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27" name="Google Shape;927;g3e68d5c5d8c_3_139"/>
          <p:cNvSpPr/>
          <p:nvPr/>
        </p:nvSpPr>
        <p:spPr>
          <a:xfrm>
            <a:off x="9784080" y="2194560"/>
            <a:ext cx="78639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FALL 2026 — NEXT TEAM CHECKLIST</a:t>
            </a:r>
            <a:endParaRPr b="0" i="0" sz="1900" u="none" cap="none" strike="noStrike">
              <a:solidFill>
                <a:schemeClr val="dk1"/>
              </a:solidFill>
              <a:latin typeface="Calibri"/>
              <a:ea typeface="Calibri"/>
              <a:cs typeface="Calibri"/>
              <a:sym typeface="Calibri"/>
            </a:endParaRPr>
          </a:p>
        </p:txBody>
      </p:sp>
      <p:sp>
        <p:nvSpPr>
          <p:cNvPr id="928" name="Google Shape;928;g3e68d5c5d8c_3_139"/>
          <p:cNvSpPr/>
          <p:nvPr/>
        </p:nvSpPr>
        <p:spPr>
          <a:xfrm>
            <a:off x="9966960" y="2834640"/>
            <a:ext cx="7498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IMMEDIATE</a:t>
            </a:r>
            <a:endParaRPr b="0" i="0" sz="1700" u="none" cap="none" strike="noStrike">
              <a:solidFill>
                <a:schemeClr val="dk1"/>
              </a:solidFill>
              <a:latin typeface="Calibri"/>
              <a:ea typeface="Calibri"/>
              <a:cs typeface="Calibri"/>
              <a:sym typeface="Calibri"/>
            </a:endParaRPr>
          </a:p>
        </p:txBody>
      </p:sp>
      <p:sp>
        <p:nvSpPr>
          <p:cNvPr id="929" name="Google Shape;929;g3e68d5c5d8c_3_139"/>
          <p:cNvSpPr/>
          <p:nvPr/>
        </p:nvSpPr>
        <p:spPr>
          <a:xfrm>
            <a:off x="10094976" y="3282689"/>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Implement FMEA mitigations: conformal coating, onboard buzzer, reconnect logic</a:t>
            </a:r>
            <a:endParaRPr b="0" i="0" sz="1600" u="none" cap="none" strike="noStrike">
              <a:solidFill>
                <a:schemeClr val="dk1"/>
              </a:solidFill>
              <a:latin typeface="Calibri"/>
              <a:ea typeface="Calibri"/>
              <a:cs typeface="Calibri"/>
              <a:sym typeface="Calibri"/>
            </a:endParaRPr>
          </a:p>
        </p:txBody>
      </p:sp>
      <p:sp>
        <p:nvSpPr>
          <p:cNvPr id="930" name="Google Shape;930;g3e68d5c5d8c_3_139"/>
          <p:cNvSpPr/>
          <p:nvPr/>
        </p:nvSpPr>
        <p:spPr>
          <a:xfrm>
            <a:off x="9966985" y="3767304"/>
            <a:ext cx="7498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PCB DESIGN</a:t>
            </a:r>
            <a:endParaRPr b="0" i="0" sz="1700" u="none" cap="none" strike="noStrike">
              <a:solidFill>
                <a:schemeClr val="dk1"/>
              </a:solidFill>
              <a:latin typeface="Calibri"/>
              <a:ea typeface="Calibri"/>
              <a:cs typeface="Calibri"/>
              <a:sym typeface="Calibri"/>
            </a:endParaRPr>
          </a:p>
        </p:txBody>
      </p:sp>
      <p:sp>
        <p:nvSpPr>
          <p:cNvPr id="931" name="Google Shape;931;g3e68d5c5d8c_3_139"/>
          <p:cNvSpPr/>
          <p:nvPr/>
        </p:nvSpPr>
        <p:spPr>
          <a:xfrm>
            <a:off x="10095001" y="4169640"/>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Translate breadboard design to Altium — use traceability matrix (Slide 14)</a:t>
            </a:r>
            <a:endParaRPr b="0" i="0" sz="1600" u="none" cap="none" strike="noStrike">
              <a:solidFill>
                <a:schemeClr val="dk1"/>
              </a:solidFill>
              <a:latin typeface="Calibri"/>
              <a:ea typeface="Calibri"/>
              <a:cs typeface="Calibri"/>
              <a:sym typeface="Calibri"/>
            </a:endParaRPr>
          </a:p>
        </p:txBody>
      </p:sp>
      <p:sp>
        <p:nvSpPr>
          <p:cNvPr id="932" name="Google Shape;932;g3e68d5c5d8c_3_139"/>
          <p:cNvSpPr/>
          <p:nvPr/>
        </p:nvSpPr>
        <p:spPr>
          <a:xfrm>
            <a:off x="10095001" y="4645128"/>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10kΩ pull-down array, mux proximity to FPC, antenna 5mm exclusion zone</a:t>
            </a:r>
            <a:endParaRPr b="0" i="0" sz="1600" u="none" cap="none" strike="noStrike">
              <a:solidFill>
                <a:schemeClr val="dk1"/>
              </a:solidFill>
              <a:latin typeface="Calibri"/>
              <a:ea typeface="Calibri"/>
              <a:cs typeface="Calibri"/>
              <a:sym typeface="Calibri"/>
            </a:endParaRPr>
          </a:p>
        </p:txBody>
      </p:sp>
      <p:sp>
        <p:nvSpPr>
          <p:cNvPr id="933" name="Google Shape;933;g3e68d5c5d8c_3_139"/>
          <p:cNvSpPr/>
          <p:nvPr/>
        </p:nvSpPr>
        <p:spPr>
          <a:xfrm>
            <a:off x="10095001" y="5120616"/>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Do NOT use 100kΩ pull-downs. Do NOT initialize Wire bus. Avoid BMM150.</a:t>
            </a:r>
            <a:endParaRPr b="0" i="0" sz="1600" u="none" cap="none" strike="noStrike">
              <a:solidFill>
                <a:schemeClr val="dk1"/>
              </a:solidFill>
              <a:latin typeface="Calibri"/>
              <a:ea typeface="Calibri"/>
              <a:cs typeface="Calibri"/>
              <a:sym typeface="Calibri"/>
            </a:endParaRPr>
          </a:p>
        </p:txBody>
      </p:sp>
      <p:sp>
        <p:nvSpPr>
          <p:cNvPr id="934" name="Google Shape;934;g3e68d5c5d8c_3_139"/>
          <p:cNvSpPr/>
          <p:nvPr/>
        </p:nvSpPr>
        <p:spPr>
          <a:xfrm>
            <a:off x="9966985" y="5669256"/>
            <a:ext cx="7498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VALIDATION</a:t>
            </a:r>
            <a:endParaRPr b="0" i="0" sz="1700" u="none" cap="none" strike="noStrike">
              <a:solidFill>
                <a:schemeClr val="dk1"/>
              </a:solidFill>
              <a:latin typeface="Calibri"/>
              <a:ea typeface="Calibri"/>
              <a:cs typeface="Calibri"/>
              <a:sym typeface="Calibri"/>
            </a:endParaRPr>
          </a:p>
        </p:txBody>
      </p:sp>
      <p:sp>
        <p:nvSpPr>
          <p:cNvPr id="935" name="Google Shape;935;g3e68d5c5d8c_3_139"/>
          <p:cNvSpPr/>
          <p:nvPr/>
        </p:nvSpPr>
        <p:spPr>
          <a:xfrm>
            <a:off x="10095001" y="6071592"/>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Complete dynamic force calibration with reference force plate (correlation ≥0.90)</a:t>
            </a:r>
            <a:endParaRPr b="0" i="0" sz="1600" u="none" cap="none" strike="noStrike">
              <a:solidFill>
                <a:schemeClr val="dk1"/>
              </a:solidFill>
              <a:latin typeface="Calibri"/>
              <a:ea typeface="Calibri"/>
              <a:cs typeface="Calibri"/>
              <a:sym typeface="Calibri"/>
            </a:endParaRPr>
          </a:p>
        </p:txBody>
      </p:sp>
      <p:sp>
        <p:nvSpPr>
          <p:cNvPr id="936" name="Google Shape;936;g3e68d5c5d8c_3_139"/>
          <p:cNvSpPr/>
          <p:nvPr/>
        </p:nvSpPr>
        <p:spPr>
          <a:xfrm>
            <a:off x="10095001" y="6547080"/>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Perform IEC 60601-1-2 EMC testing in lab environment</a:t>
            </a:r>
            <a:endParaRPr b="0" i="0" sz="1600" u="none" cap="none" strike="noStrike">
              <a:solidFill>
                <a:schemeClr val="dk1"/>
              </a:solidFill>
              <a:latin typeface="Calibri"/>
              <a:ea typeface="Calibri"/>
              <a:cs typeface="Calibri"/>
              <a:sym typeface="Calibri"/>
            </a:endParaRPr>
          </a:p>
        </p:txBody>
      </p:sp>
      <p:sp>
        <p:nvSpPr>
          <p:cNvPr id="937" name="Google Shape;937;g3e68d5c5d8c_3_139"/>
          <p:cNvSpPr/>
          <p:nvPr/>
        </p:nvSpPr>
        <p:spPr>
          <a:xfrm>
            <a:off x="10095001" y="7022568"/>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Human walking trials: 5–30 subjects, Bland-Altman vs reference system</a:t>
            </a:r>
            <a:endParaRPr b="0" i="0" sz="1600" u="none" cap="none" strike="noStrike">
              <a:solidFill>
                <a:schemeClr val="dk1"/>
              </a:solidFill>
              <a:latin typeface="Calibri"/>
              <a:ea typeface="Calibri"/>
              <a:cs typeface="Calibri"/>
              <a:sym typeface="Calibri"/>
            </a:endParaRPr>
          </a:p>
        </p:txBody>
      </p:sp>
      <p:sp>
        <p:nvSpPr>
          <p:cNvPr id="938" name="Google Shape;938;g3e68d5c5d8c_3_139"/>
          <p:cNvSpPr/>
          <p:nvPr/>
        </p:nvSpPr>
        <p:spPr>
          <a:xfrm>
            <a:off x="9966985" y="7571208"/>
            <a:ext cx="7498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820"/>
              </a:buClr>
              <a:buSzPts val="1700"/>
              <a:buFont typeface="Calibri"/>
              <a:buNone/>
            </a:pPr>
            <a:r>
              <a:rPr b="1" i="0" lang="en-US" sz="1700" u="none" cap="none" strike="noStrike">
                <a:solidFill>
                  <a:srgbClr val="E8A820"/>
                </a:solidFill>
                <a:latin typeface="Calibri"/>
                <a:ea typeface="Calibri"/>
                <a:cs typeface="Calibri"/>
                <a:sym typeface="Calibri"/>
              </a:rPr>
              <a:t>REGULATORY</a:t>
            </a:r>
            <a:endParaRPr b="0" i="0" sz="1700" u="none" cap="none" strike="noStrike">
              <a:solidFill>
                <a:schemeClr val="dk1"/>
              </a:solidFill>
              <a:latin typeface="Calibri"/>
              <a:ea typeface="Calibri"/>
              <a:cs typeface="Calibri"/>
              <a:sym typeface="Calibri"/>
            </a:endParaRPr>
          </a:p>
        </p:txBody>
      </p:sp>
      <p:sp>
        <p:nvSpPr>
          <p:cNvPr id="939" name="Google Shape;939;g3e68d5c5d8c_3_139"/>
          <p:cNvSpPr/>
          <p:nvPr/>
        </p:nvSpPr>
        <p:spPr>
          <a:xfrm>
            <a:off x="10095001" y="7973544"/>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File 510(k) with FDA predicate K060150 (SmartStep System)</a:t>
            </a:r>
            <a:endParaRPr b="0" i="0" sz="1600" u="none" cap="none" strike="noStrike">
              <a:solidFill>
                <a:schemeClr val="dk1"/>
              </a:solidFill>
              <a:latin typeface="Calibri"/>
              <a:ea typeface="Calibri"/>
              <a:cs typeface="Calibri"/>
              <a:sym typeface="Calibri"/>
            </a:endParaRPr>
          </a:p>
        </p:txBody>
      </p:sp>
      <p:sp>
        <p:nvSpPr>
          <p:cNvPr id="940" name="Google Shape;940;g3e68d5c5d8c_3_139"/>
          <p:cNvSpPr/>
          <p:nvPr/>
        </p:nvSpPr>
        <p:spPr>
          <a:xfrm>
            <a:off x="10095001" y="8449032"/>
            <a:ext cx="73152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8DCE8"/>
              </a:buClr>
              <a:buSzPts val="1600"/>
              <a:buFont typeface="Calibri"/>
              <a:buNone/>
            </a:pPr>
            <a:r>
              <a:rPr b="0" i="0" lang="en-US" sz="1600" u="none" cap="none" strike="noStrike">
                <a:solidFill>
                  <a:srgbClr val="C8DCE8"/>
                </a:solidFill>
                <a:latin typeface="Calibri"/>
                <a:ea typeface="Calibri"/>
                <a:cs typeface="Calibri"/>
                <a:sym typeface="Calibri"/>
              </a:rPr>
              <a:t>→ Target IEC 60601-1, ISO 14971, IEC 62304 compliance documentation</a:t>
            </a:r>
            <a:endParaRPr b="0" i="0" sz="1600" u="none" cap="none" strike="noStrike">
              <a:solidFill>
                <a:schemeClr val="dk1"/>
              </a:solidFill>
              <a:latin typeface="Calibri"/>
              <a:ea typeface="Calibri"/>
              <a:cs typeface="Calibri"/>
              <a:sym typeface="Calibri"/>
            </a:endParaRPr>
          </a:p>
        </p:txBody>
      </p:sp>
      <p:sp>
        <p:nvSpPr>
          <p:cNvPr id="941" name="Google Shape;941;g3e68d5c5d8c_3_139"/>
          <p:cNvSpPr/>
          <p:nvPr/>
        </p:nvSpPr>
        <p:spPr>
          <a:xfrm>
            <a:off x="1499616" y="9656064"/>
            <a:ext cx="16148400" cy="457200"/>
          </a:xfrm>
          <a:prstGeom prst="rect">
            <a:avLst/>
          </a:prstGeom>
          <a:solidFill>
            <a:srgbClr val="1A3550"/>
          </a:solidFill>
          <a:ln cap="flat" cmpd="sng" w="9525">
            <a:solidFill>
              <a:srgbClr val="0A7E8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42" name="Google Shape;942;g3e68d5c5d8c_3_139"/>
          <p:cNvSpPr/>
          <p:nvPr/>
        </p:nvSpPr>
        <p:spPr>
          <a:xfrm>
            <a:off x="1499616" y="9656064"/>
            <a:ext cx="16148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C8D4"/>
              </a:buClr>
              <a:buSzPts val="1600"/>
              <a:buFont typeface="Calibri"/>
              <a:buNone/>
            </a:pPr>
            <a:r>
              <a:rPr b="0" i="0" lang="en-US" sz="1600" u="none" cap="none" strike="noStrike">
                <a:solidFill>
                  <a:srgbClr val="9EC8D4"/>
                </a:solidFill>
                <a:latin typeface="Calibri"/>
                <a:ea typeface="Calibri"/>
                <a:cs typeface="Calibri"/>
                <a:sym typeface="Calibri"/>
              </a:rPr>
              <a:t>Pouya Behdinan  ·  Ava Rathenberg  ·  Lily Wu  ·  Nwachukwu Anene  ·  Team Cardinal  ·  BME 555A Spring 2026  ·  ISO 13485-Compliant Documentation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